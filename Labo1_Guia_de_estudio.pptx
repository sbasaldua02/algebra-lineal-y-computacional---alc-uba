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de repaso previo al Labo 1. No contiene soluciones: el objetivo es que puedas escribir las 18 funciones 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Estructura del deck. Bloques 1-3 teoria, 4-5 referencia.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de la materia tomado de Lineamientos_y_bienvenida.pdf.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restriccion del enunciado es lo que define como se resuelve cada ejercicio.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base. Notar que max/min estan permitidos porque el Ej 18 los 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Correccion importante: zeros no figura entre las permitidas. Alternativas y sugerencia de consultar.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Distincion clave: la restriccion aplica a funciones de numpy, no a los built-ins de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Slicing, operadores y mascaras son sintaxis, no funciones. Pero A.T resuelve el Ej 6 y por eso queda afuera.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tecnico: array, dtype, slicing, vistas, broadcasting, mascaras.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Atributos basicos. Separar claramente lo que se usa en tests de lo que va en librerias.py.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dtype int vs float. astype no esta permitida, asi que conviene construir en float desde el inicio.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Slicing con ejemplos concretos. Enfatizar (4,) vs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Indice entero borra el eje; slice lo conserva. (4,) no tiene orientacion y numpy lo alinea desde la derecha como fila. (4,1) es columna de verdad. Conecta con el 0:1 de escalonar_filas.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clasico aliasing en el swap de filas. Dar la pista sin la solucion.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Broadcasting como herramienta y como fuente de bugs. Recomendar imprimir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Desglose paso a paso de la linea vectorizada de eliminacion gaussiana.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Mascaras: utiles pero de uso acotado bajo la restriccion del labo.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Filtro del notebook L00 segun la restriccion del labo.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patrones se muestran con ejemplos neutros, no con los ejercicios.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Patron de construccion. Ejemplo neutro (tabla de multiplicar) para no resolver ningun ejercicio.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rango interno dependiente del externo. Marcar la ambiguedad de 'sin su diagonal'.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return. El antipatron del flag pisado.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In-place real vs rebind del parametro. Conecta con vista/copia.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Acumuladores. Cuidado con el tipo inicial.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cerrada vs recurrencia. El desfasaje 1-based / 0-based es el error tipico.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 ejercicio por ejercicio. Pistas, nunca soluciones.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 1 a 4. Destacar el test cruzado de reconstruccion.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 5 a 8. El Ej 8 desde las dos lecturas del producto matriz-vector.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 9 a 11. Estrictamente vs no estrictamente; abs de escalares.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 12 a 16. Todas Patron F; el riesgo es el offset de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 17. La pista fuerte es Vandermonde + calcularAx; la mejora es Horner.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 18. Incluye el hallazgo del bug de nombres en row_echelon dentro del notebook L00.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final: testing, punto flotante, orden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Comparador propio con tolerancia, tests cruzados por propiedades, casos borde.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flotante y tolerancias. Conecta Ej 7, 14, 16 y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Orden sugerido por dependencias + checklist de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deck deliberadamente no trae soluciones.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523"/>
        </a:solidFill>
      </p:bgPr>
    </p:bg>
    <p:spTree>
      <p:nvGrpSpPr>
        <p:cNvPr id="1" name=""/>
        <p:cNvGrpSpPr/>
        <p:nvPr/>
      </p:nvGrpSpPr>
      <p:grpSpPr>
        <a:xfrm>
          <a:off x="0" y="0"/>
          <a:ext cx="0" cy="0"/>
          <a:chOff x="0" y="0"/>
          <a:chExt cx="0" cy="0"/>
        </a:xfrm>
      </p:grpSpPr>
      <p:sp>
        <p:nvSpPr>
          <p:cNvPr id="2" name="Text 0"/>
          <p:cNvSpPr/>
          <p:nvPr/>
        </p:nvSpPr>
        <p:spPr>
          <a:xfrm>
            <a:off x="731520" y="1170432"/>
            <a:ext cx="7863840" cy="274320"/>
          </a:xfrm>
          <a:prstGeom prst="rect">
            <a:avLst/>
          </a:prstGeom>
          <a:noFill/>
          <a:ln/>
        </p:spPr>
        <p:txBody>
          <a:bodyPr wrap="square" lIns="0" tIns="0" rIns="0" bIns="0" rtlCol="0" anchor="ctr"/>
          <a:lstStyle/>
          <a:p>
            <a:pPr indent="0" marL="0">
              <a:buNone/>
            </a:pPr>
            <a:r>
              <a:rPr lang="en-US" sz="1100" b="1" spc="140" kern="0" dirty="0">
                <a:solidFill>
                  <a:srgbClr val="E39A2B"/>
                </a:solidFill>
                <a:latin typeface="Calibri" pitchFamily="34" charset="0"/>
                <a:ea typeface="Calibri" pitchFamily="34" charset="-122"/>
                <a:cs typeface="Calibri" pitchFamily="34" charset="-120"/>
              </a:rPr>
              <a:t>ÁLGEBRA LINEAL COMPUTACIONAL  ·  FCEyN – UBA  ·  2º CUATRIMESTRE 2026</a:t>
            </a:r>
            <a:endParaRPr lang="en-US" sz="1100" dirty="0"/>
          </a:p>
        </p:txBody>
      </p:sp>
      <p:sp>
        <p:nvSpPr>
          <p:cNvPr id="3" name="Text 1"/>
          <p:cNvSpPr/>
          <p:nvPr/>
        </p:nvSpPr>
        <p:spPr>
          <a:xfrm>
            <a:off x="731520" y="1517904"/>
            <a:ext cx="7315200" cy="777240"/>
          </a:xfrm>
          <a:prstGeom prst="rect">
            <a:avLst/>
          </a:prstGeom>
          <a:noFill/>
          <a:ln/>
        </p:spPr>
        <p:txBody>
          <a:bodyPr wrap="square" lIns="0" tIns="0" rIns="0" bIns="0" rtlCol="0" anchor="ctr"/>
          <a:lstStyle/>
          <a:p>
            <a:pPr indent="0" marL="0">
              <a:buNone/>
            </a:pPr>
            <a:r>
              <a:rPr lang="en-US" sz="3000" dirty="0">
                <a:solidFill>
                  <a:srgbClr val="C8D3E4"/>
                </a:solidFill>
                <a:latin typeface="Cambria" pitchFamily="34" charset="0"/>
                <a:ea typeface="Cambria" pitchFamily="34" charset="-122"/>
                <a:cs typeface="Cambria" pitchFamily="34" charset="-120"/>
              </a:rPr>
              <a:t>Labo 1</a:t>
            </a:r>
            <a:endParaRPr lang="en-US" sz="3000" dirty="0"/>
          </a:p>
        </p:txBody>
      </p:sp>
      <p:sp>
        <p:nvSpPr>
          <p:cNvPr id="4" name="Text 2"/>
          <p:cNvSpPr/>
          <p:nvPr/>
        </p:nvSpPr>
        <p:spPr>
          <a:xfrm>
            <a:off x="731520" y="2212848"/>
            <a:ext cx="7589520" cy="1600200"/>
          </a:xfrm>
          <a:prstGeom prst="rect">
            <a:avLst/>
          </a:prstGeom>
          <a:noFill/>
          <a:ln/>
        </p:spPr>
        <p:txBody>
          <a:bodyPr wrap="square" lIns="0" tIns="0" rIns="0" bIns="0" rtlCol="0" anchor="t"/>
          <a:lstStyle/>
          <a:p>
            <a:pPr indent="0" marL="0">
              <a:lnSpc>
                <a:spcPct val="102000"/>
              </a:lnSpc>
              <a:buNone/>
            </a:pPr>
            <a:r>
              <a:rPr lang="en-US" sz="4200" b="1" dirty="0">
                <a:solidFill>
                  <a:srgbClr val="FFFFFF"/>
                </a:solidFill>
                <a:latin typeface="Cambria" pitchFamily="34" charset="0"/>
                <a:ea typeface="Cambria" pitchFamily="34" charset="-122"/>
                <a:cs typeface="Cambria" pitchFamily="34" charset="-120"/>
              </a:rPr>
              <a:t>Manipulación de matrices</a:t>
            </a:r>
            <a:endParaRPr lang="en-US" sz="4200" dirty="0"/>
          </a:p>
          <a:p>
            <a:pPr indent="0" marL="0">
              <a:lnSpc>
                <a:spcPct val="102000"/>
              </a:lnSpc>
              <a:buNone/>
            </a:pPr>
            <a:r>
              <a:rPr lang="en-US" sz="4200" b="1" dirty="0">
                <a:solidFill>
                  <a:srgbClr val="FFFFFF"/>
                </a:solidFill>
                <a:latin typeface="Cambria" pitchFamily="34" charset="0"/>
                <a:ea typeface="Cambria" pitchFamily="34" charset="-122"/>
                <a:cs typeface="Cambria" pitchFamily="34" charset="-120"/>
              </a:rPr>
              <a:t>y Numpy</a:t>
            </a:r>
            <a:endParaRPr lang="en-US" sz="4200" dirty="0"/>
          </a:p>
        </p:txBody>
      </p:sp>
      <p:sp>
        <p:nvSpPr>
          <p:cNvPr id="5" name="Text 3"/>
          <p:cNvSpPr/>
          <p:nvPr/>
        </p:nvSpPr>
        <p:spPr>
          <a:xfrm>
            <a:off x="731520" y="4041648"/>
            <a:ext cx="6949440" cy="868680"/>
          </a:xfrm>
          <a:prstGeom prst="rect">
            <a:avLst/>
          </a:prstGeom>
          <a:noFill/>
          <a:ln/>
        </p:spPr>
        <p:txBody>
          <a:bodyPr wrap="square" lIns="0" tIns="0" rIns="0" bIns="0" rtlCol="0" anchor="t"/>
          <a:lstStyle/>
          <a:p>
            <a:pPr indent="0" marL="0">
              <a:lnSpc>
                <a:spcPct val="115000"/>
              </a:lnSpc>
              <a:buNone/>
            </a:pPr>
            <a:r>
              <a:rPr lang="en-US" sz="1500" dirty="0">
                <a:solidFill>
                  <a:srgbClr val="C8D3E4"/>
                </a:solidFill>
                <a:latin typeface="Calibri" pitchFamily="34" charset="0"/>
                <a:ea typeface="Calibri" pitchFamily="34" charset="-122"/>
                <a:cs typeface="Calibri" pitchFamily="34" charset="-120"/>
              </a:rPr>
              <a:t>Guía de estudio para resolver los 18 ejercicios por tu cuenta.</a:t>
            </a:r>
            <a:endParaRPr lang="en-US" sz="1500" dirty="0"/>
          </a:p>
          <a:p>
            <a:pPr indent="0" marL="0">
              <a:lnSpc>
                <a:spcPct val="115000"/>
              </a:lnSpc>
              <a:buNone/>
            </a:pPr>
            <a:r>
              <a:rPr lang="en-US" sz="1500" dirty="0">
                <a:solidFill>
                  <a:srgbClr val="C8D3E4"/>
                </a:solidFill>
                <a:latin typeface="Calibri" pitchFamily="34" charset="0"/>
                <a:ea typeface="Calibri" pitchFamily="34" charset="-122"/>
                <a:cs typeface="Calibri" pitchFamily="34" charset="-120"/>
              </a:rPr>
              <a:t>Conceptos, patrones y pistas — sin soluciones.</a:t>
            </a:r>
            <a:endParaRPr lang="en-US" sz="1500" dirty="0"/>
          </a:p>
        </p:txBody>
      </p:sp>
      <p:sp>
        <p:nvSpPr>
          <p:cNvPr id="6" name="Text 4"/>
          <p:cNvSpPr/>
          <p:nvPr/>
        </p:nvSpPr>
        <p:spPr>
          <a:xfrm>
            <a:off x="731520" y="5989320"/>
            <a:ext cx="10515600" cy="274320"/>
          </a:xfrm>
          <a:prstGeom prst="rect">
            <a:avLst/>
          </a:prstGeom>
          <a:noFill/>
          <a:ln/>
        </p:spPr>
        <p:txBody>
          <a:bodyPr wrap="square" lIns="0" tIns="0" rIns="0" bIns="0" rtlCol="0" anchor="ctr"/>
          <a:lstStyle/>
          <a:p>
            <a:pPr indent="0" marL="0">
              <a:buNone/>
            </a:pPr>
            <a:r>
              <a:rPr lang="en-US" sz="950" dirty="0">
                <a:solidFill>
                  <a:srgbClr val="7C8CA3"/>
                </a:solidFill>
                <a:latin typeface="Calibri" pitchFamily="34" charset="0"/>
                <a:ea typeface="Calibri" pitchFamily="34" charset="-122"/>
                <a:cs typeface="Calibri" pitchFamily="34" charset="-120"/>
              </a:rPr>
              <a:t>Armado leyendo:  L00-Ejercicios.pdf  ·  L00-NB-Numpy_y_matrices_dl.ipynb  ·  labo02-escalonar_filas.ipynb  ·  Lineamientos_y_bienvenida.pdf</a:t>
            </a:r>
            <a:endParaRPr lang="en-US" sz="950" dirty="0"/>
          </a:p>
        </p:txBody>
      </p:sp>
      <p:sp>
        <p:nvSpPr>
          <p:cNvPr id="7" name="Shape 5"/>
          <p:cNvSpPr/>
          <p:nvPr/>
        </p:nvSpPr>
        <p:spPr>
          <a:xfrm>
            <a:off x="8796528" y="1517904"/>
            <a:ext cx="548640" cy="548640"/>
          </a:xfrm>
          <a:prstGeom prst="rect">
            <a:avLst/>
          </a:prstGeom>
          <a:solidFill>
            <a:srgbClr val="E39A2B"/>
          </a:solidFill>
          <a:ln w="12700">
            <a:solidFill>
              <a:srgbClr val="E39A2B"/>
            </a:solidFill>
            <a:prstDash val="solid"/>
          </a:ln>
        </p:spPr>
      </p:sp>
      <p:sp>
        <p:nvSpPr>
          <p:cNvPr id="8" name="Shape 6"/>
          <p:cNvSpPr/>
          <p:nvPr/>
        </p:nvSpPr>
        <p:spPr>
          <a:xfrm>
            <a:off x="9473184" y="1517904"/>
            <a:ext cx="548640" cy="548640"/>
          </a:xfrm>
          <a:prstGeom prst="rect">
            <a:avLst/>
          </a:prstGeom>
          <a:solidFill>
            <a:srgbClr val="1B2A45"/>
          </a:solidFill>
          <a:ln w="12700">
            <a:solidFill>
              <a:srgbClr val="1B2A45"/>
            </a:solidFill>
            <a:prstDash val="solid"/>
          </a:ln>
        </p:spPr>
      </p:sp>
      <p:sp>
        <p:nvSpPr>
          <p:cNvPr id="9" name="Shape 7"/>
          <p:cNvSpPr/>
          <p:nvPr/>
        </p:nvSpPr>
        <p:spPr>
          <a:xfrm>
            <a:off x="10149840" y="1517904"/>
            <a:ext cx="548640" cy="548640"/>
          </a:xfrm>
          <a:prstGeom prst="rect">
            <a:avLst/>
          </a:prstGeom>
          <a:solidFill>
            <a:srgbClr val="1B2A45"/>
          </a:solidFill>
          <a:ln w="12700">
            <a:solidFill>
              <a:srgbClr val="1B2A45"/>
            </a:solidFill>
            <a:prstDash val="solid"/>
          </a:ln>
        </p:spPr>
      </p:sp>
      <p:sp>
        <p:nvSpPr>
          <p:cNvPr id="10" name="Shape 8"/>
          <p:cNvSpPr/>
          <p:nvPr/>
        </p:nvSpPr>
        <p:spPr>
          <a:xfrm>
            <a:off x="10826496" y="1517904"/>
            <a:ext cx="548640" cy="548640"/>
          </a:xfrm>
          <a:prstGeom prst="rect">
            <a:avLst/>
          </a:prstGeom>
          <a:solidFill>
            <a:srgbClr val="E39A2B"/>
          </a:solidFill>
          <a:ln w="12700">
            <a:solidFill>
              <a:srgbClr val="E39A2B"/>
            </a:solidFill>
            <a:prstDash val="solid"/>
          </a:ln>
        </p:spPr>
      </p:sp>
      <p:sp>
        <p:nvSpPr>
          <p:cNvPr id="11" name="Shape 9"/>
          <p:cNvSpPr/>
          <p:nvPr/>
        </p:nvSpPr>
        <p:spPr>
          <a:xfrm>
            <a:off x="8796528" y="2194560"/>
            <a:ext cx="548640" cy="548640"/>
          </a:xfrm>
          <a:prstGeom prst="rect">
            <a:avLst/>
          </a:prstGeom>
          <a:solidFill>
            <a:srgbClr val="1B2A45"/>
          </a:solidFill>
          <a:ln w="12700">
            <a:solidFill>
              <a:srgbClr val="1B2A45"/>
            </a:solidFill>
            <a:prstDash val="solid"/>
          </a:ln>
        </p:spPr>
      </p:sp>
      <p:sp>
        <p:nvSpPr>
          <p:cNvPr id="12" name="Shape 10"/>
          <p:cNvSpPr/>
          <p:nvPr/>
        </p:nvSpPr>
        <p:spPr>
          <a:xfrm>
            <a:off x="9473184" y="2194560"/>
            <a:ext cx="548640" cy="548640"/>
          </a:xfrm>
          <a:prstGeom prst="rect">
            <a:avLst/>
          </a:prstGeom>
          <a:solidFill>
            <a:srgbClr val="E39A2B"/>
          </a:solidFill>
          <a:ln w="12700">
            <a:solidFill>
              <a:srgbClr val="E39A2B"/>
            </a:solidFill>
            <a:prstDash val="solid"/>
          </a:ln>
        </p:spPr>
      </p:sp>
      <p:sp>
        <p:nvSpPr>
          <p:cNvPr id="13" name="Shape 11"/>
          <p:cNvSpPr/>
          <p:nvPr/>
        </p:nvSpPr>
        <p:spPr>
          <a:xfrm>
            <a:off x="10149840" y="2194560"/>
            <a:ext cx="548640" cy="548640"/>
          </a:xfrm>
          <a:prstGeom prst="rect">
            <a:avLst/>
          </a:prstGeom>
          <a:solidFill>
            <a:srgbClr val="1B2A45"/>
          </a:solidFill>
          <a:ln w="12700">
            <a:solidFill>
              <a:srgbClr val="1B2A45"/>
            </a:solidFill>
            <a:prstDash val="solid"/>
          </a:ln>
        </p:spPr>
      </p:sp>
      <p:sp>
        <p:nvSpPr>
          <p:cNvPr id="14" name="Shape 12"/>
          <p:cNvSpPr/>
          <p:nvPr/>
        </p:nvSpPr>
        <p:spPr>
          <a:xfrm>
            <a:off x="10826496" y="2194560"/>
            <a:ext cx="548640" cy="548640"/>
          </a:xfrm>
          <a:prstGeom prst="rect">
            <a:avLst/>
          </a:prstGeom>
          <a:solidFill>
            <a:srgbClr val="1B2A45"/>
          </a:solidFill>
          <a:ln w="12700">
            <a:solidFill>
              <a:srgbClr val="1B2A45"/>
            </a:solidFill>
            <a:prstDash val="solid"/>
          </a:ln>
        </p:spPr>
      </p:sp>
      <p:sp>
        <p:nvSpPr>
          <p:cNvPr id="15" name="Shape 13"/>
          <p:cNvSpPr/>
          <p:nvPr/>
        </p:nvSpPr>
        <p:spPr>
          <a:xfrm>
            <a:off x="8796528" y="2871216"/>
            <a:ext cx="548640" cy="548640"/>
          </a:xfrm>
          <a:prstGeom prst="rect">
            <a:avLst/>
          </a:prstGeom>
          <a:solidFill>
            <a:srgbClr val="1B2A45"/>
          </a:solidFill>
          <a:ln w="12700">
            <a:solidFill>
              <a:srgbClr val="1B2A45"/>
            </a:solidFill>
            <a:prstDash val="solid"/>
          </a:ln>
        </p:spPr>
      </p:sp>
      <p:sp>
        <p:nvSpPr>
          <p:cNvPr id="16" name="Shape 14"/>
          <p:cNvSpPr/>
          <p:nvPr/>
        </p:nvSpPr>
        <p:spPr>
          <a:xfrm>
            <a:off x="9473184" y="2871216"/>
            <a:ext cx="548640" cy="548640"/>
          </a:xfrm>
          <a:prstGeom prst="rect">
            <a:avLst/>
          </a:prstGeom>
          <a:solidFill>
            <a:srgbClr val="1B2A45"/>
          </a:solidFill>
          <a:ln w="12700">
            <a:solidFill>
              <a:srgbClr val="1B2A45"/>
            </a:solidFill>
            <a:prstDash val="solid"/>
          </a:ln>
        </p:spPr>
      </p:sp>
      <p:sp>
        <p:nvSpPr>
          <p:cNvPr id="17" name="Shape 15"/>
          <p:cNvSpPr/>
          <p:nvPr/>
        </p:nvSpPr>
        <p:spPr>
          <a:xfrm>
            <a:off x="10149840" y="2871216"/>
            <a:ext cx="548640" cy="548640"/>
          </a:xfrm>
          <a:prstGeom prst="rect">
            <a:avLst/>
          </a:prstGeom>
          <a:solidFill>
            <a:srgbClr val="E39A2B"/>
          </a:solidFill>
          <a:ln w="12700">
            <a:solidFill>
              <a:srgbClr val="E39A2B"/>
            </a:solidFill>
            <a:prstDash val="solid"/>
          </a:ln>
        </p:spPr>
      </p:sp>
      <p:sp>
        <p:nvSpPr>
          <p:cNvPr id="18" name="Shape 16"/>
          <p:cNvSpPr/>
          <p:nvPr/>
        </p:nvSpPr>
        <p:spPr>
          <a:xfrm>
            <a:off x="10826496" y="2871216"/>
            <a:ext cx="548640" cy="548640"/>
          </a:xfrm>
          <a:prstGeom prst="rect">
            <a:avLst/>
          </a:prstGeom>
          <a:solidFill>
            <a:srgbClr val="1B2A45"/>
          </a:solidFill>
          <a:ln w="12700">
            <a:solidFill>
              <a:srgbClr val="1B2A45"/>
            </a:solidFill>
            <a:prstDash val="solid"/>
          </a:ln>
        </p:spPr>
      </p:sp>
      <p:sp>
        <p:nvSpPr>
          <p:cNvPr id="19" name="Shape 17"/>
          <p:cNvSpPr/>
          <p:nvPr/>
        </p:nvSpPr>
        <p:spPr>
          <a:xfrm>
            <a:off x="8796528" y="3547872"/>
            <a:ext cx="548640" cy="548640"/>
          </a:xfrm>
          <a:prstGeom prst="rect">
            <a:avLst/>
          </a:prstGeom>
          <a:solidFill>
            <a:srgbClr val="1B2A45"/>
          </a:solidFill>
          <a:ln w="12700">
            <a:solidFill>
              <a:srgbClr val="1B2A45"/>
            </a:solidFill>
            <a:prstDash val="solid"/>
          </a:ln>
        </p:spPr>
      </p:sp>
      <p:sp>
        <p:nvSpPr>
          <p:cNvPr id="20" name="Shape 18"/>
          <p:cNvSpPr/>
          <p:nvPr/>
        </p:nvSpPr>
        <p:spPr>
          <a:xfrm>
            <a:off x="9473184" y="3547872"/>
            <a:ext cx="548640" cy="548640"/>
          </a:xfrm>
          <a:prstGeom prst="rect">
            <a:avLst/>
          </a:prstGeom>
          <a:solidFill>
            <a:srgbClr val="1B2A45"/>
          </a:solidFill>
          <a:ln w="12700">
            <a:solidFill>
              <a:srgbClr val="1B2A45"/>
            </a:solidFill>
            <a:prstDash val="solid"/>
          </a:ln>
        </p:spPr>
      </p:sp>
      <p:sp>
        <p:nvSpPr>
          <p:cNvPr id="21" name="Shape 19"/>
          <p:cNvSpPr/>
          <p:nvPr/>
        </p:nvSpPr>
        <p:spPr>
          <a:xfrm>
            <a:off x="10149840" y="3547872"/>
            <a:ext cx="548640" cy="548640"/>
          </a:xfrm>
          <a:prstGeom prst="rect">
            <a:avLst/>
          </a:prstGeom>
          <a:solidFill>
            <a:srgbClr val="1B2A45"/>
          </a:solidFill>
          <a:ln w="12700">
            <a:solidFill>
              <a:srgbClr val="1B2A45"/>
            </a:solidFill>
            <a:prstDash val="solid"/>
          </a:ln>
        </p:spPr>
      </p:sp>
      <p:sp>
        <p:nvSpPr>
          <p:cNvPr id="22" name="Shape 20"/>
          <p:cNvSpPr/>
          <p:nvPr/>
        </p:nvSpPr>
        <p:spPr>
          <a:xfrm>
            <a:off x="10826496" y="3547872"/>
            <a:ext cx="548640" cy="548640"/>
          </a:xfrm>
          <a:prstGeom prst="rect">
            <a:avLst/>
          </a:prstGeom>
          <a:solidFill>
            <a:srgbClr val="E39A2B"/>
          </a:solidFill>
          <a:ln w="12700">
            <a:solidFill>
              <a:srgbClr val="E39A2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Cómo está armada esta clase</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Cinco bloques. Los tres primeros son teoría; los dos últimos son el mapa del enunciado.</a:t>
            </a:r>
            <a:endParaRPr lang="en-US" sz="1300" dirty="0"/>
          </a:p>
        </p:txBody>
      </p:sp>
      <p:sp>
        <p:nvSpPr>
          <p:cNvPr id="4" name="Shape 2"/>
          <p:cNvSpPr/>
          <p:nvPr/>
        </p:nvSpPr>
        <p:spPr>
          <a:xfrm>
            <a:off x="612648" y="1554480"/>
            <a:ext cx="402336" cy="402336"/>
          </a:xfrm>
          <a:prstGeom prst="ellipse">
            <a:avLst/>
          </a:prstGeom>
          <a:solidFill>
            <a:srgbClr val="16233A"/>
          </a:solidFill>
          <a:ln w="12700">
            <a:solidFill>
              <a:srgbClr val="16233A"/>
            </a:solidFill>
            <a:prstDash val="solid"/>
          </a:ln>
        </p:spPr>
      </p:sp>
      <p:sp>
        <p:nvSpPr>
          <p:cNvPr id="5" name="Text 3"/>
          <p:cNvSpPr/>
          <p:nvPr/>
        </p:nvSpPr>
        <p:spPr>
          <a:xfrm>
            <a:off x="612648" y="1554480"/>
            <a:ext cx="402336" cy="402336"/>
          </a:xfrm>
          <a:prstGeom prst="rect">
            <a:avLst/>
          </a:prstGeom>
          <a:noFill/>
          <a:ln/>
        </p:spPr>
        <p:txBody>
          <a:bodyPr wrap="square" lIns="0" tIns="0" rIns="0" bIns="0" rtlCol="0" anchor="ctr"/>
          <a:lstStyle/>
          <a:p>
            <a:pPr algn="ctr" indent="0" marL="0">
              <a:buNone/>
            </a:pPr>
            <a:r>
              <a:rPr lang="en-US" sz="1144" b="1" dirty="0">
                <a:solidFill>
                  <a:srgbClr val="FFFFFF"/>
                </a:solidFill>
                <a:latin typeface="Cambria" pitchFamily="34" charset="0"/>
                <a:ea typeface="Cambria" pitchFamily="34" charset="-122"/>
                <a:cs typeface="Cambria" pitchFamily="34" charset="-120"/>
              </a:rPr>
              <a:t>1</a:t>
            </a:r>
            <a:endParaRPr lang="en-US" sz="1144" dirty="0"/>
          </a:p>
        </p:txBody>
      </p:sp>
      <p:sp>
        <p:nvSpPr>
          <p:cNvPr id="6" name="Text 4"/>
          <p:cNvSpPr/>
          <p:nvPr/>
        </p:nvSpPr>
        <p:spPr>
          <a:xfrm>
            <a:off x="1197864" y="1508760"/>
            <a:ext cx="5989320" cy="274320"/>
          </a:xfrm>
          <a:prstGeom prst="rect">
            <a:avLst/>
          </a:prstGeom>
          <a:noFill/>
          <a:ln/>
        </p:spPr>
        <p:txBody>
          <a:bodyPr wrap="square" lIns="0" tIns="0" rIns="0" bIns="0" rtlCol="0" anchor="t"/>
          <a:lstStyle/>
          <a:p>
            <a:pPr indent="0" marL="0">
              <a:buNone/>
            </a:pPr>
            <a:r>
              <a:rPr lang="en-US" sz="1450" b="1" dirty="0">
                <a:solidFill>
                  <a:srgbClr val="16233A"/>
                </a:solidFill>
                <a:latin typeface="Calibri" pitchFamily="34" charset="0"/>
                <a:ea typeface="Calibri" pitchFamily="34" charset="-122"/>
                <a:cs typeface="Calibri" pitchFamily="34" charset="-120"/>
              </a:rPr>
              <a:t>La regla que cambia todo</a:t>
            </a:r>
            <a:endParaRPr lang="en-US" sz="1450" dirty="0"/>
          </a:p>
        </p:txBody>
      </p:sp>
      <p:sp>
        <p:nvSpPr>
          <p:cNvPr id="7" name="Text 5"/>
          <p:cNvSpPr/>
          <p:nvPr/>
        </p:nvSpPr>
        <p:spPr>
          <a:xfrm>
            <a:off x="1197864" y="1801368"/>
            <a:ext cx="5989320" cy="475488"/>
          </a:xfrm>
          <a:prstGeom prst="rect">
            <a:avLst/>
          </a:prstGeom>
          <a:noFill/>
          <a:ln/>
        </p:spPr>
        <p:txBody>
          <a:bodyPr wrap="square" lIns="0" tIns="0" rIns="0" bIns="0" rtlCol="0" anchor="t"/>
          <a:lstStyle/>
          <a:p>
            <a:pPr indent="0" marL="0">
              <a:buNone/>
            </a:pPr>
            <a:r>
              <a:rPr lang="en-US" sz="1200" dirty="0">
                <a:solidFill>
                  <a:srgbClr val="6B7A90"/>
                </a:solidFill>
                <a:latin typeface="Calibri" pitchFamily="34" charset="0"/>
                <a:ea typeface="Calibri" pitchFamily="34" charset="-122"/>
                <a:cs typeface="Calibri" pitchFamily="34" charset="-120"/>
              </a:rPr>
              <a:t>Qué funciones de numpy podés usar. Define cómo se resuelve todo lo demás.</a:t>
            </a:r>
            <a:endParaRPr lang="en-US" sz="1200" dirty="0"/>
          </a:p>
        </p:txBody>
      </p:sp>
      <p:sp>
        <p:nvSpPr>
          <p:cNvPr id="8" name="Shape 6"/>
          <p:cNvSpPr/>
          <p:nvPr/>
        </p:nvSpPr>
        <p:spPr>
          <a:xfrm>
            <a:off x="612648" y="2496312"/>
            <a:ext cx="402336" cy="402336"/>
          </a:xfrm>
          <a:prstGeom prst="ellipse">
            <a:avLst/>
          </a:prstGeom>
          <a:solidFill>
            <a:srgbClr val="16233A"/>
          </a:solidFill>
          <a:ln w="12700">
            <a:solidFill>
              <a:srgbClr val="16233A"/>
            </a:solidFill>
            <a:prstDash val="solid"/>
          </a:ln>
        </p:spPr>
      </p:sp>
      <p:sp>
        <p:nvSpPr>
          <p:cNvPr id="9" name="Text 7"/>
          <p:cNvSpPr/>
          <p:nvPr/>
        </p:nvSpPr>
        <p:spPr>
          <a:xfrm>
            <a:off x="612648" y="2496312"/>
            <a:ext cx="402336" cy="402336"/>
          </a:xfrm>
          <a:prstGeom prst="rect">
            <a:avLst/>
          </a:prstGeom>
          <a:noFill/>
          <a:ln/>
        </p:spPr>
        <p:txBody>
          <a:bodyPr wrap="square" lIns="0" tIns="0" rIns="0" bIns="0" rtlCol="0" anchor="ctr"/>
          <a:lstStyle/>
          <a:p>
            <a:pPr algn="ctr" indent="0" marL="0">
              <a:buNone/>
            </a:pPr>
            <a:r>
              <a:rPr lang="en-US" sz="1144" b="1" dirty="0">
                <a:solidFill>
                  <a:srgbClr val="FFFFFF"/>
                </a:solidFill>
                <a:latin typeface="Cambria" pitchFamily="34" charset="0"/>
                <a:ea typeface="Cambria" pitchFamily="34" charset="-122"/>
                <a:cs typeface="Cambria" pitchFamily="34" charset="-120"/>
              </a:rPr>
              <a:t>2</a:t>
            </a:r>
            <a:endParaRPr lang="en-US" sz="1144" dirty="0"/>
          </a:p>
        </p:txBody>
      </p:sp>
      <p:sp>
        <p:nvSpPr>
          <p:cNvPr id="10" name="Text 8"/>
          <p:cNvSpPr/>
          <p:nvPr/>
        </p:nvSpPr>
        <p:spPr>
          <a:xfrm>
            <a:off x="1197864" y="2450592"/>
            <a:ext cx="5989320" cy="274320"/>
          </a:xfrm>
          <a:prstGeom prst="rect">
            <a:avLst/>
          </a:prstGeom>
          <a:noFill/>
          <a:ln/>
        </p:spPr>
        <p:txBody>
          <a:bodyPr wrap="square" lIns="0" tIns="0" rIns="0" bIns="0" rtlCol="0" anchor="t"/>
          <a:lstStyle/>
          <a:p>
            <a:pPr indent="0" marL="0">
              <a:buNone/>
            </a:pPr>
            <a:r>
              <a:rPr lang="en-US" sz="1450" b="1" dirty="0">
                <a:solidFill>
                  <a:srgbClr val="16233A"/>
                </a:solidFill>
                <a:latin typeface="Calibri" pitchFamily="34" charset="0"/>
                <a:ea typeface="Calibri" pitchFamily="34" charset="-122"/>
                <a:cs typeface="Calibri" pitchFamily="34" charset="-120"/>
              </a:rPr>
              <a:t>Numpy mínimo indispensable</a:t>
            </a:r>
            <a:endParaRPr lang="en-US" sz="1450" dirty="0"/>
          </a:p>
        </p:txBody>
      </p:sp>
      <p:sp>
        <p:nvSpPr>
          <p:cNvPr id="11" name="Text 9"/>
          <p:cNvSpPr/>
          <p:nvPr/>
        </p:nvSpPr>
        <p:spPr>
          <a:xfrm>
            <a:off x="1197864" y="2743200"/>
            <a:ext cx="5989320" cy="475488"/>
          </a:xfrm>
          <a:prstGeom prst="rect">
            <a:avLst/>
          </a:prstGeom>
          <a:noFill/>
          <a:ln/>
        </p:spPr>
        <p:txBody>
          <a:bodyPr wrap="square" lIns="0" tIns="0" rIns="0" bIns="0" rtlCol="0" anchor="t"/>
          <a:lstStyle/>
          <a:p>
            <a:pPr indent="0" marL="0">
              <a:buNone/>
            </a:pPr>
            <a:r>
              <a:rPr lang="en-US" sz="1200" dirty="0">
                <a:solidFill>
                  <a:srgbClr val="6B7A90"/>
                </a:solidFill>
                <a:latin typeface="Calibri" pitchFamily="34" charset="0"/>
                <a:ea typeface="Calibri" pitchFamily="34" charset="-122"/>
                <a:cs typeface="Calibri" pitchFamily="34" charset="-120"/>
              </a:rPr>
              <a:t>Slicing, vistas, broadcasting, dtype. Lo que de verdad usás del notebook L00.</a:t>
            </a:r>
            <a:endParaRPr lang="en-US" sz="1200" dirty="0"/>
          </a:p>
        </p:txBody>
      </p:sp>
      <p:sp>
        <p:nvSpPr>
          <p:cNvPr id="12" name="Shape 10"/>
          <p:cNvSpPr/>
          <p:nvPr/>
        </p:nvSpPr>
        <p:spPr>
          <a:xfrm>
            <a:off x="612648" y="3438144"/>
            <a:ext cx="402336" cy="402336"/>
          </a:xfrm>
          <a:prstGeom prst="ellipse">
            <a:avLst/>
          </a:prstGeom>
          <a:solidFill>
            <a:srgbClr val="16233A"/>
          </a:solidFill>
          <a:ln w="12700">
            <a:solidFill>
              <a:srgbClr val="16233A"/>
            </a:solidFill>
            <a:prstDash val="solid"/>
          </a:ln>
        </p:spPr>
      </p:sp>
      <p:sp>
        <p:nvSpPr>
          <p:cNvPr id="13" name="Text 11"/>
          <p:cNvSpPr/>
          <p:nvPr/>
        </p:nvSpPr>
        <p:spPr>
          <a:xfrm>
            <a:off x="612648" y="3438144"/>
            <a:ext cx="402336" cy="402336"/>
          </a:xfrm>
          <a:prstGeom prst="rect">
            <a:avLst/>
          </a:prstGeom>
          <a:noFill/>
          <a:ln/>
        </p:spPr>
        <p:txBody>
          <a:bodyPr wrap="square" lIns="0" tIns="0" rIns="0" bIns="0" rtlCol="0" anchor="ctr"/>
          <a:lstStyle/>
          <a:p>
            <a:pPr algn="ctr" indent="0" marL="0">
              <a:buNone/>
            </a:pPr>
            <a:r>
              <a:rPr lang="en-US" sz="1144" b="1" dirty="0">
                <a:solidFill>
                  <a:srgbClr val="FFFFFF"/>
                </a:solidFill>
                <a:latin typeface="Cambria" pitchFamily="34" charset="0"/>
                <a:ea typeface="Cambria" pitchFamily="34" charset="-122"/>
                <a:cs typeface="Cambria" pitchFamily="34" charset="-120"/>
              </a:rPr>
              <a:t>3</a:t>
            </a:r>
            <a:endParaRPr lang="en-US" sz="1144" dirty="0"/>
          </a:p>
        </p:txBody>
      </p:sp>
      <p:sp>
        <p:nvSpPr>
          <p:cNvPr id="14" name="Text 12"/>
          <p:cNvSpPr/>
          <p:nvPr/>
        </p:nvSpPr>
        <p:spPr>
          <a:xfrm>
            <a:off x="1197864" y="3392424"/>
            <a:ext cx="5989320" cy="274320"/>
          </a:xfrm>
          <a:prstGeom prst="rect">
            <a:avLst/>
          </a:prstGeom>
          <a:noFill/>
          <a:ln/>
        </p:spPr>
        <p:txBody>
          <a:bodyPr wrap="square" lIns="0" tIns="0" rIns="0" bIns="0" rtlCol="0" anchor="t"/>
          <a:lstStyle/>
          <a:p>
            <a:pPr indent="0" marL="0">
              <a:buNone/>
            </a:pPr>
            <a:r>
              <a:rPr lang="en-US" sz="1450" b="1" dirty="0">
                <a:solidFill>
                  <a:srgbClr val="16233A"/>
                </a:solidFill>
                <a:latin typeface="Calibri" pitchFamily="34" charset="0"/>
                <a:ea typeface="Calibri" pitchFamily="34" charset="-122"/>
                <a:cs typeface="Calibri" pitchFamily="34" charset="-120"/>
              </a:rPr>
              <a:t>Seis patrones de código</a:t>
            </a:r>
            <a:endParaRPr lang="en-US" sz="1450" dirty="0"/>
          </a:p>
        </p:txBody>
      </p:sp>
      <p:sp>
        <p:nvSpPr>
          <p:cNvPr id="15" name="Text 13"/>
          <p:cNvSpPr/>
          <p:nvPr/>
        </p:nvSpPr>
        <p:spPr>
          <a:xfrm>
            <a:off x="1197864" y="3685032"/>
            <a:ext cx="5989320" cy="475488"/>
          </a:xfrm>
          <a:prstGeom prst="rect">
            <a:avLst/>
          </a:prstGeom>
          <a:noFill/>
          <a:ln/>
        </p:spPr>
        <p:txBody>
          <a:bodyPr wrap="square" lIns="0" tIns="0" rIns="0" bIns="0" rtlCol="0" anchor="t"/>
          <a:lstStyle/>
          <a:p>
            <a:pPr indent="0" marL="0">
              <a:buNone/>
            </a:pPr>
            <a:r>
              <a:rPr lang="en-US" sz="1200" dirty="0">
                <a:solidFill>
                  <a:srgbClr val="6B7A90"/>
                </a:solidFill>
                <a:latin typeface="Calibri" pitchFamily="34" charset="0"/>
                <a:ea typeface="Calibri" pitchFamily="34" charset="-122"/>
                <a:cs typeface="Calibri" pitchFamily="34" charset="-120"/>
              </a:rPr>
              <a:t>Seis moldes que, combinados, cubren los 18 ejercicios.</a:t>
            </a:r>
            <a:endParaRPr lang="en-US" sz="1200" dirty="0"/>
          </a:p>
        </p:txBody>
      </p:sp>
      <p:sp>
        <p:nvSpPr>
          <p:cNvPr id="16" name="Shape 14"/>
          <p:cNvSpPr/>
          <p:nvPr/>
        </p:nvSpPr>
        <p:spPr>
          <a:xfrm>
            <a:off x="612648" y="4379976"/>
            <a:ext cx="402336" cy="402336"/>
          </a:xfrm>
          <a:prstGeom prst="ellipse">
            <a:avLst/>
          </a:prstGeom>
          <a:solidFill>
            <a:srgbClr val="16233A"/>
          </a:solidFill>
          <a:ln w="12700">
            <a:solidFill>
              <a:srgbClr val="16233A"/>
            </a:solidFill>
            <a:prstDash val="solid"/>
          </a:ln>
        </p:spPr>
      </p:sp>
      <p:sp>
        <p:nvSpPr>
          <p:cNvPr id="17" name="Text 15"/>
          <p:cNvSpPr/>
          <p:nvPr/>
        </p:nvSpPr>
        <p:spPr>
          <a:xfrm>
            <a:off x="612648" y="4379976"/>
            <a:ext cx="402336" cy="402336"/>
          </a:xfrm>
          <a:prstGeom prst="rect">
            <a:avLst/>
          </a:prstGeom>
          <a:noFill/>
          <a:ln/>
        </p:spPr>
        <p:txBody>
          <a:bodyPr wrap="square" lIns="0" tIns="0" rIns="0" bIns="0" rtlCol="0" anchor="ctr"/>
          <a:lstStyle/>
          <a:p>
            <a:pPr algn="ctr" indent="0" marL="0">
              <a:buNone/>
            </a:pPr>
            <a:r>
              <a:rPr lang="en-US" sz="1144" b="1" dirty="0">
                <a:solidFill>
                  <a:srgbClr val="FFFFFF"/>
                </a:solidFill>
                <a:latin typeface="Cambria" pitchFamily="34" charset="0"/>
                <a:ea typeface="Cambria" pitchFamily="34" charset="-122"/>
                <a:cs typeface="Cambria" pitchFamily="34" charset="-120"/>
              </a:rPr>
              <a:t>4</a:t>
            </a:r>
            <a:endParaRPr lang="en-US" sz="1144" dirty="0"/>
          </a:p>
        </p:txBody>
      </p:sp>
      <p:sp>
        <p:nvSpPr>
          <p:cNvPr id="18" name="Text 16"/>
          <p:cNvSpPr/>
          <p:nvPr/>
        </p:nvSpPr>
        <p:spPr>
          <a:xfrm>
            <a:off x="1197864" y="4334256"/>
            <a:ext cx="5989320" cy="274320"/>
          </a:xfrm>
          <a:prstGeom prst="rect">
            <a:avLst/>
          </a:prstGeom>
          <a:noFill/>
          <a:ln/>
        </p:spPr>
        <p:txBody>
          <a:bodyPr wrap="square" lIns="0" tIns="0" rIns="0" bIns="0" rtlCol="0" anchor="t"/>
          <a:lstStyle/>
          <a:p>
            <a:pPr indent="0" marL="0">
              <a:buNone/>
            </a:pPr>
            <a:r>
              <a:rPr lang="en-US" sz="1450" b="1" dirty="0">
                <a:solidFill>
                  <a:srgbClr val="16233A"/>
                </a:solidFill>
                <a:latin typeface="Calibri" pitchFamily="34" charset="0"/>
                <a:ea typeface="Calibri" pitchFamily="34" charset="-122"/>
                <a:cs typeface="Calibri" pitchFamily="34" charset="-120"/>
              </a:rPr>
              <a:t>Mapa de los 18 ejercicios</a:t>
            </a:r>
            <a:endParaRPr lang="en-US" sz="1450" dirty="0"/>
          </a:p>
        </p:txBody>
      </p:sp>
      <p:sp>
        <p:nvSpPr>
          <p:cNvPr id="19" name="Text 17"/>
          <p:cNvSpPr/>
          <p:nvPr/>
        </p:nvSpPr>
        <p:spPr>
          <a:xfrm>
            <a:off x="1197864" y="4626864"/>
            <a:ext cx="5989320" cy="475488"/>
          </a:xfrm>
          <a:prstGeom prst="rect">
            <a:avLst/>
          </a:prstGeom>
          <a:noFill/>
          <a:ln/>
        </p:spPr>
        <p:txBody>
          <a:bodyPr wrap="square" lIns="0" tIns="0" rIns="0" bIns="0" rtlCol="0" anchor="t"/>
          <a:lstStyle/>
          <a:p>
            <a:pPr indent="0" marL="0">
              <a:buNone/>
            </a:pPr>
            <a:r>
              <a:rPr lang="en-US" sz="1200" dirty="0">
                <a:solidFill>
                  <a:srgbClr val="6B7A90"/>
                </a:solidFill>
                <a:latin typeface="Calibri" pitchFamily="34" charset="0"/>
                <a:ea typeface="Calibri" pitchFamily="34" charset="-122"/>
                <a:cs typeface="Calibri" pitchFamily="34" charset="-120"/>
              </a:rPr>
              <a:t>Qué te pregunta cada uno, con qué se conecta y dónde está la trampa.</a:t>
            </a:r>
            <a:endParaRPr lang="en-US" sz="1200" dirty="0"/>
          </a:p>
        </p:txBody>
      </p:sp>
      <p:sp>
        <p:nvSpPr>
          <p:cNvPr id="20" name="Shape 18"/>
          <p:cNvSpPr/>
          <p:nvPr/>
        </p:nvSpPr>
        <p:spPr>
          <a:xfrm>
            <a:off x="612648" y="5321808"/>
            <a:ext cx="402336" cy="402336"/>
          </a:xfrm>
          <a:prstGeom prst="ellipse">
            <a:avLst/>
          </a:prstGeom>
          <a:solidFill>
            <a:srgbClr val="16233A"/>
          </a:solidFill>
          <a:ln w="12700">
            <a:solidFill>
              <a:srgbClr val="16233A"/>
            </a:solidFill>
            <a:prstDash val="solid"/>
          </a:ln>
        </p:spPr>
      </p:sp>
      <p:sp>
        <p:nvSpPr>
          <p:cNvPr id="21" name="Text 19"/>
          <p:cNvSpPr/>
          <p:nvPr/>
        </p:nvSpPr>
        <p:spPr>
          <a:xfrm>
            <a:off x="612648" y="5321808"/>
            <a:ext cx="402336" cy="402336"/>
          </a:xfrm>
          <a:prstGeom prst="rect">
            <a:avLst/>
          </a:prstGeom>
          <a:noFill/>
          <a:ln/>
        </p:spPr>
        <p:txBody>
          <a:bodyPr wrap="square" lIns="0" tIns="0" rIns="0" bIns="0" rtlCol="0" anchor="ctr"/>
          <a:lstStyle/>
          <a:p>
            <a:pPr algn="ctr" indent="0" marL="0">
              <a:buNone/>
            </a:pPr>
            <a:r>
              <a:rPr lang="en-US" sz="1144" b="1" dirty="0">
                <a:solidFill>
                  <a:srgbClr val="FFFFFF"/>
                </a:solidFill>
                <a:latin typeface="Cambria" pitchFamily="34" charset="0"/>
                <a:ea typeface="Cambria" pitchFamily="34" charset="-122"/>
                <a:cs typeface="Cambria" pitchFamily="34" charset="-120"/>
              </a:rPr>
              <a:t>5</a:t>
            </a:r>
            <a:endParaRPr lang="en-US" sz="1144" dirty="0"/>
          </a:p>
        </p:txBody>
      </p:sp>
      <p:sp>
        <p:nvSpPr>
          <p:cNvPr id="22" name="Text 20"/>
          <p:cNvSpPr/>
          <p:nvPr/>
        </p:nvSpPr>
        <p:spPr>
          <a:xfrm>
            <a:off x="1197864" y="5276088"/>
            <a:ext cx="5989320" cy="274320"/>
          </a:xfrm>
          <a:prstGeom prst="rect">
            <a:avLst/>
          </a:prstGeom>
          <a:noFill/>
          <a:ln/>
        </p:spPr>
        <p:txBody>
          <a:bodyPr wrap="square" lIns="0" tIns="0" rIns="0" bIns="0" rtlCol="0" anchor="t"/>
          <a:lstStyle/>
          <a:p>
            <a:pPr indent="0" marL="0">
              <a:buNone/>
            </a:pPr>
            <a:r>
              <a:rPr lang="en-US" sz="1450" b="1" dirty="0">
                <a:solidFill>
                  <a:srgbClr val="16233A"/>
                </a:solidFill>
                <a:latin typeface="Calibri" pitchFamily="34" charset="0"/>
                <a:ea typeface="Calibri" pitchFamily="34" charset="-122"/>
                <a:cs typeface="Calibri" pitchFamily="34" charset="-120"/>
              </a:rPr>
              <a:t>Cómo trabajar y testear</a:t>
            </a:r>
            <a:endParaRPr lang="en-US" sz="1450" dirty="0"/>
          </a:p>
        </p:txBody>
      </p:sp>
      <p:sp>
        <p:nvSpPr>
          <p:cNvPr id="23" name="Text 21"/>
          <p:cNvSpPr/>
          <p:nvPr/>
        </p:nvSpPr>
        <p:spPr>
          <a:xfrm>
            <a:off x="1197864" y="5568696"/>
            <a:ext cx="5989320" cy="475488"/>
          </a:xfrm>
          <a:prstGeom prst="rect">
            <a:avLst/>
          </a:prstGeom>
          <a:noFill/>
          <a:ln/>
        </p:spPr>
        <p:txBody>
          <a:bodyPr wrap="square" lIns="0" tIns="0" rIns="0" bIns="0" rtlCol="0" anchor="t"/>
          <a:lstStyle/>
          <a:p>
            <a:pPr indent="0" marL="0">
              <a:buNone/>
            </a:pPr>
            <a:r>
              <a:rPr lang="en-US" sz="1200" dirty="0">
                <a:solidFill>
                  <a:srgbClr val="6B7A90"/>
                </a:solidFill>
                <a:latin typeface="Calibri" pitchFamily="34" charset="0"/>
                <a:ea typeface="Calibri" pitchFamily="34" charset="-122"/>
                <a:cs typeface="Calibri" pitchFamily="34" charset="-120"/>
              </a:rPr>
              <a:t>El enunciado pide un test por ejercicio. Cómo escribirlos sin np.allclose.</a:t>
            </a:r>
            <a:endParaRPr lang="en-US" sz="1200" dirty="0"/>
          </a:p>
        </p:txBody>
      </p:sp>
      <p:sp>
        <p:nvSpPr>
          <p:cNvPr id="24" name="Shape 22"/>
          <p:cNvSpPr/>
          <p:nvPr/>
        </p:nvSpPr>
        <p:spPr>
          <a:xfrm>
            <a:off x="7498080" y="1463040"/>
            <a:ext cx="4096512" cy="2788920"/>
          </a:xfrm>
          <a:prstGeom prst="roundRect">
            <a:avLst>
              <a:gd name="adj" fmla="val 2623"/>
            </a:avLst>
          </a:prstGeom>
          <a:solidFill>
            <a:srgbClr val="FCF2E0"/>
          </a:solidFill>
          <a:ln w="12700">
            <a:solidFill>
              <a:srgbClr val="F0DDB8"/>
            </a:solidFill>
            <a:prstDash val="solid"/>
          </a:ln>
        </p:spPr>
      </p:sp>
      <p:sp>
        <p:nvSpPr>
          <p:cNvPr id="25" name="Text 23"/>
          <p:cNvSpPr/>
          <p:nvPr/>
        </p:nvSpPr>
        <p:spPr>
          <a:xfrm>
            <a:off x="7754112" y="1700784"/>
            <a:ext cx="3584448" cy="310896"/>
          </a:xfrm>
          <a:prstGeom prst="rect">
            <a:avLst/>
          </a:prstGeom>
          <a:noFill/>
          <a:ln/>
        </p:spPr>
        <p:txBody>
          <a:bodyPr wrap="square" lIns="0" tIns="0" rIns="0" bIns="0" rtlCol="0" anchor="t"/>
          <a:lstStyle/>
          <a:p>
            <a:pPr indent="0" marL="0">
              <a:buNone/>
            </a:pPr>
            <a:r>
              <a:rPr lang="en-US" sz="1500" b="1" dirty="0">
                <a:solidFill>
                  <a:srgbClr val="8A6318"/>
                </a:solidFill>
                <a:latin typeface="Cambria" pitchFamily="34" charset="0"/>
                <a:ea typeface="Cambria" pitchFamily="34" charset="-122"/>
                <a:cs typeface="Cambria" pitchFamily="34" charset="-120"/>
              </a:rPr>
              <a:t>Sin soluciones — a propósito</a:t>
            </a:r>
            <a:endParaRPr lang="en-US" sz="1500" dirty="0"/>
          </a:p>
        </p:txBody>
      </p:sp>
      <p:sp>
        <p:nvSpPr>
          <p:cNvPr id="26" name="Text 24"/>
          <p:cNvSpPr/>
          <p:nvPr/>
        </p:nvSpPr>
        <p:spPr>
          <a:xfrm>
            <a:off x="7754112" y="2084832"/>
            <a:ext cx="3584448" cy="2011680"/>
          </a:xfrm>
          <a:prstGeom prst="rect">
            <a:avLst/>
          </a:prstGeom>
          <a:noFill/>
          <a:ln/>
        </p:spPr>
        <p:txBody>
          <a:bodyPr wrap="square" lIns="0" tIns="0" rIns="0" bIns="0" rtlCol="0" anchor="t"/>
          <a:lstStyle/>
          <a:p>
            <a:pPr indent="0" marL="0">
              <a:lnSpc>
                <a:spcPct val="114000"/>
              </a:lnSpc>
              <a:buNone/>
            </a:pPr>
            <a:r>
              <a:rPr lang="en-US" sz="1250" dirty="0">
                <a:solidFill>
                  <a:srgbClr val="6E5525"/>
                </a:solidFill>
                <a:latin typeface="Calibri" pitchFamily="34" charset="0"/>
                <a:ea typeface="Calibri" pitchFamily="34" charset="-122"/>
                <a:cs typeface="Calibri" pitchFamily="34" charset="-120"/>
              </a:rPr>
              <a:t>Los lineamientos de la materia lo dicen sin vueltas: copiar código de un LLM sin poder reproducirlo te perjudica, y el final evalúa que desarrolles las rutinas vos.</a:t>
            </a:r>
            <a:endParaRPr lang="en-US" sz="1250" dirty="0"/>
          </a:p>
          <a:p>
            <a:pPr indent="0" marL="0">
              <a:lnSpc>
                <a:spcPct val="114000"/>
              </a:lnSpc>
              <a:buNone/>
            </a:pPr>
            <a:endParaRPr lang="en-US" sz="1250" dirty="0"/>
          </a:p>
          <a:p>
            <a:pPr indent="0" marL="0">
              <a:lnSpc>
                <a:spcPct val="114000"/>
              </a:lnSpc>
              <a:buNone/>
            </a:pPr>
            <a:r>
              <a:rPr lang="en-US" sz="1250" dirty="0">
                <a:solidFill>
                  <a:srgbClr val="6E5525"/>
                </a:solidFill>
                <a:latin typeface="Calibri" pitchFamily="34" charset="0"/>
                <a:ea typeface="Calibri" pitchFamily="34" charset="-122"/>
                <a:cs typeface="Calibri" pitchFamily="34" charset="-120"/>
              </a:rPr>
              <a:t>Acá vas a encontrar el concepto, el patrón y la pista. La función la escribís vos.</a:t>
            </a:r>
            <a:endParaRPr lang="en-US" sz="1250" dirty="0"/>
          </a:p>
        </p:txBody>
      </p:sp>
      <p:sp>
        <p:nvSpPr>
          <p:cNvPr id="27" name="Shape 25"/>
          <p:cNvSpPr/>
          <p:nvPr/>
        </p:nvSpPr>
        <p:spPr>
          <a:xfrm>
            <a:off x="7498080" y="4443984"/>
            <a:ext cx="4096512" cy="1664208"/>
          </a:xfrm>
          <a:prstGeom prst="roundRect">
            <a:avLst>
              <a:gd name="adj" fmla="val 4396"/>
            </a:avLst>
          </a:prstGeom>
          <a:solidFill>
            <a:srgbClr val="F1F4F9"/>
          </a:solidFill>
          <a:ln w="12700">
            <a:solidFill>
              <a:srgbClr val="D9E1EB"/>
            </a:solidFill>
            <a:prstDash val="solid"/>
          </a:ln>
        </p:spPr>
      </p:sp>
      <p:sp>
        <p:nvSpPr>
          <p:cNvPr id="28" name="Text 26"/>
          <p:cNvSpPr/>
          <p:nvPr/>
        </p:nvSpPr>
        <p:spPr>
          <a:xfrm>
            <a:off x="7754112" y="4663440"/>
            <a:ext cx="3584448" cy="274320"/>
          </a:xfrm>
          <a:prstGeom prst="rect">
            <a:avLst/>
          </a:prstGeom>
          <a:noFill/>
          <a:ln/>
        </p:spPr>
        <p:txBody>
          <a:bodyPr wrap="square" lIns="0" tIns="0" rIns="0" bIns="0" rtlCol="0" anchor="t"/>
          <a:lstStyle/>
          <a:p>
            <a:pPr indent="0" marL="0">
              <a:buNone/>
            </a:pPr>
            <a:r>
              <a:rPr lang="en-US" sz="1400" b="1" dirty="0">
                <a:solidFill>
                  <a:srgbClr val="16233A"/>
                </a:solidFill>
                <a:latin typeface="Cambria" pitchFamily="34" charset="0"/>
                <a:ea typeface="Cambria" pitchFamily="34" charset="-122"/>
                <a:cs typeface="Cambria" pitchFamily="34" charset="-120"/>
              </a:rPr>
              <a:t>Cómo recorrerla</a:t>
            </a:r>
            <a:endParaRPr lang="en-US" sz="1400" dirty="0"/>
          </a:p>
        </p:txBody>
      </p:sp>
      <p:sp>
        <p:nvSpPr>
          <p:cNvPr id="29" name="Text 27"/>
          <p:cNvSpPr/>
          <p:nvPr/>
        </p:nvSpPr>
        <p:spPr>
          <a:xfrm>
            <a:off x="7754112" y="5029200"/>
            <a:ext cx="3584448" cy="914400"/>
          </a:xfrm>
          <a:prstGeom prst="rect">
            <a:avLst/>
          </a:prstGeom>
          <a:noFill/>
          <a:ln/>
        </p:spPr>
        <p:txBody>
          <a:bodyPr wrap="square" lIns="0" tIns="0" rIns="0" bIns="0" rtlCol="0" anchor="t"/>
          <a:lstStyle/>
          <a:p>
            <a:pPr indent="0" marL="0">
              <a:lnSpc>
                <a:spcPct val="114000"/>
              </a:lnSpc>
              <a:buNone/>
            </a:pPr>
            <a:r>
              <a:rPr lang="en-US" sz="1250" dirty="0">
                <a:solidFill>
                  <a:srgbClr val="6B7A90"/>
                </a:solidFill>
                <a:latin typeface="Calibri" pitchFamily="34" charset="0"/>
                <a:ea typeface="Calibri" pitchFamily="34" charset="-122"/>
                <a:cs typeface="Calibri" pitchFamily="34" charset="-120"/>
              </a:rPr>
              <a:t>Leé los bloques 1 a 3 de corrido, con el notebook L00 abierto al lado. Los bloques 4 y 5 son de consulta: volvés a ellos cuando encarás cada ejercicio.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Qué se entrega, y por qué no es un ejercicio suelto</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Lo que hagas en este labo se acumula y viaja hasta la entrega final del TP.</a:t>
            </a:r>
            <a:endParaRPr lang="en-US" sz="1300" dirty="0"/>
          </a:p>
        </p:txBody>
      </p:sp>
      <p:sp>
        <p:nvSpPr>
          <p:cNvPr id="4" name="Shape 2"/>
          <p:cNvSpPr/>
          <p:nvPr/>
        </p:nvSpPr>
        <p:spPr>
          <a:xfrm>
            <a:off x="594360" y="1444752"/>
            <a:ext cx="3466490" cy="2121408"/>
          </a:xfrm>
          <a:prstGeom prst="roundRect">
            <a:avLst>
              <a:gd name="adj" fmla="val 3448"/>
            </a:avLst>
          </a:prstGeom>
          <a:solidFill>
            <a:srgbClr val="E8F1F3"/>
          </a:solidFill>
          <a:ln w="12700">
            <a:solidFill>
              <a:srgbClr val="E8F1F3"/>
            </a:solidFill>
            <a:prstDash val="solid"/>
          </a:ln>
        </p:spPr>
      </p:sp>
      <p:sp>
        <p:nvSpPr>
          <p:cNvPr id="5" name="Shape 3"/>
          <p:cNvSpPr/>
          <p:nvPr/>
        </p:nvSpPr>
        <p:spPr>
          <a:xfrm>
            <a:off x="868680" y="1719072"/>
            <a:ext cx="310896" cy="310896"/>
          </a:xfrm>
          <a:prstGeom prst="rect">
            <a:avLst/>
          </a:prstGeom>
          <a:solidFill>
            <a:srgbClr val="2E7D8F"/>
          </a:solidFill>
          <a:ln w="12700">
            <a:solidFill>
              <a:srgbClr val="2E7D8F"/>
            </a:solidFill>
            <a:prstDash val="solid"/>
          </a:ln>
        </p:spPr>
      </p:sp>
      <p:sp>
        <p:nvSpPr>
          <p:cNvPr id="6" name="Text 4"/>
          <p:cNvSpPr/>
          <p:nvPr/>
        </p:nvSpPr>
        <p:spPr>
          <a:xfrm>
            <a:off x="868680" y="2176272"/>
            <a:ext cx="2917850" cy="329184"/>
          </a:xfrm>
          <a:prstGeom prst="rect">
            <a:avLst/>
          </a:prstGeom>
          <a:noFill/>
          <a:ln/>
        </p:spPr>
        <p:txBody>
          <a:bodyPr wrap="square" lIns="0" tIns="0" rIns="0" bIns="0" rtlCol="0" anchor="t"/>
          <a:lstStyle/>
          <a:p>
            <a:pPr indent="0" marL="0">
              <a:buNone/>
            </a:pPr>
            <a:r>
              <a:rPr lang="en-US" sz="1600" b="1" dirty="0">
                <a:solidFill>
                  <a:srgbClr val="16233A"/>
                </a:solidFill>
                <a:latin typeface="Cambria" pitchFamily="34" charset="0"/>
                <a:ea typeface="Cambria" pitchFamily="34" charset="-122"/>
                <a:cs typeface="Cambria" pitchFamily="34" charset="-120"/>
              </a:rPr>
              <a:t>librerias.py</a:t>
            </a:r>
            <a:endParaRPr lang="en-US" sz="1600" dirty="0"/>
          </a:p>
        </p:txBody>
      </p:sp>
      <p:sp>
        <p:nvSpPr>
          <p:cNvPr id="7" name="Text 5"/>
          <p:cNvSpPr/>
          <p:nvPr/>
        </p:nvSpPr>
        <p:spPr>
          <a:xfrm>
            <a:off x="868680" y="2578608"/>
            <a:ext cx="2917850" cy="841248"/>
          </a:xfrm>
          <a:prstGeom prst="rect">
            <a:avLst/>
          </a:prstGeom>
          <a:noFill/>
          <a:ln/>
        </p:spPr>
        <p:txBody>
          <a:bodyPr wrap="square" lIns="0" tIns="0" rIns="0" bIns="0" rtlCol="0" anchor="t"/>
          <a:lstStyle/>
          <a:p>
            <a:pPr indent="0" marL="0">
              <a:lnSpc>
                <a:spcPct val="114000"/>
              </a:lnSpc>
              <a:buNone/>
            </a:pPr>
            <a:r>
              <a:rPr lang="en-US" sz="1200" dirty="0">
                <a:solidFill>
                  <a:srgbClr val="2B3648"/>
                </a:solidFill>
                <a:latin typeface="Calibri" pitchFamily="34" charset="0"/>
                <a:ea typeface="Calibri" pitchFamily="34" charset="-122"/>
                <a:cs typeface="Calibri" pitchFamily="34" charset="-120"/>
              </a:rPr>
              <a:t>Un archivo con las 18 funciones del enunciado. Ese nombre exacto lo pide el enunciado.</a:t>
            </a:r>
            <a:endParaRPr lang="en-US" sz="1200" dirty="0"/>
          </a:p>
        </p:txBody>
      </p:sp>
      <p:sp>
        <p:nvSpPr>
          <p:cNvPr id="8" name="Shape 6"/>
          <p:cNvSpPr/>
          <p:nvPr/>
        </p:nvSpPr>
        <p:spPr>
          <a:xfrm>
            <a:off x="4362602" y="1444752"/>
            <a:ext cx="3466490" cy="2121408"/>
          </a:xfrm>
          <a:prstGeom prst="roundRect">
            <a:avLst>
              <a:gd name="adj" fmla="val 3448"/>
            </a:avLst>
          </a:prstGeom>
          <a:solidFill>
            <a:srgbClr val="F1F4F9"/>
          </a:solidFill>
          <a:ln w="12700">
            <a:solidFill>
              <a:srgbClr val="F1F4F9"/>
            </a:solidFill>
            <a:prstDash val="solid"/>
          </a:ln>
        </p:spPr>
      </p:sp>
      <p:sp>
        <p:nvSpPr>
          <p:cNvPr id="9" name="Shape 7"/>
          <p:cNvSpPr/>
          <p:nvPr/>
        </p:nvSpPr>
        <p:spPr>
          <a:xfrm>
            <a:off x="4636922" y="1719072"/>
            <a:ext cx="310896" cy="310896"/>
          </a:xfrm>
          <a:prstGeom prst="rect">
            <a:avLst/>
          </a:prstGeom>
          <a:solidFill>
            <a:srgbClr val="16233A"/>
          </a:solidFill>
          <a:ln w="12700">
            <a:solidFill>
              <a:srgbClr val="16233A"/>
            </a:solidFill>
            <a:prstDash val="solid"/>
          </a:ln>
        </p:spPr>
      </p:sp>
      <p:sp>
        <p:nvSpPr>
          <p:cNvPr id="10" name="Text 8"/>
          <p:cNvSpPr/>
          <p:nvPr/>
        </p:nvSpPr>
        <p:spPr>
          <a:xfrm>
            <a:off x="4636922" y="2176272"/>
            <a:ext cx="2917850" cy="329184"/>
          </a:xfrm>
          <a:prstGeom prst="rect">
            <a:avLst/>
          </a:prstGeom>
          <a:noFill/>
          <a:ln/>
        </p:spPr>
        <p:txBody>
          <a:bodyPr wrap="square" lIns="0" tIns="0" rIns="0" bIns="0" rtlCol="0" anchor="t"/>
          <a:lstStyle/>
          <a:p>
            <a:pPr indent="0" marL="0">
              <a:buNone/>
            </a:pPr>
            <a:r>
              <a:rPr lang="en-US" sz="1600" b="1" dirty="0">
                <a:solidFill>
                  <a:srgbClr val="16233A"/>
                </a:solidFill>
                <a:latin typeface="Cambria" pitchFamily="34" charset="0"/>
                <a:ea typeface="Cambria" pitchFamily="34" charset="-122"/>
                <a:cs typeface="Cambria" pitchFamily="34" charset="-120"/>
              </a:rPr>
              <a:t>Un test por ejercicio</a:t>
            </a:r>
            <a:endParaRPr lang="en-US" sz="1600" dirty="0"/>
          </a:p>
        </p:txBody>
      </p:sp>
      <p:sp>
        <p:nvSpPr>
          <p:cNvPr id="11" name="Text 9"/>
          <p:cNvSpPr/>
          <p:nvPr/>
        </p:nvSpPr>
        <p:spPr>
          <a:xfrm>
            <a:off x="4636922" y="2578608"/>
            <a:ext cx="2917850" cy="841248"/>
          </a:xfrm>
          <a:prstGeom prst="rect">
            <a:avLst/>
          </a:prstGeom>
          <a:noFill/>
          <a:ln/>
        </p:spPr>
        <p:txBody>
          <a:bodyPr wrap="square" lIns="0" tIns="0" rIns="0" bIns="0" rtlCol="0" anchor="t"/>
          <a:lstStyle/>
          <a:p>
            <a:pPr indent="0" marL="0">
              <a:lnSpc>
                <a:spcPct val="114000"/>
              </a:lnSpc>
              <a:buNone/>
            </a:pPr>
            <a:r>
              <a:rPr lang="en-US" sz="1200" dirty="0">
                <a:solidFill>
                  <a:srgbClr val="2B3648"/>
                </a:solidFill>
                <a:latin typeface="Calibri" pitchFamily="34" charset="0"/>
                <a:ea typeface="Calibri" pitchFamily="34" charset="-122"/>
                <a:cs typeface="Calibri" pitchFamily="34" charset="-120"/>
              </a:rPr>
              <a:t>«Preparar para cada ejercicio un test que verifique que la operación se está realizando correctamente.» No es opcional.</a:t>
            </a:r>
            <a:endParaRPr lang="en-US" sz="1200" dirty="0"/>
          </a:p>
        </p:txBody>
      </p:sp>
      <p:sp>
        <p:nvSpPr>
          <p:cNvPr id="12" name="Shape 10"/>
          <p:cNvSpPr/>
          <p:nvPr/>
        </p:nvSpPr>
        <p:spPr>
          <a:xfrm>
            <a:off x="8130845" y="1444752"/>
            <a:ext cx="3466490" cy="2121408"/>
          </a:xfrm>
          <a:prstGeom prst="roundRect">
            <a:avLst>
              <a:gd name="adj" fmla="val 3448"/>
            </a:avLst>
          </a:prstGeom>
          <a:solidFill>
            <a:srgbClr val="FCF2E0"/>
          </a:solidFill>
          <a:ln w="12700">
            <a:solidFill>
              <a:srgbClr val="FCF2E0"/>
            </a:solidFill>
            <a:prstDash val="solid"/>
          </a:ln>
        </p:spPr>
      </p:sp>
      <p:sp>
        <p:nvSpPr>
          <p:cNvPr id="13" name="Shape 11"/>
          <p:cNvSpPr/>
          <p:nvPr/>
        </p:nvSpPr>
        <p:spPr>
          <a:xfrm>
            <a:off x="8405165" y="1719072"/>
            <a:ext cx="310896" cy="310896"/>
          </a:xfrm>
          <a:prstGeom prst="rect">
            <a:avLst/>
          </a:prstGeom>
          <a:solidFill>
            <a:srgbClr val="E39A2B"/>
          </a:solidFill>
          <a:ln w="12700">
            <a:solidFill>
              <a:srgbClr val="E39A2B"/>
            </a:solidFill>
            <a:prstDash val="solid"/>
          </a:ln>
        </p:spPr>
      </p:sp>
      <p:sp>
        <p:nvSpPr>
          <p:cNvPr id="14" name="Text 12"/>
          <p:cNvSpPr/>
          <p:nvPr/>
        </p:nvSpPr>
        <p:spPr>
          <a:xfrm>
            <a:off x="8405165" y="2176272"/>
            <a:ext cx="2917850" cy="329184"/>
          </a:xfrm>
          <a:prstGeom prst="rect">
            <a:avLst/>
          </a:prstGeom>
          <a:noFill/>
          <a:ln/>
        </p:spPr>
        <p:txBody>
          <a:bodyPr wrap="square" lIns="0" tIns="0" rIns="0" bIns="0" rtlCol="0" anchor="t"/>
          <a:lstStyle/>
          <a:p>
            <a:pPr indent="0" marL="0">
              <a:buNone/>
            </a:pPr>
            <a:r>
              <a:rPr lang="en-US" sz="1600" b="1" dirty="0">
                <a:solidFill>
                  <a:srgbClr val="16233A"/>
                </a:solidFill>
                <a:latin typeface="Cambria" pitchFamily="34" charset="0"/>
                <a:ea typeface="Cambria" pitchFamily="34" charset="-122"/>
                <a:cs typeface="Cambria" pitchFamily="34" charset="-120"/>
              </a:rPr>
              <a:t>El módulo ALC</a:t>
            </a:r>
            <a:endParaRPr lang="en-US" sz="1600" dirty="0"/>
          </a:p>
        </p:txBody>
      </p:sp>
      <p:sp>
        <p:nvSpPr>
          <p:cNvPr id="15" name="Text 13"/>
          <p:cNvSpPr/>
          <p:nvPr/>
        </p:nvSpPr>
        <p:spPr>
          <a:xfrm>
            <a:off x="8405165" y="2578608"/>
            <a:ext cx="2917850" cy="841248"/>
          </a:xfrm>
          <a:prstGeom prst="rect">
            <a:avLst/>
          </a:prstGeom>
          <a:noFill/>
          <a:ln/>
        </p:spPr>
        <p:txBody>
          <a:bodyPr wrap="square" lIns="0" tIns="0" rIns="0" bIns="0" rtlCol="0" anchor="t"/>
          <a:lstStyle/>
          <a:p>
            <a:pPr indent="0" marL="0">
              <a:lnSpc>
                <a:spcPct val="114000"/>
              </a:lnSpc>
              <a:buNone/>
            </a:pPr>
            <a:r>
              <a:rPr lang="en-US" sz="1200" dirty="0">
                <a:solidFill>
                  <a:srgbClr val="2B3648"/>
                </a:solidFill>
                <a:latin typeface="Calibri" pitchFamily="34" charset="0"/>
                <a:ea typeface="Calibri" pitchFamily="34" charset="-122"/>
                <a:cs typeface="Calibri" pitchFamily="34" charset="-120"/>
              </a:rPr>
              <a:t>Los labos van construyendo un módulo que se entrega junto al TP. Este es el primer ladrillo.</a:t>
            </a:r>
            <a:endParaRPr lang="en-US" sz="1200" dirty="0"/>
          </a:p>
        </p:txBody>
      </p:sp>
      <p:sp>
        <p:nvSpPr>
          <p:cNvPr id="16" name="Shape 14"/>
          <p:cNvSpPr/>
          <p:nvPr/>
        </p:nvSpPr>
        <p:spPr>
          <a:xfrm>
            <a:off x="594360" y="3877056"/>
            <a:ext cx="11002975" cy="1572768"/>
          </a:xfrm>
          <a:prstGeom prst="roundRect">
            <a:avLst>
              <a:gd name="adj" fmla="val 4651"/>
            </a:avLst>
          </a:prstGeom>
          <a:solidFill>
            <a:srgbClr val="FFFFFF"/>
          </a:solidFill>
          <a:ln w="12700">
            <a:solidFill>
              <a:srgbClr val="D9E1EB"/>
            </a:solidFill>
            <a:prstDash val="solid"/>
          </a:ln>
        </p:spPr>
      </p:sp>
      <p:sp>
        <p:nvSpPr>
          <p:cNvPr id="17" name="Text 15"/>
          <p:cNvSpPr/>
          <p:nvPr/>
        </p:nvSpPr>
        <p:spPr>
          <a:xfrm>
            <a:off x="886968" y="4114800"/>
            <a:ext cx="10417759" cy="292608"/>
          </a:xfrm>
          <a:prstGeom prst="rect">
            <a:avLst/>
          </a:prstGeom>
          <a:noFill/>
          <a:ln/>
        </p:spPr>
        <p:txBody>
          <a:bodyPr wrap="square" lIns="0" tIns="0" rIns="0" bIns="0" rtlCol="0" anchor="t"/>
          <a:lstStyle/>
          <a:p>
            <a:pPr indent="0" marL="0">
              <a:buNone/>
            </a:pPr>
            <a:r>
              <a:rPr lang="en-US" sz="1500" b="1" dirty="0">
                <a:solidFill>
                  <a:srgbClr val="16233A"/>
                </a:solidFill>
                <a:latin typeface="Cambria" pitchFamily="34" charset="0"/>
                <a:ea typeface="Cambria" pitchFamily="34" charset="-122"/>
                <a:cs typeface="Cambria" pitchFamily="34" charset="-120"/>
              </a:rPr>
              <a:t>Por qué conviene hacerlo bien ahora</a:t>
            </a:r>
            <a:endParaRPr lang="en-US" sz="1500" dirty="0"/>
          </a:p>
        </p:txBody>
      </p:sp>
      <p:sp>
        <p:nvSpPr>
          <p:cNvPr id="18" name="Text 16"/>
          <p:cNvSpPr/>
          <p:nvPr/>
        </p:nvSpPr>
        <p:spPr>
          <a:xfrm>
            <a:off x="905256" y="4462272"/>
            <a:ext cx="10362895" cy="896112"/>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250" dirty="0">
                <a:solidFill>
                  <a:srgbClr val="2B3648"/>
                </a:solidFill>
                <a:latin typeface="Calibri" pitchFamily="34" charset="0"/>
                <a:ea typeface="Calibri" pitchFamily="34" charset="-122"/>
                <a:cs typeface="Calibri" pitchFamily="34" charset="-120"/>
              </a:rPr>
              <a:t>El TP se defiende oralmente y su aprobación es condición necesaria para aprobar la materia.</a:t>
            </a:r>
            <a:endParaRPr lang="en-US" sz="1250" dirty="0"/>
          </a:p>
          <a:p>
            <a:pPr marL="342900" indent="-342900">
              <a:lnSpc>
                <a:spcPct val="105000"/>
              </a:lnSpc>
              <a:spcAft>
                <a:spcPts val="400"/>
              </a:spcAft>
              <a:buSzPct val="100000"/>
              <a:buChar char="•"/>
            </a:pPr>
            <a:r>
              <a:rPr lang="en-US" sz="1250" dirty="0">
                <a:solidFill>
                  <a:srgbClr val="2B3648"/>
                </a:solidFill>
                <a:latin typeface="Calibri" pitchFamily="34" charset="0"/>
                <a:ea typeface="Calibri" pitchFamily="34" charset="-122"/>
                <a:cs typeface="Calibri" pitchFamily="34" charset="-120"/>
              </a:rPr>
              <a:t>En el final se evalúa el desarrollo de rutinas para calcular objetos algebraicos: son estos ejercicios, sin ayuda.</a:t>
            </a:r>
            <a:endParaRPr lang="en-US" sz="1250" dirty="0"/>
          </a:p>
          <a:p>
            <a:pPr marL="342900" indent="-342900">
              <a:lnSpc>
                <a:spcPct val="105000"/>
              </a:lnSpc>
              <a:spcAft>
                <a:spcPts val="400"/>
              </a:spcAft>
              <a:buSzPct val="100000"/>
              <a:buChar char="•"/>
            </a:pPr>
            <a:r>
              <a:rPr lang="en-US" sz="1250" dirty="0">
                <a:solidFill>
                  <a:srgbClr val="2B3648"/>
                </a:solidFill>
                <a:latin typeface="Calibri" pitchFamily="34" charset="0"/>
                <a:ea typeface="Calibri" pitchFamily="34" charset="-122"/>
                <a:cs typeface="Calibri" pitchFamily="34" charset="-120"/>
              </a:rPr>
              <a:t>Casi todas estas funciones se van a reusar en los labos siguientes. Un bug acá te persigue todo el cuatrimestre.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523"/>
        </a:solidFill>
      </p:bgPr>
    </p:bg>
    <p:spTree>
      <p:nvGrpSpPr>
        <p:cNvPr id="1" name=""/>
        <p:cNvGrpSpPr/>
        <p:nvPr/>
      </p:nvGrpSpPr>
      <p:grpSpPr>
        <a:xfrm>
          <a:off x="0" y="0"/>
          <a:ext cx="0" cy="0"/>
          <a:chOff x="0" y="0"/>
          <a:chExt cx="0" cy="0"/>
        </a:xfrm>
      </p:grpSpPr>
      <p:sp>
        <p:nvSpPr>
          <p:cNvPr id="2" name="Text 0"/>
          <p:cNvSpPr/>
          <p:nvPr/>
        </p:nvSpPr>
        <p:spPr>
          <a:xfrm>
            <a:off x="594360" y="1783080"/>
            <a:ext cx="1371600" cy="1371600"/>
          </a:xfrm>
          <a:prstGeom prst="rect">
            <a:avLst/>
          </a:prstGeom>
          <a:noFill/>
          <a:ln/>
        </p:spPr>
        <p:txBody>
          <a:bodyPr wrap="square" lIns="0" tIns="0" rIns="0" bIns="0" rtlCol="0" anchor="ctr"/>
          <a:lstStyle/>
          <a:p>
            <a:pPr indent="0" marL="0">
              <a:buNone/>
            </a:pPr>
            <a:r>
              <a:rPr lang="en-US" sz="8600" b="1" dirty="0">
                <a:solidFill>
                  <a:srgbClr val="E39A2B"/>
                </a:solidFill>
                <a:latin typeface="Cambria" pitchFamily="34" charset="0"/>
                <a:ea typeface="Cambria" pitchFamily="34" charset="-122"/>
                <a:cs typeface="Cambria" pitchFamily="34" charset="-120"/>
              </a:rPr>
              <a:t>1</a:t>
            </a:r>
            <a:endParaRPr lang="en-US" sz="8600" dirty="0"/>
          </a:p>
        </p:txBody>
      </p:sp>
      <p:sp>
        <p:nvSpPr>
          <p:cNvPr id="3" name="Text 1"/>
          <p:cNvSpPr/>
          <p:nvPr/>
        </p:nvSpPr>
        <p:spPr>
          <a:xfrm>
            <a:off x="1920240" y="1874520"/>
            <a:ext cx="749808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La regla que</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cambia todo</a:t>
            </a:r>
            <a:endParaRPr lang="en-US" sz="3600" dirty="0"/>
          </a:p>
        </p:txBody>
      </p:sp>
      <p:sp>
        <p:nvSpPr>
          <p:cNvPr id="4" name="Text 2"/>
          <p:cNvSpPr/>
          <p:nvPr/>
        </p:nvSpPr>
        <p:spPr>
          <a:xfrm>
            <a:off x="1947672" y="3108960"/>
            <a:ext cx="7863840" cy="731520"/>
          </a:xfrm>
          <a:prstGeom prst="rect">
            <a:avLst/>
          </a:prstGeom>
          <a:noFill/>
          <a:ln/>
        </p:spPr>
        <p:txBody>
          <a:bodyPr wrap="square" lIns="0" tIns="0" rIns="0" bIns="0" rtlCol="0" anchor="t"/>
          <a:lstStyle/>
          <a:p>
            <a:pPr indent="0" marL="0">
              <a:buNone/>
            </a:pPr>
            <a:r>
              <a:rPr lang="en-US" sz="1500" dirty="0">
                <a:solidFill>
                  <a:srgbClr val="C8D3E4"/>
                </a:solidFill>
                <a:latin typeface="Calibri" pitchFamily="34" charset="0"/>
                <a:ea typeface="Calibri" pitchFamily="34" charset="-122"/>
                <a:cs typeface="Calibri" pitchFamily="34" charset="-120"/>
              </a:rPr>
              <a:t>Qué funciones de numpy tenés permitidas — y qué hacer con todas las que no.</a:t>
            </a:r>
            <a:endParaRPr lang="en-US" sz="1500" dirty="0"/>
          </a:p>
        </p:txBody>
      </p:sp>
      <p:sp>
        <p:nvSpPr>
          <p:cNvPr id="5" name="Shape 3"/>
          <p:cNvSpPr/>
          <p:nvPr/>
        </p:nvSpPr>
        <p:spPr>
          <a:xfrm>
            <a:off x="9646920" y="2103120"/>
            <a:ext cx="384048" cy="384048"/>
          </a:xfrm>
          <a:prstGeom prst="rect">
            <a:avLst/>
          </a:prstGeom>
          <a:solidFill>
            <a:srgbClr val="E39A2B"/>
          </a:solidFill>
          <a:ln w="12700">
            <a:solidFill>
              <a:srgbClr val="E39A2B"/>
            </a:solidFill>
            <a:prstDash val="solid"/>
          </a:ln>
        </p:spPr>
      </p:sp>
      <p:sp>
        <p:nvSpPr>
          <p:cNvPr id="6" name="Shape 4"/>
          <p:cNvSpPr/>
          <p:nvPr/>
        </p:nvSpPr>
        <p:spPr>
          <a:xfrm>
            <a:off x="10122408" y="2103120"/>
            <a:ext cx="384048" cy="384048"/>
          </a:xfrm>
          <a:prstGeom prst="rect">
            <a:avLst/>
          </a:prstGeom>
          <a:solidFill>
            <a:srgbClr val="1E2C46"/>
          </a:solidFill>
          <a:ln w="12700">
            <a:solidFill>
              <a:srgbClr val="1E2C46"/>
            </a:solidFill>
            <a:prstDash val="solid"/>
          </a:ln>
        </p:spPr>
      </p:sp>
      <p:sp>
        <p:nvSpPr>
          <p:cNvPr id="7" name="Shape 5"/>
          <p:cNvSpPr/>
          <p:nvPr/>
        </p:nvSpPr>
        <p:spPr>
          <a:xfrm>
            <a:off x="10597896" y="2103120"/>
            <a:ext cx="384048" cy="384048"/>
          </a:xfrm>
          <a:prstGeom prst="rect">
            <a:avLst/>
          </a:prstGeom>
          <a:solidFill>
            <a:srgbClr val="1E2C46"/>
          </a:solidFill>
          <a:ln w="12700">
            <a:solidFill>
              <a:srgbClr val="1E2C46"/>
            </a:solidFill>
            <a:prstDash val="solid"/>
          </a:ln>
        </p:spPr>
      </p:sp>
      <p:sp>
        <p:nvSpPr>
          <p:cNvPr id="8" name="Shape 6"/>
          <p:cNvSpPr/>
          <p:nvPr/>
        </p:nvSpPr>
        <p:spPr>
          <a:xfrm>
            <a:off x="11073384" y="2103120"/>
            <a:ext cx="384048" cy="384048"/>
          </a:xfrm>
          <a:prstGeom prst="rect">
            <a:avLst/>
          </a:prstGeom>
          <a:solidFill>
            <a:srgbClr val="1E2C46"/>
          </a:solidFill>
          <a:ln w="12700">
            <a:solidFill>
              <a:srgbClr val="1E2C46"/>
            </a:solidFill>
            <a:prstDash val="solid"/>
          </a:ln>
        </p:spPr>
      </p:sp>
      <p:sp>
        <p:nvSpPr>
          <p:cNvPr id="9" name="Shape 7"/>
          <p:cNvSpPr/>
          <p:nvPr/>
        </p:nvSpPr>
        <p:spPr>
          <a:xfrm>
            <a:off x="9646920" y="2578608"/>
            <a:ext cx="384048" cy="384048"/>
          </a:xfrm>
          <a:prstGeom prst="rect">
            <a:avLst/>
          </a:prstGeom>
          <a:solidFill>
            <a:srgbClr val="1E2C46"/>
          </a:solidFill>
          <a:ln w="12700">
            <a:solidFill>
              <a:srgbClr val="1E2C46"/>
            </a:solidFill>
            <a:prstDash val="solid"/>
          </a:ln>
        </p:spPr>
      </p:sp>
      <p:sp>
        <p:nvSpPr>
          <p:cNvPr id="10" name="Shape 8"/>
          <p:cNvSpPr/>
          <p:nvPr/>
        </p:nvSpPr>
        <p:spPr>
          <a:xfrm>
            <a:off x="10122408" y="2578608"/>
            <a:ext cx="384048" cy="384048"/>
          </a:xfrm>
          <a:prstGeom prst="rect">
            <a:avLst/>
          </a:prstGeom>
          <a:solidFill>
            <a:srgbClr val="E39A2B"/>
          </a:solidFill>
          <a:ln w="12700">
            <a:solidFill>
              <a:srgbClr val="E39A2B"/>
            </a:solidFill>
            <a:prstDash val="solid"/>
          </a:ln>
        </p:spPr>
      </p:sp>
      <p:sp>
        <p:nvSpPr>
          <p:cNvPr id="11" name="Shape 9"/>
          <p:cNvSpPr/>
          <p:nvPr/>
        </p:nvSpPr>
        <p:spPr>
          <a:xfrm>
            <a:off x="10597896" y="2578608"/>
            <a:ext cx="384048" cy="384048"/>
          </a:xfrm>
          <a:prstGeom prst="rect">
            <a:avLst/>
          </a:prstGeom>
          <a:solidFill>
            <a:srgbClr val="1E2C46"/>
          </a:solidFill>
          <a:ln w="12700">
            <a:solidFill>
              <a:srgbClr val="1E2C46"/>
            </a:solidFill>
            <a:prstDash val="solid"/>
          </a:ln>
        </p:spPr>
      </p:sp>
      <p:sp>
        <p:nvSpPr>
          <p:cNvPr id="12" name="Shape 10"/>
          <p:cNvSpPr/>
          <p:nvPr/>
        </p:nvSpPr>
        <p:spPr>
          <a:xfrm>
            <a:off x="11073384" y="2578608"/>
            <a:ext cx="384048" cy="384048"/>
          </a:xfrm>
          <a:prstGeom prst="rect">
            <a:avLst/>
          </a:prstGeom>
          <a:solidFill>
            <a:srgbClr val="1E2C46"/>
          </a:solidFill>
          <a:ln w="12700">
            <a:solidFill>
              <a:srgbClr val="1E2C46"/>
            </a:solidFill>
            <a:prstDash val="solid"/>
          </a:ln>
        </p:spPr>
      </p:sp>
      <p:sp>
        <p:nvSpPr>
          <p:cNvPr id="13" name="Shape 11"/>
          <p:cNvSpPr/>
          <p:nvPr/>
        </p:nvSpPr>
        <p:spPr>
          <a:xfrm>
            <a:off x="9646920" y="3054096"/>
            <a:ext cx="384048" cy="384048"/>
          </a:xfrm>
          <a:prstGeom prst="rect">
            <a:avLst/>
          </a:prstGeom>
          <a:solidFill>
            <a:srgbClr val="1E2C46"/>
          </a:solidFill>
          <a:ln w="12700">
            <a:solidFill>
              <a:srgbClr val="1E2C46"/>
            </a:solidFill>
            <a:prstDash val="solid"/>
          </a:ln>
        </p:spPr>
      </p:sp>
      <p:sp>
        <p:nvSpPr>
          <p:cNvPr id="14" name="Shape 12"/>
          <p:cNvSpPr/>
          <p:nvPr/>
        </p:nvSpPr>
        <p:spPr>
          <a:xfrm>
            <a:off x="10122408" y="3054096"/>
            <a:ext cx="384048" cy="384048"/>
          </a:xfrm>
          <a:prstGeom prst="rect">
            <a:avLst/>
          </a:prstGeom>
          <a:solidFill>
            <a:srgbClr val="1E2C46"/>
          </a:solidFill>
          <a:ln w="12700">
            <a:solidFill>
              <a:srgbClr val="1E2C46"/>
            </a:solidFill>
            <a:prstDash val="solid"/>
          </a:ln>
        </p:spPr>
      </p:sp>
      <p:sp>
        <p:nvSpPr>
          <p:cNvPr id="15" name="Shape 13"/>
          <p:cNvSpPr/>
          <p:nvPr/>
        </p:nvSpPr>
        <p:spPr>
          <a:xfrm>
            <a:off x="10597896" y="3054096"/>
            <a:ext cx="384048" cy="384048"/>
          </a:xfrm>
          <a:prstGeom prst="rect">
            <a:avLst/>
          </a:prstGeom>
          <a:solidFill>
            <a:srgbClr val="E39A2B"/>
          </a:solidFill>
          <a:ln w="12700">
            <a:solidFill>
              <a:srgbClr val="E39A2B"/>
            </a:solidFill>
            <a:prstDash val="solid"/>
          </a:ln>
        </p:spPr>
      </p:sp>
      <p:sp>
        <p:nvSpPr>
          <p:cNvPr id="16" name="Shape 14"/>
          <p:cNvSpPr/>
          <p:nvPr/>
        </p:nvSpPr>
        <p:spPr>
          <a:xfrm>
            <a:off x="11073384" y="3054096"/>
            <a:ext cx="384048" cy="384048"/>
          </a:xfrm>
          <a:prstGeom prst="rect">
            <a:avLst/>
          </a:prstGeom>
          <a:solidFill>
            <a:srgbClr val="1E2C46"/>
          </a:solidFill>
          <a:ln w="12700">
            <a:solidFill>
              <a:srgbClr val="1E2C46"/>
            </a:solidFill>
            <a:prstDash val="solid"/>
          </a:ln>
        </p:spPr>
      </p:sp>
      <p:sp>
        <p:nvSpPr>
          <p:cNvPr id="17" name="Shape 15"/>
          <p:cNvSpPr/>
          <p:nvPr/>
        </p:nvSpPr>
        <p:spPr>
          <a:xfrm>
            <a:off x="9646920" y="3529584"/>
            <a:ext cx="384048" cy="384048"/>
          </a:xfrm>
          <a:prstGeom prst="rect">
            <a:avLst/>
          </a:prstGeom>
          <a:solidFill>
            <a:srgbClr val="1E2C46"/>
          </a:solidFill>
          <a:ln w="12700">
            <a:solidFill>
              <a:srgbClr val="1E2C46"/>
            </a:solidFill>
            <a:prstDash val="solid"/>
          </a:ln>
        </p:spPr>
      </p:sp>
      <p:sp>
        <p:nvSpPr>
          <p:cNvPr id="18" name="Shape 16"/>
          <p:cNvSpPr/>
          <p:nvPr/>
        </p:nvSpPr>
        <p:spPr>
          <a:xfrm>
            <a:off x="10122408" y="3529584"/>
            <a:ext cx="384048" cy="384048"/>
          </a:xfrm>
          <a:prstGeom prst="rect">
            <a:avLst/>
          </a:prstGeom>
          <a:solidFill>
            <a:srgbClr val="1E2C46"/>
          </a:solidFill>
          <a:ln w="12700">
            <a:solidFill>
              <a:srgbClr val="1E2C46"/>
            </a:solidFill>
            <a:prstDash val="solid"/>
          </a:ln>
        </p:spPr>
      </p:sp>
      <p:sp>
        <p:nvSpPr>
          <p:cNvPr id="19" name="Shape 17"/>
          <p:cNvSpPr/>
          <p:nvPr/>
        </p:nvSpPr>
        <p:spPr>
          <a:xfrm>
            <a:off x="10597896" y="3529584"/>
            <a:ext cx="384048" cy="384048"/>
          </a:xfrm>
          <a:prstGeom prst="rect">
            <a:avLst/>
          </a:prstGeom>
          <a:solidFill>
            <a:srgbClr val="1E2C46"/>
          </a:solidFill>
          <a:ln w="12700">
            <a:solidFill>
              <a:srgbClr val="1E2C46"/>
            </a:solidFill>
            <a:prstDash val="solid"/>
          </a:ln>
        </p:spPr>
      </p:sp>
      <p:sp>
        <p:nvSpPr>
          <p:cNvPr id="20" name="Shape 18"/>
          <p:cNvSpPr/>
          <p:nvPr/>
        </p:nvSpPr>
        <p:spPr>
          <a:xfrm>
            <a:off x="11073384" y="3529584"/>
            <a:ext cx="384048" cy="384048"/>
          </a:xfrm>
          <a:prstGeom prst="rect">
            <a:avLst/>
          </a:prstGeom>
          <a:solidFill>
            <a:srgbClr val="E39A2B"/>
          </a:solidFill>
          <a:ln w="12700">
            <a:solidFill>
              <a:srgbClr val="E39A2B"/>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La restricción, textual</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Está en el primer párrafo del enunciado y es fácil pasarla por alto.</a:t>
            </a:r>
            <a:endParaRPr lang="en-US" sz="1300" dirty="0"/>
          </a:p>
        </p:txBody>
      </p:sp>
      <p:sp>
        <p:nvSpPr>
          <p:cNvPr id="4" name="Shape 2"/>
          <p:cNvSpPr/>
          <p:nvPr/>
        </p:nvSpPr>
        <p:spPr>
          <a:xfrm>
            <a:off x="594360" y="1444752"/>
            <a:ext cx="11002975" cy="841248"/>
          </a:xfrm>
          <a:prstGeom prst="roundRect">
            <a:avLst>
              <a:gd name="adj" fmla="val 8696"/>
            </a:avLst>
          </a:prstGeom>
          <a:solidFill>
            <a:srgbClr val="16233A"/>
          </a:solidFill>
          <a:ln w="12700">
            <a:solidFill>
              <a:srgbClr val="16233A"/>
            </a:solidFill>
            <a:prstDash val="solid"/>
          </a:ln>
        </p:spPr>
      </p:sp>
      <p:sp>
        <p:nvSpPr>
          <p:cNvPr id="5" name="Text 3"/>
          <p:cNvSpPr/>
          <p:nvPr/>
        </p:nvSpPr>
        <p:spPr>
          <a:xfrm>
            <a:off x="905256" y="1609344"/>
            <a:ext cx="10381183" cy="548640"/>
          </a:xfrm>
          <a:prstGeom prst="rect">
            <a:avLst/>
          </a:prstGeom>
          <a:noFill/>
          <a:ln/>
        </p:spPr>
        <p:txBody>
          <a:bodyPr wrap="square" lIns="0" tIns="0" rIns="0" bIns="0" rtlCol="0" anchor="t"/>
          <a:lstStyle/>
          <a:p>
            <a:pPr indent="0" marL="0">
              <a:lnSpc>
                <a:spcPct val="110000"/>
              </a:lnSpc>
              <a:buNone/>
            </a:pPr>
            <a:r>
              <a:rPr lang="en-US" sz="1350" i="1" dirty="0">
                <a:solidFill>
                  <a:srgbClr val="FFFFFF"/>
                </a:solidFill>
                <a:latin typeface="Calibri" pitchFamily="34" charset="0"/>
                <a:ea typeface="Calibri" pitchFamily="34" charset="-122"/>
                <a:cs typeface="Calibri" pitchFamily="34" charset="-120"/>
              </a:rPr>
              <a:t>«De la librería numpy de Python, solo están permitidos utilizar las funciones que convierten listas a arrays, las que devuelven el tamaño de un array y las funciones que encuentran máximos o mínimos.»</a:t>
            </a:r>
            <a:endParaRPr lang="en-US" sz="1350" dirty="0"/>
          </a:p>
        </p:txBody>
      </p:sp>
      <p:sp>
        <p:nvSpPr>
          <p:cNvPr id="6" name="Shape 4"/>
          <p:cNvSpPr/>
          <p:nvPr/>
        </p:nvSpPr>
        <p:spPr>
          <a:xfrm>
            <a:off x="594360" y="2560320"/>
            <a:ext cx="5336896" cy="3218688"/>
          </a:xfrm>
          <a:prstGeom prst="roundRect">
            <a:avLst>
              <a:gd name="adj" fmla="val 2273"/>
            </a:avLst>
          </a:prstGeom>
          <a:solidFill>
            <a:srgbClr val="EAF4EE"/>
          </a:solidFill>
          <a:ln w="12700">
            <a:solidFill>
              <a:srgbClr val="CFE4D8"/>
            </a:solidFill>
            <a:prstDash val="solid"/>
          </a:ln>
        </p:spPr>
      </p:sp>
      <p:sp>
        <p:nvSpPr>
          <p:cNvPr id="7" name="Shape 5"/>
          <p:cNvSpPr/>
          <p:nvPr/>
        </p:nvSpPr>
        <p:spPr>
          <a:xfrm>
            <a:off x="868680" y="2798064"/>
            <a:ext cx="329184" cy="329184"/>
          </a:xfrm>
          <a:prstGeom prst="ellipse">
            <a:avLst/>
          </a:prstGeom>
          <a:solidFill>
            <a:srgbClr val="2F7D4F"/>
          </a:solidFill>
          <a:ln w="12700">
            <a:solidFill>
              <a:srgbClr val="2F7D4F"/>
            </a:solidFill>
            <a:prstDash val="solid"/>
          </a:ln>
        </p:spPr>
      </p:sp>
      <p:sp>
        <p:nvSpPr>
          <p:cNvPr id="8" name="Text 6"/>
          <p:cNvSpPr/>
          <p:nvPr/>
        </p:nvSpPr>
        <p:spPr>
          <a:xfrm>
            <a:off x="868680" y="2798064"/>
            <a:ext cx="329184" cy="329184"/>
          </a:xfrm>
          <a:prstGeom prst="rect">
            <a:avLst/>
          </a:prstGeom>
          <a:noFill/>
          <a:ln/>
        </p:spPr>
        <p:txBody>
          <a:bodyPr wrap="square" lIns="0" tIns="0" rIns="0" bIns="0" rtlCol="0" anchor="ctr"/>
          <a:lstStyle/>
          <a:p>
            <a:pPr algn="ctr" indent="0" marL="0">
              <a:buNone/>
            </a:pPr>
            <a:r>
              <a:rPr lang="en-US" sz="936" b="1" dirty="0">
                <a:solidFill>
                  <a:srgbClr val="FFFFFF"/>
                </a:solidFill>
                <a:latin typeface="Cambria" pitchFamily="34" charset="0"/>
                <a:ea typeface="Cambria" pitchFamily="34" charset="-122"/>
                <a:cs typeface="Cambria" pitchFamily="34" charset="-120"/>
              </a:rPr>
              <a:t>✓</a:t>
            </a:r>
            <a:endParaRPr lang="en-US" sz="936" dirty="0"/>
          </a:p>
        </p:txBody>
      </p:sp>
      <p:sp>
        <p:nvSpPr>
          <p:cNvPr id="9" name="Text 7"/>
          <p:cNvSpPr/>
          <p:nvPr/>
        </p:nvSpPr>
        <p:spPr>
          <a:xfrm>
            <a:off x="1307592" y="2834640"/>
            <a:ext cx="4331056" cy="274320"/>
          </a:xfrm>
          <a:prstGeom prst="rect">
            <a:avLst/>
          </a:prstGeom>
          <a:noFill/>
          <a:ln/>
        </p:spPr>
        <p:txBody>
          <a:bodyPr wrap="square" lIns="0" tIns="0" rIns="0" bIns="0" rtlCol="0" anchor="t"/>
          <a:lstStyle/>
          <a:p>
            <a:pPr indent="0" marL="0">
              <a:buNone/>
            </a:pPr>
            <a:r>
              <a:rPr lang="en-US" sz="1500" b="1" dirty="0">
                <a:solidFill>
                  <a:srgbClr val="2F7D4F"/>
                </a:solidFill>
                <a:latin typeface="Cambria" pitchFamily="34" charset="0"/>
                <a:ea typeface="Cambria" pitchFamily="34" charset="-122"/>
                <a:cs typeface="Cambria" pitchFamily="34" charset="-120"/>
              </a:rPr>
              <a:t>Tres familias, y nada más</a:t>
            </a:r>
            <a:endParaRPr lang="en-US" sz="1500" dirty="0"/>
          </a:p>
        </p:txBody>
      </p:sp>
      <p:sp>
        <p:nvSpPr>
          <p:cNvPr id="10" name="Text 8"/>
          <p:cNvSpPr/>
          <p:nvPr/>
        </p:nvSpPr>
        <p:spPr>
          <a:xfrm>
            <a:off x="905256" y="3310128"/>
            <a:ext cx="4715104" cy="118872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300" dirty="0">
                <a:solidFill>
                  <a:srgbClr val="2B3648"/>
                </a:solidFill>
                <a:latin typeface="Calibri" pitchFamily="34" charset="0"/>
                <a:ea typeface="Calibri" pitchFamily="34" charset="-122"/>
                <a:cs typeface="Calibri" pitchFamily="34" charset="-120"/>
              </a:rPr>
              <a:t>np.array(lista)  —  convertir listas a arrays</a:t>
            </a:r>
            <a:endParaRPr lang="en-US" sz="1300" dirty="0"/>
          </a:p>
          <a:p>
            <a:pPr marL="342900" indent="-342900">
              <a:lnSpc>
                <a:spcPct val="105000"/>
              </a:lnSpc>
              <a:spcAft>
                <a:spcPts val="700"/>
              </a:spcAft>
              <a:buSzPct val="100000"/>
              <a:buChar char="•"/>
            </a:pPr>
            <a:r>
              <a:rPr lang="en-US" sz="1300" dirty="0">
                <a:solidFill>
                  <a:srgbClr val="2B3648"/>
                </a:solidFill>
                <a:latin typeface="Calibri" pitchFamily="34" charset="0"/>
                <a:ea typeface="Calibri" pitchFamily="34" charset="-122"/>
                <a:cs typeface="Calibri" pitchFamily="34" charset="-120"/>
              </a:rPr>
              <a:t>A.shape  —  tamaño y dimensiones del array</a:t>
            </a:r>
            <a:endParaRPr lang="en-US" sz="1300" dirty="0"/>
          </a:p>
          <a:p>
            <a:pPr marL="342900" indent="-342900">
              <a:lnSpc>
                <a:spcPct val="105000"/>
              </a:lnSpc>
              <a:spcAft>
                <a:spcPts val="700"/>
              </a:spcAft>
              <a:buSzPct val="100000"/>
              <a:buChar char="•"/>
            </a:pPr>
            <a:r>
              <a:rPr lang="en-US" sz="1300" dirty="0">
                <a:solidFill>
                  <a:srgbClr val="2B3648"/>
                </a:solidFill>
                <a:latin typeface="Calibri" pitchFamily="34" charset="0"/>
                <a:ea typeface="Calibri" pitchFamily="34" charset="-122"/>
                <a:cs typeface="Calibri" pitchFamily="34" charset="-120"/>
              </a:rPr>
              <a:t>np.max, np.min  —  máximos y mínimos</a:t>
            </a:r>
            <a:endParaRPr lang="en-US" sz="1300" dirty="0"/>
          </a:p>
          <a:p>
            <a:pPr marL="342900" indent="-342900">
              <a:lnSpc>
                <a:spcPct val="105000"/>
              </a:lnSpc>
              <a:spcAft>
                <a:spcPts val="700"/>
              </a:spcAft>
              <a:buSzPct val="100000"/>
              <a:buChar char="•"/>
            </a:pPr>
            <a:r>
              <a:rPr lang="en-US" sz="1300" dirty="0">
                <a:solidFill>
                  <a:srgbClr val="2B3648"/>
                </a:solidFill>
                <a:latin typeface="Calibri" pitchFamily="34" charset="0"/>
                <a:ea typeface="Calibri" pitchFamily="34" charset="-122"/>
                <a:cs typeface="Calibri" pitchFamily="34" charset="-120"/>
              </a:rPr>
              <a:t>np.argmax, np.argmin  —  y sus posiciones</a:t>
            </a:r>
            <a:endParaRPr lang="en-US" sz="1300" dirty="0"/>
          </a:p>
        </p:txBody>
      </p:sp>
      <p:sp>
        <p:nvSpPr>
          <p:cNvPr id="11" name="Text 9"/>
          <p:cNvSpPr/>
          <p:nvPr/>
        </p:nvSpPr>
        <p:spPr>
          <a:xfrm>
            <a:off x="905256" y="4626864"/>
            <a:ext cx="4715104" cy="914400"/>
          </a:xfrm>
          <a:prstGeom prst="rect">
            <a:avLst/>
          </a:prstGeom>
          <a:noFill/>
          <a:ln/>
        </p:spPr>
        <p:txBody>
          <a:bodyPr wrap="square" lIns="0" tIns="0" rIns="0" bIns="0" rtlCol="0" anchor="t"/>
          <a:lstStyle/>
          <a:p>
            <a:pPr indent="0" marL="0">
              <a:lnSpc>
                <a:spcPct val="114000"/>
              </a:lnSpc>
              <a:buNone/>
            </a:pPr>
            <a:r>
              <a:rPr lang="en-US" sz="1200" i="1" dirty="0">
                <a:solidFill>
                  <a:srgbClr val="4A6B58"/>
                </a:solidFill>
                <a:latin typeface="Calibri" pitchFamily="34" charset="0"/>
                <a:ea typeface="Calibri" pitchFamily="34" charset="-122"/>
                <a:cs typeface="Calibri" pitchFamily="34" charset="-120"/>
              </a:rPr>
              <a:t>Que max y min estén permitidos no es casual: el Ejercicio 18 (pivoteo parcial) los necesita. El enunciado te está dando una pista.</a:t>
            </a:r>
            <a:endParaRPr lang="en-US" sz="1200" dirty="0"/>
          </a:p>
        </p:txBody>
      </p:sp>
      <p:sp>
        <p:nvSpPr>
          <p:cNvPr id="12" name="Shape 10"/>
          <p:cNvSpPr/>
          <p:nvPr/>
        </p:nvSpPr>
        <p:spPr>
          <a:xfrm>
            <a:off x="6260440" y="2560320"/>
            <a:ext cx="5336896" cy="3218688"/>
          </a:xfrm>
          <a:prstGeom prst="roundRect">
            <a:avLst>
              <a:gd name="adj" fmla="val 2273"/>
            </a:avLst>
          </a:prstGeom>
          <a:solidFill>
            <a:srgbClr val="FAEDEB"/>
          </a:solidFill>
          <a:ln w="12700">
            <a:solidFill>
              <a:srgbClr val="EDCFCA"/>
            </a:solidFill>
            <a:prstDash val="solid"/>
          </a:ln>
        </p:spPr>
      </p:sp>
      <p:sp>
        <p:nvSpPr>
          <p:cNvPr id="13" name="Shape 11"/>
          <p:cNvSpPr/>
          <p:nvPr/>
        </p:nvSpPr>
        <p:spPr>
          <a:xfrm>
            <a:off x="6534760" y="2798064"/>
            <a:ext cx="329184" cy="329184"/>
          </a:xfrm>
          <a:prstGeom prst="ellipse">
            <a:avLst/>
          </a:prstGeom>
          <a:solidFill>
            <a:srgbClr val="A8453A"/>
          </a:solidFill>
          <a:ln w="12700">
            <a:solidFill>
              <a:srgbClr val="A8453A"/>
            </a:solidFill>
            <a:prstDash val="solid"/>
          </a:ln>
        </p:spPr>
      </p:sp>
      <p:sp>
        <p:nvSpPr>
          <p:cNvPr id="14" name="Text 12"/>
          <p:cNvSpPr/>
          <p:nvPr/>
        </p:nvSpPr>
        <p:spPr>
          <a:xfrm>
            <a:off x="6534760" y="2798064"/>
            <a:ext cx="329184" cy="329184"/>
          </a:xfrm>
          <a:prstGeom prst="rect">
            <a:avLst/>
          </a:prstGeom>
          <a:noFill/>
          <a:ln/>
        </p:spPr>
        <p:txBody>
          <a:bodyPr wrap="square" lIns="0" tIns="0" rIns="0" bIns="0" rtlCol="0" anchor="ctr"/>
          <a:lstStyle/>
          <a:p>
            <a:pPr algn="ctr" indent="0" marL="0">
              <a:buNone/>
            </a:pPr>
            <a:r>
              <a:rPr lang="en-US" sz="936" b="1" dirty="0">
                <a:solidFill>
                  <a:srgbClr val="FFFFFF"/>
                </a:solidFill>
                <a:latin typeface="Cambria" pitchFamily="34" charset="0"/>
                <a:ea typeface="Cambria" pitchFamily="34" charset="-122"/>
                <a:cs typeface="Cambria" pitchFamily="34" charset="-120"/>
              </a:rPr>
              <a:t>✕</a:t>
            </a:r>
            <a:endParaRPr lang="en-US" sz="936" dirty="0"/>
          </a:p>
        </p:txBody>
      </p:sp>
      <p:sp>
        <p:nvSpPr>
          <p:cNvPr id="15" name="Text 13"/>
          <p:cNvSpPr/>
          <p:nvPr/>
        </p:nvSpPr>
        <p:spPr>
          <a:xfrm>
            <a:off x="6973672" y="2834640"/>
            <a:ext cx="4331056" cy="274320"/>
          </a:xfrm>
          <a:prstGeom prst="rect">
            <a:avLst/>
          </a:prstGeom>
          <a:noFill/>
          <a:ln/>
        </p:spPr>
        <p:txBody>
          <a:bodyPr wrap="square" lIns="0" tIns="0" rIns="0" bIns="0" rtlCol="0" anchor="t"/>
          <a:lstStyle/>
          <a:p>
            <a:pPr indent="0" marL="0">
              <a:buNone/>
            </a:pPr>
            <a:r>
              <a:rPr lang="en-US" sz="1500" b="1" dirty="0">
                <a:solidFill>
                  <a:srgbClr val="A8453A"/>
                </a:solidFill>
                <a:latin typeface="Cambria" pitchFamily="34" charset="0"/>
                <a:ea typeface="Cambria" pitchFamily="34" charset="-122"/>
                <a:cs typeface="Cambria" pitchFamily="34" charset="-120"/>
              </a:rPr>
              <a:t>Todo lo demás — y con motivo</a:t>
            </a:r>
            <a:endParaRPr lang="en-US" sz="1500" dirty="0"/>
          </a:p>
        </p:txBody>
      </p:sp>
      <p:sp>
        <p:nvSpPr>
          <p:cNvPr id="16" name="Text 14"/>
          <p:cNvSpPr/>
          <p:nvPr/>
        </p:nvSpPr>
        <p:spPr>
          <a:xfrm>
            <a:off x="6571336" y="3255264"/>
            <a:ext cx="4715104" cy="310896"/>
          </a:xfrm>
          <a:prstGeom prst="rect">
            <a:avLst/>
          </a:prstGeom>
          <a:noFill/>
          <a:ln/>
        </p:spPr>
        <p:txBody>
          <a:bodyPr wrap="square" lIns="0" tIns="0" rIns="0" bIns="0" rtlCol="0" anchor="t"/>
          <a:lstStyle/>
          <a:p>
            <a:pPr indent="0" marL="0">
              <a:buNone/>
            </a:pPr>
            <a:r>
              <a:rPr lang="en-US" sz="1200" dirty="0">
                <a:solidFill>
                  <a:srgbClr val="7A4A42"/>
                </a:solidFill>
                <a:latin typeface="Calibri" pitchFamily="34" charset="0"/>
                <a:ea typeface="Calibri" pitchFamily="34" charset="-122"/>
                <a:cs typeface="Calibri" pitchFamily="34" charset="-120"/>
              </a:rPr>
              <a:t>Cada una de estas resuelve un ejercicio entero en una línea. Por eso están afuera:</a:t>
            </a:r>
            <a:endParaRPr lang="en-US" sz="1200" dirty="0"/>
          </a:p>
        </p:txBody>
      </p:sp>
      <p:sp>
        <p:nvSpPr>
          <p:cNvPr id="17" name="Text 15"/>
          <p:cNvSpPr/>
          <p:nvPr/>
        </p:nvSpPr>
        <p:spPr>
          <a:xfrm>
            <a:off x="6571336" y="3639312"/>
            <a:ext cx="4715104" cy="19202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np.triu / np.tril  →  Ej 2 y 3</a:t>
            </a:r>
            <a:endParaRPr lang="en-US" sz="1250" dirty="0"/>
          </a:p>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np.diag / np.eye  →  Ej 4</a:t>
            </a:r>
            <a:endParaRPr lang="en-US" sz="1250" dirty="0"/>
          </a:p>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np.trace  →  Ej 5      ·      np.transpose, A.T  →  Ej 6</a:t>
            </a:r>
            <a:endParaRPr lang="en-US" sz="1250" dirty="0"/>
          </a:p>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np.dot / np.matmul / @  →  Ej 8</a:t>
            </a:r>
            <a:endParaRPr lang="en-US" sz="1250" dirty="0"/>
          </a:p>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np.vander  →  Ej 13      ·      np.roll  →  Ej 12</a:t>
            </a:r>
            <a:endParaRPr lang="en-US" sz="1250" dirty="0"/>
          </a:p>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np.sum, np.abs, np.allclose, np.linalg.*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Ojo: np.zeros no está en la lista</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Creías que tenías permitidos zeros y shape. shape sí. zeros, leyendo el enunciado, no.</a:t>
            </a:r>
            <a:endParaRPr lang="en-US" sz="1300" dirty="0"/>
          </a:p>
        </p:txBody>
      </p:sp>
      <p:sp>
        <p:nvSpPr>
          <p:cNvPr id="4" name="Shape 2"/>
          <p:cNvSpPr/>
          <p:nvPr/>
        </p:nvSpPr>
        <p:spPr>
          <a:xfrm>
            <a:off x="594360" y="1444752"/>
            <a:ext cx="11002975" cy="713232"/>
          </a:xfrm>
          <a:prstGeom prst="roundRect">
            <a:avLst>
              <a:gd name="adj" fmla="val 10256"/>
            </a:avLst>
          </a:prstGeom>
          <a:solidFill>
            <a:srgbClr val="FCF2E0"/>
          </a:solidFill>
          <a:ln w="12700">
            <a:solidFill>
              <a:srgbClr val="F0DDB8"/>
            </a:solidFill>
            <a:prstDash val="solid"/>
          </a:ln>
        </p:spPr>
      </p:sp>
      <p:sp>
        <p:nvSpPr>
          <p:cNvPr id="5" name="Text 3"/>
          <p:cNvSpPr/>
          <p:nvPr/>
        </p:nvSpPr>
        <p:spPr>
          <a:xfrm>
            <a:off x="886968" y="1572768"/>
            <a:ext cx="10417759" cy="475488"/>
          </a:xfrm>
          <a:prstGeom prst="rect">
            <a:avLst/>
          </a:prstGeom>
          <a:noFill/>
          <a:ln/>
        </p:spPr>
        <p:txBody>
          <a:bodyPr wrap="square" lIns="0" tIns="0" rIns="0" bIns="0" rtlCol="0" anchor="t"/>
          <a:lstStyle/>
          <a:p>
            <a:pPr indent="0" marL="0">
              <a:lnSpc>
                <a:spcPct val="112000"/>
              </a:lnSpc>
              <a:buNone/>
            </a:pPr>
            <a:r>
              <a:rPr lang="en-US" sz="1250" dirty="0">
                <a:solidFill>
                  <a:srgbClr val="6E5525"/>
                </a:solidFill>
                <a:latin typeface="Calibri" pitchFamily="34" charset="0"/>
                <a:ea typeface="Calibri" pitchFamily="34" charset="-122"/>
                <a:cs typeface="Calibri" pitchFamily="34" charset="-120"/>
              </a:rPr>
              <a:t>np.zeros es una función de creación, no una que convierta listas ni que devuelva un tamaño ni que busque un máximo. Bajo la letra del enunciado, queda afuera. Lo mismo vale para np.ones, np.arange, np.linspace, np.empty y np.random.</a:t>
            </a:r>
            <a:endParaRPr lang="en-US" sz="1250" dirty="0"/>
          </a:p>
        </p:txBody>
      </p:sp>
      <p:sp>
        <p:nvSpPr>
          <p:cNvPr id="6" name="Shape 4"/>
          <p:cNvSpPr/>
          <p:nvPr/>
        </p:nvSpPr>
        <p:spPr>
          <a:xfrm>
            <a:off x="594360" y="2432304"/>
            <a:ext cx="3484778" cy="3456432"/>
          </a:xfrm>
          <a:prstGeom prst="roundRect">
            <a:avLst>
              <a:gd name="adj" fmla="val 2116"/>
            </a:avLst>
          </a:prstGeom>
          <a:solidFill>
            <a:srgbClr val="F1F4F9"/>
          </a:solidFill>
          <a:ln w="12700">
            <a:solidFill>
              <a:srgbClr val="D9E1EB"/>
            </a:solidFill>
            <a:prstDash val="solid"/>
          </a:ln>
        </p:spPr>
      </p:sp>
      <p:sp>
        <p:nvSpPr>
          <p:cNvPr id="7" name="Shape 5"/>
          <p:cNvSpPr/>
          <p:nvPr/>
        </p:nvSpPr>
        <p:spPr>
          <a:xfrm>
            <a:off x="850392" y="2670048"/>
            <a:ext cx="347472" cy="347472"/>
          </a:xfrm>
          <a:prstGeom prst="ellipse">
            <a:avLst/>
          </a:prstGeom>
          <a:solidFill>
            <a:srgbClr val="2E7D8F"/>
          </a:solidFill>
          <a:ln w="12700">
            <a:solidFill>
              <a:srgbClr val="2E7D8F"/>
            </a:solidFill>
            <a:prstDash val="solid"/>
          </a:ln>
        </p:spPr>
      </p:sp>
      <p:sp>
        <p:nvSpPr>
          <p:cNvPr id="8" name="Text 6"/>
          <p:cNvSpPr/>
          <p:nvPr/>
        </p:nvSpPr>
        <p:spPr>
          <a:xfrm>
            <a:off x="850392" y="2670048"/>
            <a:ext cx="347472" cy="347472"/>
          </a:xfrm>
          <a:prstGeom prst="rect">
            <a:avLst/>
          </a:prstGeom>
          <a:noFill/>
          <a:ln/>
        </p:spPr>
        <p:txBody>
          <a:bodyPr wrap="square" lIns="0" tIns="0" rIns="0" bIns="0" rtlCol="0" anchor="ctr"/>
          <a:lstStyle/>
          <a:p>
            <a:pPr algn="ctr" indent="0" marL="0">
              <a:buNone/>
            </a:pPr>
            <a:r>
              <a:rPr lang="en-US" sz="988" b="1" dirty="0">
                <a:solidFill>
                  <a:srgbClr val="FFFFFF"/>
                </a:solidFill>
                <a:latin typeface="Cambria" pitchFamily="34" charset="0"/>
                <a:ea typeface="Cambria" pitchFamily="34" charset="-122"/>
                <a:cs typeface="Cambria" pitchFamily="34" charset="-120"/>
              </a:rPr>
              <a:t>A</a:t>
            </a:r>
            <a:endParaRPr lang="en-US" sz="988" dirty="0"/>
          </a:p>
        </p:txBody>
      </p:sp>
      <p:sp>
        <p:nvSpPr>
          <p:cNvPr id="9" name="Text 7"/>
          <p:cNvSpPr/>
          <p:nvPr/>
        </p:nvSpPr>
        <p:spPr>
          <a:xfrm>
            <a:off x="1289304" y="2688336"/>
            <a:ext cx="2533802" cy="548640"/>
          </a:xfrm>
          <a:prstGeom prst="rect">
            <a:avLst/>
          </a:prstGeom>
          <a:noFill/>
          <a:ln/>
        </p:spPr>
        <p:txBody>
          <a:bodyPr wrap="square" lIns="0" tIns="0" rIns="0" bIns="0" rtlCol="0" anchor="t"/>
          <a:lstStyle/>
          <a:p>
            <a:pPr indent="0" marL="0">
              <a:lnSpc>
                <a:spcPct val="105000"/>
              </a:lnSpc>
              <a:buNone/>
            </a:pPr>
            <a:r>
              <a:rPr lang="en-US" sz="1350" b="1" dirty="0">
                <a:solidFill>
                  <a:srgbClr val="16233A"/>
                </a:solidFill>
                <a:latin typeface="Cambria" pitchFamily="34" charset="0"/>
                <a:ea typeface="Cambria" pitchFamily="34" charset="-122"/>
                <a:cs typeface="Cambria" pitchFamily="34" charset="-120"/>
              </a:rPr>
              <a:t>Construí con listas y convertí una vez</a:t>
            </a:r>
            <a:endParaRPr lang="en-US" sz="1350" dirty="0"/>
          </a:p>
        </p:txBody>
      </p:sp>
      <p:sp>
        <p:nvSpPr>
          <p:cNvPr id="10" name="Shape 8"/>
          <p:cNvSpPr/>
          <p:nvPr/>
        </p:nvSpPr>
        <p:spPr>
          <a:xfrm>
            <a:off x="850392" y="3364992"/>
            <a:ext cx="2972714" cy="1478585"/>
          </a:xfrm>
          <a:prstGeom prst="roundRect">
            <a:avLst>
              <a:gd name="adj" fmla="val 3711"/>
            </a:avLst>
          </a:prstGeom>
          <a:solidFill>
            <a:srgbClr val="1B2436"/>
          </a:solidFill>
          <a:ln w="12700">
            <a:solidFill>
              <a:srgbClr val="1B2436"/>
            </a:solidFill>
            <a:prstDash val="solid"/>
          </a:ln>
        </p:spPr>
      </p:sp>
      <p:sp>
        <p:nvSpPr>
          <p:cNvPr id="11" name="Text 9"/>
          <p:cNvSpPr/>
          <p:nvPr/>
        </p:nvSpPr>
        <p:spPr>
          <a:xfrm>
            <a:off x="996696" y="3502152"/>
            <a:ext cx="2680106" cy="1204265"/>
          </a:xfrm>
          <a:prstGeom prst="rect">
            <a:avLst/>
          </a:prstGeom>
          <a:noFill/>
          <a:ln/>
        </p:spPr>
        <p:txBody>
          <a:bodyPr wrap="square" lIns="0" tIns="0" rIns="0" bIns="0" rtlCol="0" anchor="t"/>
          <a:lstStyle/>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fila = []</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for j in range(m):</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    fila.append(0)</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 ... y al final:</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M = np.array(filas)</a:t>
            </a:r>
            <a:endParaRPr lang="en-US" sz="1050" dirty="0"/>
          </a:p>
        </p:txBody>
      </p:sp>
      <p:sp>
        <p:nvSpPr>
          <p:cNvPr id="12" name="Text 10"/>
          <p:cNvSpPr/>
          <p:nvPr/>
        </p:nvSpPr>
        <p:spPr>
          <a:xfrm>
            <a:off x="850392" y="4974336"/>
            <a:ext cx="2972714" cy="786384"/>
          </a:xfrm>
          <a:prstGeom prst="rect">
            <a:avLst/>
          </a:prstGeom>
          <a:noFill/>
          <a:ln/>
        </p:spPr>
        <p:txBody>
          <a:bodyPr wrap="square" lIns="0" tIns="0" rIns="0" bIns="0" rtlCol="0" anchor="t"/>
          <a:lstStyle/>
          <a:p>
            <a:pPr indent="0" marL="0">
              <a:lnSpc>
                <a:spcPct val="114000"/>
              </a:lnSpc>
              <a:buNone/>
            </a:pPr>
            <a:r>
              <a:rPr lang="en-US" sz="1150" dirty="0">
                <a:solidFill>
                  <a:srgbClr val="6B7A90"/>
                </a:solidFill>
                <a:latin typeface="Calibri" pitchFamily="34" charset="0"/>
                <a:ea typeface="Calibri" pitchFamily="34" charset="-122"/>
                <a:cs typeface="Calibri" pitchFamily="34" charset="-120"/>
              </a:rPr>
              <a:t>La más literal: np.array está explícitamente permitida. Es la que yo usaría.</a:t>
            </a:r>
            <a:endParaRPr lang="en-US" sz="1150" dirty="0"/>
          </a:p>
        </p:txBody>
      </p:sp>
      <p:sp>
        <p:nvSpPr>
          <p:cNvPr id="13" name="Shape 11"/>
          <p:cNvSpPr/>
          <p:nvPr/>
        </p:nvSpPr>
        <p:spPr>
          <a:xfrm>
            <a:off x="4353458" y="2432304"/>
            <a:ext cx="3484778" cy="3456432"/>
          </a:xfrm>
          <a:prstGeom prst="roundRect">
            <a:avLst>
              <a:gd name="adj" fmla="val 2116"/>
            </a:avLst>
          </a:prstGeom>
          <a:solidFill>
            <a:srgbClr val="F1F4F9"/>
          </a:solidFill>
          <a:ln w="12700">
            <a:solidFill>
              <a:srgbClr val="D9E1EB"/>
            </a:solidFill>
            <a:prstDash val="solid"/>
          </a:ln>
        </p:spPr>
      </p:sp>
      <p:sp>
        <p:nvSpPr>
          <p:cNvPr id="14" name="Shape 12"/>
          <p:cNvSpPr/>
          <p:nvPr/>
        </p:nvSpPr>
        <p:spPr>
          <a:xfrm>
            <a:off x="4609490" y="2670048"/>
            <a:ext cx="347472" cy="347472"/>
          </a:xfrm>
          <a:prstGeom prst="ellipse">
            <a:avLst/>
          </a:prstGeom>
          <a:solidFill>
            <a:srgbClr val="2E7D8F"/>
          </a:solidFill>
          <a:ln w="12700">
            <a:solidFill>
              <a:srgbClr val="2E7D8F"/>
            </a:solidFill>
            <a:prstDash val="solid"/>
          </a:ln>
        </p:spPr>
      </p:sp>
      <p:sp>
        <p:nvSpPr>
          <p:cNvPr id="15" name="Text 13"/>
          <p:cNvSpPr/>
          <p:nvPr/>
        </p:nvSpPr>
        <p:spPr>
          <a:xfrm>
            <a:off x="4609490" y="2670048"/>
            <a:ext cx="347472" cy="347472"/>
          </a:xfrm>
          <a:prstGeom prst="rect">
            <a:avLst/>
          </a:prstGeom>
          <a:noFill/>
          <a:ln/>
        </p:spPr>
        <p:txBody>
          <a:bodyPr wrap="square" lIns="0" tIns="0" rIns="0" bIns="0" rtlCol="0" anchor="ctr"/>
          <a:lstStyle/>
          <a:p>
            <a:pPr algn="ctr" indent="0" marL="0">
              <a:buNone/>
            </a:pPr>
            <a:r>
              <a:rPr lang="en-US" sz="988" b="1" dirty="0">
                <a:solidFill>
                  <a:srgbClr val="FFFFFF"/>
                </a:solidFill>
                <a:latin typeface="Cambria" pitchFamily="34" charset="0"/>
                <a:ea typeface="Cambria" pitchFamily="34" charset="-122"/>
                <a:cs typeface="Cambria" pitchFamily="34" charset="-120"/>
              </a:rPr>
              <a:t>B</a:t>
            </a:r>
            <a:endParaRPr lang="en-US" sz="988" dirty="0"/>
          </a:p>
        </p:txBody>
      </p:sp>
      <p:sp>
        <p:nvSpPr>
          <p:cNvPr id="16" name="Text 14"/>
          <p:cNvSpPr/>
          <p:nvPr/>
        </p:nvSpPr>
        <p:spPr>
          <a:xfrm>
            <a:off x="5048402" y="2688336"/>
            <a:ext cx="2533802" cy="548640"/>
          </a:xfrm>
          <a:prstGeom prst="rect">
            <a:avLst/>
          </a:prstGeom>
          <a:noFill/>
          <a:ln/>
        </p:spPr>
        <p:txBody>
          <a:bodyPr wrap="square" lIns="0" tIns="0" rIns="0" bIns="0" rtlCol="0" anchor="t"/>
          <a:lstStyle/>
          <a:p>
            <a:pPr indent="0" marL="0">
              <a:lnSpc>
                <a:spcPct val="105000"/>
              </a:lnSpc>
              <a:buNone/>
            </a:pPr>
            <a:r>
              <a:rPr lang="en-US" sz="1350" b="1" dirty="0">
                <a:solidFill>
                  <a:srgbClr val="16233A"/>
                </a:solidFill>
                <a:latin typeface="Cambria" pitchFamily="34" charset="0"/>
                <a:ea typeface="Cambria" pitchFamily="34" charset="-122"/>
                <a:cs typeface="Cambria" pitchFamily="34" charset="-120"/>
              </a:rPr>
              <a:t>Comprensión de listas</a:t>
            </a:r>
            <a:endParaRPr lang="en-US" sz="1350" dirty="0"/>
          </a:p>
        </p:txBody>
      </p:sp>
      <p:sp>
        <p:nvSpPr>
          <p:cNvPr id="17" name="Shape 15"/>
          <p:cNvSpPr/>
          <p:nvPr/>
        </p:nvSpPr>
        <p:spPr>
          <a:xfrm>
            <a:off x="4609490" y="3364992"/>
            <a:ext cx="2972714" cy="996879"/>
          </a:xfrm>
          <a:prstGeom prst="roundRect">
            <a:avLst>
              <a:gd name="adj" fmla="val 5504"/>
            </a:avLst>
          </a:prstGeom>
          <a:solidFill>
            <a:srgbClr val="1B2436"/>
          </a:solidFill>
          <a:ln w="12700">
            <a:solidFill>
              <a:srgbClr val="1B2436"/>
            </a:solidFill>
            <a:prstDash val="solid"/>
          </a:ln>
        </p:spPr>
      </p:sp>
      <p:sp>
        <p:nvSpPr>
          <p:cNvPr id="18" name="Text 16"/>
          <p:cNvSpPr/>
          <p:nvPr/>
        </p:nvSpPr>
        <p:spPr>
          <a:xfrm>
            <a:off x="4755794" y="3502152"/>
            <a:ext cx="2680106" cy="722559"/>
          </a:xfrm>
          <a:prstGeom prst="rect">
            <a:avLst/>
          </a:prstGeom>
          <a:noFill/>
          <a:ln/>
        </p:spPr>
        <p:txBody>
          <a:bodyPr wrap="square" lIns="0" tIns="0" rIns="0" bIns="0" rtlCol="0" anchor="t"/>
          <a:lstStyle/>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M = np.array(</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  [[0]*m for _ in range(n)]</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a:t>
            </a:r>
            <a:endParaRPr lang="en-US" sz="1050" dirty="0"/>
          </a:p>
        </p:txBody>
      </p:sp>
      <p:sp>
        <p:nvSpPr>
          <p:cNvPr id="19" name="Text 17"/>
          <p:cNvSpPr/>
          <p:nvPr/>
        </p:nvSpPr>
        <p:spPr>
          <a:xfrm>
            <a:off x="4609490" y="4974336"/>
            <a:ext cx="2972714" cy="786384"/>
          </a:xfrm>
          <a:prstGeom prst="rect">
            <a:avLst/>
          </a:prstGeom>
          <a:noFill/>
          <a:ln/>
        </p:spPr>
        <p:txBody>
          <a:bodyPr wrap="square" lIns="0" tIns="0" rIns="0" bIns="0" rtlCol="0" anchor="t"/>
          <a:lstStyle/>
          <a:p>
            <a:pPr indent="0" marL="0">
              <a:lnSpc>
                <a:spcPct val="114000"/>
              </a:lnSpc>
              <a:buNone/>
            </a:pPr>
            <a:r>
              <a:rPr lang="en-US" sz="1150" dirty="0">
                <a:solidFill>
                  <a:srgbClr val="6B7A90"/>
                </a:solidFill>
                <a:latin typeface="Calibri" pitchFamily="34" charset="0"/>
                <a:ea typeface="Calibri" pitchFamily="34" charset="-122"/>
                <a:cs typeface="Calibri" pitchFamily="34" charset="-120"/>
              </a:rPr>
              <a:t>Lo mismo en una línea. Ojo: [[0]*m]*n repite la MISMA lista n veces; ese es un clásico de Python.</a:t>
            </a:r>
            <a:endParaRPr lang="en-US" sz="1150" dirty="0"/>
          </a:p>
        </p:txBody>
      </p:sp>
      <p:sp>
        <p:nvSpPr>
          <p:cNvPr id="20" name="Shape 18"/>
          <p:cNvSpPr/>
          <p:nvPr/>
        </p:nvSpPr>
        <p:spPr>
          <a:xfrm>
            <a:off x="8112557" y="2432304"/>
            <a:ext cx="3484778" cy="3456432"/>
          </a:xfrm>
          <a:prstGeom prst="roundRect">
            <a:avLst>
              <a:gd name="adj" fmla="val 2116"/>
            </a:avLst>
          </a:prstGeom>
          <a:solidFill>
            <a:srgbClr val="F1F4F9"/>
          </a:solidFill>
          <a:ln w="12700">
            <a:solidFill>
              <a:srgbClr val="D9E1EB"/>
            </a:solidFill>
            <a:prstDash val="solid"/>
          </a:ln>
        </p:spPr>
      </p:sp>
      <p:sp>
        <p:nvSpPr>
          <p:cNvPr id="21" name="Shape 19"/>
          <p:cNvSpPr/>
          <p:nvPr/>
        </p:nvSpPr>
        <p:spPr>
          <a:xfrm>
            <a:off x="8368589" y="2670048"/>
            <a:ext cx="347472" cy="347472"/>
          </a:xfrm>
          <a:prstGeom prst="ellipse">
            <a:avLst/>
          </a:prstGeom>
          <a:solidFill>
            <a:srgbClr val="2E7D8F"/>
          </a:solidFill>
          <a:ln w="12700">
            <a:solidFill>
              <a:srgbClr val="2E7D8F"/>
            </a:solidFill>
            <a:prstDash val="solid"/>
          </a:ln>
        </p:spPr>
      </p:sp>
      <p:sp>
        <p:nvSpPr>
          <p:cNvPr id="22" name="Text 20"/>
          <p:cNvSpPr/>
          <p:nvPr/>
        </p:nvSpPr>
        <p:spPr>
          <a:xfrm>
            <a:off x="8368589" y="2670048"/>
            <a:ext cx="347472" cy="347472"/>
          </a:xfrm>
          <a:prstGeom prst="rect">
            <a:avLst/>
          </a:prstGeom>
          <a:noFill/>
          <a:ln/>
        </p:spPr>
        <p:txBody>
          <a:bodyPr wrap="square" lIns="0" tIns="0" rIns="0" bIns="0" rtlCol="0" anchor="ctr"/>
          <a:lstStyle/>
          <a:p>
            <a:pPr algn="ctr" indent="0" marL="0">
              <a:buNone/>
            </a:pPr>
            <a:r>
              <a:rPr lang="en-US" sz="988" b="1" dirty="0">
                <a:solidFill>
                  <a:srgbClr val="FFFFFF"/>
                </a:solidFill>
                <a:latin typeface="Cambria" pitchFamily="34" charset="0"/>
                <a:ea typeface="Cambria" pitchFamily="34" charset="-122"/>
                <a:cs typeface="Cambria" pitchFamily="34" charset="-120"/>
              </a:rPr>
              <a:t>C</a:t>
            </a:r>
            <a:endParaRPr lang="en-US" sz="988" dirty="0"/>
          </a:p>
        </p:txBody>
      </p:sp>
      <p:sp>
        <p:nvSpPr>
          <p:cNvPr id="23" name="Text 21"/>
          <p:cNvSpPr/>
          <p:nvPr/>
        </p:nvSpPr>
        <p:spPr>
          <a:xfrm>
            <a:off x="8807501" y="2688336"/>
            <a:ext cx="2533802" cy="548640"/>
          </a:xfrm>
          <a:prstGeom prst="rect">
            <a:avLst/>
          </a:prstGeom>
          <a:noFill/>
          <a:ln/>
        </p:spPr>
        <p:txBody>
          <a:bodyPr wrap="square" lIns="0" tIns="0" rIns="0" bIns="0" rtlCol="0" anchor="t"/>
          <a:lstStyle/>
          <a:p>
            <a:pPr indent="0" marL="0">
              <a:lnSpc>
                <a:spcPct val="105000"/>
              </a:lnSpc>
              <a:buNone/>
            </a:pPr>
            <a:r>
              <a:rPr lang="en-US" sz="1350" b="1" dirty="0">
                <a:solidFill>
                  <a:srgbClr val="16233A"/>
                </a:solidFill>
                <a:latin typeface="Cambria" pitchFamily="34" charset="0"/>
                <a:ea typeface="Cambria" pitchFamily="34" charset="-122"/>
                <a:cs typeface="Cambria" pitchFamily="34" charset="-120"/>
              </a:rPr>
              <a:t>A partir de una matriz existente</a:t>
            </a:r>
            <a:endParaRPr lang="en-US" sz="1350" dirty="0"/>
          </a:p>
        </p:txBody>
      </p:sp>
      <p:sp>
        <p:nvSpPr>
          <p:cNvPr id="24" name="Shape 22"/>
          <p:cNvSpPr/>
          <p:nvPr/>
        </p:nvSpPr>
        <p:spPr>
          <a:xfrm>
            <a:off x="8368589" y="3364992"/>
            <a:ext cx="2972714" cy="756026"/>
          </a:xfrm>
          <a:prstGeom prst="roundRect">
            <a:avLst>
              <a:gd name="adj" fmla="val 7257"/>
            </a:avLst>
          </a:prstGeom>
          <a:solidFill>
            <a:srgbClr val="1B2436"/>
          </a:solidFill>
          <a:ln w="12700">
            <a:solidFill>
              <a:srgbClr val="1B2436"/>
            </a:solidFill>
            <a:prstDash val="solid"/>
          </a:ln>
        </p:spPr>
      </p:sp>
      <p:sp>
        <p:nvSpPr>
          <p:cNvPr id="25" name="Text 23"/>
          <p:cNvSpPr/>
          <p:nvPr/>
        </p:nvSpPr>
        <p:spPr>
          <a:xfrm>
            <a:off x="8514893" y="3502152"/>
            <a:ext cx="2680106" cy="481706"/>
          </a:xfrm>
          <a:prstGeom prst="rect">
            <a:avLst/>
          </a:prstGeom>
          <a:noFill/>
          <a:ln/>
        </p:spPr>
        <p:txBody>
          <a:bodyPr wrap="square" lIns="0" tIns="0" rIns="0" bIns="0" rtlCol="0" anchor="t"/>
          <a:lstStyle/>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Z = 0 * A     # mismo shape</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 y mismo dtype que A</a:t>
            </a:r>
            <a:endParaRPr lang="en-US" sz="1050" dirty="0"/>
          </a:p>
        </p:txBody>
      </p:sp>
      <p:sp>
        <p:nvSpPr>
          <p:cNvPr id="26" name="Text 24"/>
          <p:cNvSpPr/>
          <p:nvPr/>
        </p:nvSpPr>
        <p:spPr>
          <a:xfrm>
            <a:off x="8368589" y="4974336"/>
            <a:ext cx="2972714" cy="786384"/>
          </a:xfrm>
          <a:prstGeom prst="rect">
            <a:avLst/>
          </a:prstGeom>
          <a:noFill/>
          <a:ln/>
        </p:spPr>
        <p:txBody>
          <a:bodyPr wrap="square" lIns="0" tIns="0" rIns="0" bIns="0" rtlCol="0" anchor="t"/>
          <a:lstStyle/>
          <a:p>
            <a:pPr indent="0" marL="0">
              <a:lnSpc>
                <a:spcPct val="114000"/>
              </a:lnSpc>
              <a:buNone/>
            </a:pPr>
            <a:r>
              <a:rPr lang="en-US" sz="1150" dirty="0">
                <a:solidFill>
                  <a:srgbClr val="6B7A90"/>
                </a:solidFill>
                <a:latin typeface="Calibri" pitchFamily="34" charset="0"/>
                <a:ea typeface="Calibri" pitchFamily="34" charset="-122"/>
                <a:cs typeface="Calibri" pitchFamily="34" charset="-120"/>
              </a:rPr>
              <a:t>Sirve cuando ya tenés A del tamaño justo. Cuidado: si A es de enteros, Z también.</a:t>
            </a:r>
            <a:endParaRPr lang="en-US" sz="1150" dirty="0"/>
          </a:p>
        </p:txBody>
      </p:sp>
      <p:sp>
        <p:nvSpPr>
          <p:cNvPr id="27" name="Text 25"/>
          <p:cNvSpPr/>
          <p:nvPr/>
        </p:nvSpPr>
        <p:spPr>
          <a:xfrm>
            <a:off x="594360" y="6053328"/>
            <a:ext cx="11002975" cy="310896"/>
          </a:xfrm>
          <a:prstGeom prst="rect">
            <a:avLst/>
          </a:prstGeom>
          <a:noFill/>
          <a:ln/>
        </p:spPr>
        <p:txBody>
          <a:bodyPr wrap="square" lIns="0" tIns="0" rIns="0" bIns="0" rtlCol="0" anchor="t"/>
          <a:lstStyle/>
          <a:p>
            <a:pPr indent="0" marL="0">
              <a:buNone/>
            </a:pPr>
            <a:r>
              <a:rPr lang="en-US" sz="1250" i="1" dirty="0">
                <a:solidFill>
                  <a:srgbClr val="16233A"/>
                </a:solidFill>
                <a:latin typeface="Calibri" pitchFamily="34" charset="0"/>
                <a:ea typeface="Calibri" pitchFamily="34" charset="-122"/>
                <a:cs typeface="Calibri" pitchFamily="34" charset="-120"/>
              </a:rPr>
              <a:t>Y lo más barato de todo: preguntale al docente en la primera clase si zeros cuenta como permitida. Treinta segundos de consulta te ahorran rehacer 18 funciones.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La restricción es sobre numpy, no sobre Python</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Una distinción que te devuelve casi todas las herramientas que necesitás.</a:t>
            </a:r>
            <a:endParaRPr lang="en-US" sz="1300" dirty="0"/>
          </a:p>
        </p:txBody>
      </p:sp>
      <p:sp>
        <p:nvSpPr>
          <p:cNvPr id="4" name="Shape 2"/>
          <p:cNvSpPr/>
          <p:nvPr/>
        </p:nvSpPr>
        <p:spPr>
          <a:xfrm>
            <a:off x="594360" y="1444752"/>
            <a:ext cx="5336896" cy="2487168"/>
          </a:xfrm>
          <a:prstGeom prst="roundRect">
            <a:avLst>
              <a:gd name="adj" fmla="val 2941"/>
            </a:avLst>
          </a:prstGeom>
          <a:solidFill>
            <a:srgbClr val="EAF4EE"/>
          </a:solidFill>
          <a:ln w="12700">
            <a:solidFill>
              <a:srgbClr val="CFE4D8"/>
            </a:solidFill>
            <a:prstDash val="solid"/>
          </a:ln>
        </p:spPr>
      </p:sp>
      <p:sp>
        <p:nvSpPr>
          <p:cNvPr id="5" name="Text 3"/>
          <p:cNvSpPr/>
          <p:nvPr/>
        </p:nvSpPr>
        <p:spPr>
          <a:xfrm>
            <a:off x="886968" y="1682496"/>
            <a:ext cx="4751680" cy="292608"/>
          </a:xfrm>
          <a:prstGeom prst="rect">
            <a:avLst/>
          </a:prstGeom>
          <a:noFill/>
          <a:ln/>
        </p:spPr>
        <p:txBody>
          <a:bodyPr wrap="square" lIns="0" tIns="0" rIns="0" bIns="0" rtlCol="0" anchor="t"/>
          <a:lstStyle/>
          <a:p>
            <a:pPr indent="0" marL="0">
              <a:buNone/>
            </a:pPr>
            <a:r>
              <a:rPr lang="en-US" sz="1500" b="1" dirty="0">
                <a:solidFill>
                  <a:srgbClr val="2F7D4F"/>
                </a:solidFill>
                <a:latin typeface="Cambria" pitchFamily="34" charset="0"/>
                <a:ea typeface="Cambria" pitchFamily="34" charset="-122"/>
                <a:cs typeface="Cambria" pitchFamily="34" charset="-120"/>
              </a:rPr>
              <a:t>Python entero sigue disponible</a:t>
            </a:r>
            <a:endParaRPr lang="en-US" sz="1500" dirty="0"/>
          </a:p>
        </p:txBody>
      </p:sp>
      <p:sp>
        <p:nvSpPr>
          <p:cNvPr id="6" name="Text 4"/>
          <p:cNvSpPr/>
          <p:nvPr/>
        </p:nvSpPr>
        <p:spPr>
          <a:xfrm>
            <a:off x="886968" y="2103120"/>
            <a:ext cx="4751680" cy="1005840"/>
          </a:xfrm>
          <a:prstGeom prst="rect">
            <a:avLst/>
          </a:prstGeom>
          <a:noFill/>
          <a:ln/>
        </p:spPr>
        <p:txBody>
          <a:bodyPr wrap="square" lIns="0" tIns="0" rIns="0" bIns="0" rtlCol="0" anchor="t"/>
          <a:lstStyle/>
          <a:p>
            <a:pPr indent="0" marL="0">
              <a:lnSpc>
                <a:spcPct val="130000"/>
              </a:lnSpc>
              <a:buNone/>
            </a:pPr>
            <a:r>
              <a:rPr lang="en-US" sz="1300" dirty="0">
                <a:solidFill>
                  <a:srgbClr val="2C5A42"/>
                </a:solidFill>
                <a:latin typeface="Courier New" pitchFamily="34" charset="0"/>
                <a:ea typeface="Courier New" pitchFamily="34" charset="-122"/>
                <a:cs typeface="Courier New" pitchFamily="34" charset="-120"/>
              </a:rPr>
              <a:t>range   len   abs   sum   max   min   round</a:t>
            </a:r>
            <a:endParaRPr lang="en-US" sz="1300" dirty="0"/>
          </a:p>
          <a:p>
            <a:pPr indent="0" marL="0">
              <a:lnSpc>
                <a:spcPct val="130000"/>
              </a:lnSpc>
              <a:buNone/>
            </a:pPr>
            <a:r>
              <a:rPr lang="en-US" sz="1300" dirty="0">
                <a:solidFill>
                  <a:srgbClr val="2C5A42"/>
                </a:solidFill>
                <a:latin typeface="Courier New" pitchFamily="34" charset="0"/>
                <a:ea typeface="Courier New" pitchFamily="34" charset="-122"/>
                <a:cs typeface="Courier New" pitchFamily="34" charset="-120"/>
              </a:rPr>
              <a:t>enumerate   zip   sorted   if/else   while</a:t>
            </a:r>
            <a:endParaRPr lang="en-US" sz="1300" dirty="0"/>
          </a:p>
          <a:p>
            <a:pPr indent="0" marL="0">
              <a:lnSpc>
                <a:spcPct val="130000"/>
              </a:lnSpc>
              <a:buNone/>
            </a:pPr>
            <a:r>
              <a:rPr lang="en-US" sz="1300" dirty="0">
                <a:solidFill>
                  <a:srgbClr val="2C5A42"/>
                </a:solidFill>
                <a:latin typeface="Courier New" pitchFamily="34" charset="0"/>
                <a:ea typeface="Courier New" pitchFamily="34" charset="-122"/>
                <a:cs typeface="Courier New" pitchFamily="34" charset="-120"/>
              </a:rPr>
              <a:t>comprensiones de listas   +=   *=</a:t>
            </a:r>
            <a:endParaRPr lang="en-US" sz="1300" dirty="0"/>
          </a:p>
        </p:txBody>
      </p:sp>
      <p:sp>
        <p:nvSpPr>
          <p:cNvPr id="7" name="Text 5"/>
          <p:cNvSpPr/>
          <p:nvPr/>
        </p:nvSpPr>
        <p:spPr>
          <a:xfrm>
            <a:off x="886968" y="3291840"/>
            <a:ext cx="4751680" cy="475488"/>
          </a:xfrm>
          <a:prstGeom prst="rect">
            <a:avLst/>
          </a:prstGeom>
          <a:noFill/>
          <a:ln/>
        </p:spPr>
        <p:txBody>
          <a:bodyPr wrap="square" lIns="0" tIns="0" rIns="0" bIns="0" rtlCol="0" anchor="t"/>
          <a:lstStyle/>
          <a:p>
            <a:pPr indent="0" marL="0">
              <a:lnSpc>
                <a:spcPct val="112000"/>
              </a:lnSpc>
              <a:buNone/>
            </a:pPr>
            <a:r>
              <a:rPr lang="en-US" sz="1200" i="1" dirty="0">
                <a:solidFill>
                  <a:srgbClr val="4A6B58"/>
                </a:solidFill>
                <a:latin typeface="Calibri" pitchFamily="34" charset="0"/>
                <a:ea typeface="Calibri" pitchFamily="34" charset="-122"/>
                <a:cs typeface="Calibri" pitchFamily="34" charset="-120"/>
              </a:rPr>
              <a:t>El enunciado restringe «de la librería numpy». Los built-ins del lenguaje no son de numpy.</a:t>
            </a:r>
            <a:endParaRPr lang="en-US" sz="1200" dirty="0"/>
          </a:p>
        </p:txBody>
      </p:sp>
      <p:sp>
        <p:nvSpPr>
          <p:cNvPr id="8" name="Shape 6"/>
          <p:cNvSpPr/>
          <p:nvPr/>
        </p:nvSpPr>
        <p:spPr>
          <a:xfrm>
            <a:off x="6260440" y="1444752"/>
            <a:ext cx="5336896" cy="2487168"/>
          </a:xfrm>
          <a:prstGeom prst="roundRect">
            <a:avLst>
              <a:gd name="adj" fmla="val 2941"/>
            </a:avLst>
          </a:prstGeom>
          <a:solidFill>
            <a:srgbClr val="FCF2E0"/>
          </a:solidFill>
          <a:ln w="12700">
            <a:solidFill>
              <a:srgbClr val="F0DDB8"/>
            </a:solidFill>
            <a:prstDash val="solid"/>
          </a:ln>
        </p:spPr>
      </p:sp>
      <p:sp>
        <p:nvSpPr>
          <p:cNvPr id="9" name="Text 7"/>
          <p:cNvSpPr/>
          <p:nvPr/>
        </p:nvSpPr>
        <p:spPr>
          <a:xfrm>
            <a:off x="6553048" y="1682496"/>
            <a:ext cx="4751680" cy="292608"/>
          </a:xfrm>
          <a:prstGeom prst="rect">
            <a:avLst/>
          </a:prstGeom>
          <a:noFill/>
          <a:ln/>
        </p:spPr>
        <p:txBody>
          <a:bodyPr wrap="square" lIns="0" tIns="0" rIns="0" bIns="0" rtlCol="0" anchor="t"/>
          <a:lstStyle/>
          <a:p>
            <a:pPr indent="0" marL="0">
              <a:buNone/>
            </a:pPr>
            <a:r>
              <a:rPr lang="en-US" sz="1500" b="1" dirty="0">
                <a:solidFill>
                  <a:srgbClr val="8A6318"/>
                </a:solidFill>
                <a:latin typeface="Cambria" pitchFamily="34" charset="0"/>
                <a:ea typeface="Cambria" pitchFamily="34" charset="-122"/>
                <a:cs typeface="Cambria" pitchFamily="34" charset="-120"/>
              </a:rPr>
              <a:t>La excepción que confunde</a:t>
            </a:r>
            <a:endParaRPr lang="en-US" sz="1500" dirty="0"/>
          </a:p>
        </p:txBody>
      </p:sp>
      <p:sp>
        <p:nvSpPr>
          <p:cNvPr id="10" name="Shape 8"/>
          <p:cNvSpPr/>
          <p:nvPr/>
        </p:nvSpPr>
        <p:spPr>
          <a:xfrm>
            <a:off x="6553048" y="2084832"/>
            <a:ext cx="4751680" cy="756026"/>
          </a:xfrm>
          <a:prstGeom prst="roundRect">
            <a:avLst>
              <a:gd name="adj" fmla="val 7257"/>
            </a:avLst>
          </a:prstGeom>
          <a:solidFill>
            <a:srgbClr val="1B2436"/>
          </a:solidFill>
          <a:ln w="12700">
            <a:solidFill>
              <a:srgbClr val="1B2436"/>
            </a:solidFill>
            <a:prstDash val="solid"/>
          </a:ln>
        </p:spPr>
      </p:sp>
      <p:sp>
        <p:nvSpPr>
          <p:cNvPr id="11" name="Text 9"/>
          <p:cNvSpPr/>
          <p:nvPr/>
        </p:nvSpPr>
        <p:spPr>
          <a:xfrm>
            <a:off x="6699352" y="2221992"/>
            <a:ext cx="4459072" cy="481706"/>
          </a:xfrm>
          <a:prstGeom prst="rect">
            <a:avLst/>
          </a:prstGeom>
          <a:noFill/>
          <a:ln/>
        </p:spPr>
        <p:txBody>
          <a:bodyPr wrap="square" lIns="0" tIns="0" rIns="0" bIns="0" rtlCol="0" anchor="t"/>
          <a:lstStyle/>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abs(A)      # A es ndarray  -&gt;  numpy</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abs(A[i,j]) # es un escalar -&gt;  Python</a:t>
            </a:r>
            <a:endParaRPr lang="en-US" sz="1050" dirty="0"/>
          </a:p>
        </p:txBody>
      </p:sp>
      <p:sp>
        <p:nvSpPr>
          <p:cNvPr id="12" name="Text 10"/>
          <p:cNvSpPr/>
          <p:nvPr/>
        </p:nvSpPr>
        <p:spPr>
          <a:xfrm>
            <a:off x="6553048" y="2926080"/>
            <a:ext cx="4751680" cy="859536"/>
          </a:xfrm>
          <a:prstGeom prst="rect">
            <a:avLst/>
          </a:prstGeom>
          <a:noFill/>
          <a:ln/>
        </p:spPr>
        <p:txBody>
          <a:bodyPr wrap="square" lIns="0" tIns="0" rIns="0" bIns="0" rtlCol="0" anchor="t"/>
          <a:lstStyle/>
          <a:p>
            <a:pPr indent="0" marL="0">
              <a:lnSpc>
                <a:spcPct val="114000"/>
              </a:lnSpc>
              <a:buNone/>
            </a:pPr>
            <a:r>
              <a:rPr lang="en-US" sz="1200" dirty="0">
                <a:solidFill>
                  <a:srgbClr val="6E5525"/>
                </a:solidFill>
                <a:latin typeface="Calibri" pitchFamily="34" charset="0"/>
                <a:ea typeface="Calibri" pitchFamily="34" charset="-122"/>
                <a:cs typeface="Calibri" pitchFamily="34" charset="-120"/>
              </a:rPr>
              <a:t>abs() sobre un array delega en np.absolute. Sobre un elemento suelto es Python puro. Si querés estar tranquilo, aplicá abs elemento a elemento dentro del loop: total, ya estás recorriendo.</a:t>
            </a:r>
            <a:endParaRPr lang="en-US" sz="1200" dirty="0"/>
          </a:p>
        </p:txBody>
      </p:sp>
      <p:sp>
        <p:nvSpPr>
          <p:cNvPr id="13" name="Shape 11"/>
          <p:cNvSpPr/>
          <p:nvPr/>
        </p:nvSpPr>
        <p:spPr>
          <a:xfrm>
            <a:off x="594360" y="4242816"/>
            <a:ext cx="11002975" cy="1572768"/>
          </a:xfrm>
          <a:prstGeom prst="roundRect">
            <a:avLst>
              <a:gd name="adj" fmla="val 4651"/>
            </a:avLst>
          </a:prstGeom>
          <a:solidFill>
            <a:srgbClr val="16233A"/>
          </a:solidFill>
          <a:ln w="12700">
            <a:solidFill>
              <a:srgbClr val="16233A"/>
            </a:solidFill>
            <a:prstDash val="solid"/>
          </a:ln>
        </p:spPr>
      </p:sp>
      <p:sp>
        <p:nvSpPr>
          <p:cNvPr id="14" name="Text 12"/>
          <p:cNvSpPr/>
          <p:nvPr/>
        </p:nvSpPr>
        <p:spPr>
          <a:xfrm>
            <a:off x="905256" y="4462272"/>
            <a:ext cx="10381183" cy="292608"/>
          </a:xfrm>
          <a:prstGeom prst="rect">
            <a:avLst/>
          </a:prstGeom>
          <a:noFill/>
          <a:ln/>
        </p:spPr>
        <p:txBody>
          <a:bodyPr wrap="square" lIns="0" tIns="0" rIns="0" bIns="0" rtlCol="0" anchor="t"/>
          <a:lstStyle/>
          <a:p>
            <a:pPr indent="0" marL="0">
              <a:buNone/>
            </a:pPr>
            <a:r>
              <a:rPr lang="en-US" sz="1600" b="1" dirty="0">
                <a:solidFill>
                  <a:srgbClr val="E39A2B"/>
                </a:solidFill>
                <a:latin typeface="Cambria" pitchFamily="34" charset="0"/>
                <a:ea typeface="Cambria" pitchFamily="34" charset="-122"/>
                <a:cs typeface="Cambria" pitchFamily="34" charset="-120"/>
              </a:rPr>
              <a:t>El criterio práctico, en una frase</a:t>
            </a:r>
            <a:endParaRPr lang="en-US" sz="1600" dirty="0"/>
          </a:p>
        </p:txBody>
      </p:sp>
      <p:sp>
        <p:nvSpPr>
          <p:cNvPr id="15" name="Text 13"/>
          <p:cNvSpPr/>
          <p:nvPr/>
        </p:nvSpPr>
        <p:spPr>
          <a:xfrm>
            <a:off x="905256" y="4846320"/>
            <a:ext cx="10381183" cy="768096"/>
          </a:xfrm>
          <a:prstGeom prst="rect">
            <a:avLst/>
          </a:prstGeom>
          <a:noFill/>
          <a:ln/>
        </p:spPr>
        <p:txBody>
          <a:bodyPr wrap="square" lIns="0" tIns="0" rIns="0" bIns="0" rtlCol="0" anchor="t"/>
          <a:lstStyle/>
          <a:p>
            <a:pPr indent="0" marL="0">
              <a:lnSpc>
                <a:spcPct val="116000"/>
              </a:lnSpc>
              <a:buNone/>
            </a:pPr>
            <a:r>
              <a:rPr lang="en-US" sz="1300" dirty="0">
                <a:solidFill>
                  <a:srgbClr val="C8D3E4"/>
                </a:solidFill>
                <a:latin typeface="Calibri" pitchFamily="34" charset="0"/>
                <a:ea typeface="Calibri" pitchFamily="34" charset="-122"/>
                <a:cs typeface="Calibri" pitchFamily="34" charset="-120"/>
              </a:rPr>
              <a:t>Si una sola línea de numpy es la respuesta completa del ejercicio, no la uses. Los lineamientos de la materia lo dicen: «Si la mayoría de las funciones pueden encontrarse pre-programadas en numpy, en la mayoría se solicitará que las programen en bajo nivel o desde cero.» El punto del labo es que escribas el algoritmo, no que sepas buscar el nombre de la función.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Qué no cuenta como «función de numpy»</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Sintaxis del lenguaje. Nada de esto es una llamada a la librería, y todo esto te sirve.</a:t>
            </a:r>
            <a:endParaRPr lang="en-US" sz="1300" dirty="0"/>
          </a:p>
        </p:txBody>
      </p:sp>
      <p:sp>
        <p:nvSpPr>
          <p:cNvPr id="4" name="Shape 2"/>
          <p:cNvSpPr/>
          <p:nvPr/>
        </p:nvSpPr>
        <p:spPr>
          <a:xfrm>
            <a:off x="594360" y="1444752"/>
            <a:ext cx="5346040" cy="1444752"/>
          </a:xfrm>
          <a:prstGeom prst="roundRect">
            <a:avLst>
              <a:gd name="adj" fmla="val 5063"/>
            </a:avLst>
          </a:prstGeom>
          <a:solidFill>
            <a:srgbClr val="F1F4F9"/>
          </a:solidFill>
          <a:ln w="12700">
            <a:solidFill>
              <a:srgbClr val="D9E1EB"/>
            </a:solidFill>
            <a:prstDash val="solid"/>
          </a:ln>
        </p:spPr>
      </p:sp>
      <p:sp>
        <p:nvSpPr>
          <p:cNvPr id="5" name="Text 3"/>
          <p:cNvSpPr/>
          <p:nvPr/>
        </p:nvSpPr>
        <p:spPr>
          <a:xfrm>
            <a:off x="850392" y="1645920"/>
            <a:ext cx="4833976" cy="274320"/>
          </a:xfrm>
          <a:prstGeom prst="rect">
            <a:avLst/>
          </a:prstGeom>
          <a:noFill/>
          <a:ln/>
        </p:spPr>
        <p:txBody>
          <a:bodyPr wrap="square" lIns="0" tIns="0" rIns="0" bIns="0" rtlCol="0" anchor="t"/>
          <a:lstStyle/>
          <a:p>
            <a:pPr indent="0" marL="0">
              <a:buNone/>
            </a:pPr>
            <a:r>
              <a:rPr lang="en-US" sz="1400" b="1" dirty="0">
                <a:solidFill>
                  <a:srgbClr val="16233A"/>
                </a:solidFill>
                <a:latin typeface="Cambria" pitchFamily="34" charset="0"/>
                <a:ea typeface="Cambria" pitchFamily="34" charset="-122"/>
                <a:cs typeface="Cambria" pitchFamily="34" charset="-120"/>
              </a:rPr>
              <a:t>Indexado y slicing</a:t>
            </a:r>
            <a:endParaRPr lang="en-US" sz="1400" dirty="0"/>
          </a:p>
        </p:txBody>
      </p:sp>
      <p:sp>
        <p:nvSpPr>
          <p:cNvPr id="6" name="Text 4"/>
          <p:cNvSpPr/>
          <p:nvPr/>
        </p:nvSpPr>
        <p:spPr>
          <a:xfrm>
            <a:off x="850392" y="2011680"/>
            <a:ext cx="4833976" cy="749808"/>
          </a:xfrm>
          <a:prstGeom prst="rect">
            <a:avLst/>
          </a:prstGeom>
          <a:noFill/>
          <a:ln/>
        </p:spPr>
        <p:txBody>
          <a:bodyPr wrap="square" lIns="0" tIns="0" rIns="0" bIns="0" rtlCol="0" anchor="t"/>
          <a:lstStyle/>
          <a:p>
            <a:pPr indent="0" marL="0">
              <a:lnSpc>
                <a:spcPct val="122000"/>
              </a:lnSpc>
              <a:buNone/>
            </a:pPr>
            <a:r>
              <a:rPr lang="en-US" sz="1200" dirty="0">
                <a:solidFill>
                  <a:srgbClr val="2E7D8F"/>
                </a:solidFill>
                <a:latin typeface="Courier New" pitchFamily="34" charset="0"/>
                <a:ea typeface="Courier New" pitchFamily="34" charset="-122"/>
                <a:cs typeface="Courier New" pitchFamily="34" charset="-120"/>
              </a:rPr>
              <a:t>A[i, j]</a:t>
            </a:r>
            <a:endParaRPr lang="en-US" sz="1200" dirty="0"/>
          </a:p>
          <a:p>
            <a:pPr indent="0" marL="0">
              <a:lnSpc>
                <a:spcPct val="122000"/>
              </a:lnSpc>
              <a:buNone/>
            </a:pPr>
            <a:r>
              <a:rPr lang="en-US" sz="1200" dirty="0">
                <a:solidFill>
                  <a:srgbClr val="2E7D8F"/>
                </a:solidFill>
                <a:latin typeface="Courier New" pitchFamily="34" charset="0"/>
                <a:ea typeface="Courier New" pitchFamily="34" charset="-122"/>
                <a:cs typeface="Courier New" pitchFamily="34" charset="-120"/>
              </a:rPr>
              <a:t>A[i, :]      A[:, j]</a:t>
            </a:r>
            <a:endParaRPr lang="en-US" sz="1200" dirty="0"/>
          </a:p>
          <a:p>
            <a:pPr indent="0" marL="0">
              <a:lnSpc>
                <a:spcPct val="122000"/>
              </a:lnSpc>
              <a:buNone/>
            </a:pPr>
            <a:r>
              <a:rPr lang="en-US" sz="1200" dirty="0">
                <a:solidFill>
                  <a:srgbClr val="2E7D8F"/>
                </a:solidFill>
                <a:latin typeface="Courier New" pitchFamily="34" charset="0"/>
                <a:ea typeface="Courier New" pitchFamily="34" charset="-122"/>
                <a:cs typeface="Courier New" pitchFamily="34" charset="-120"/>
              </a:rPr>
              <a:t>A[1:, 2:]    A[-1, :]</a:t>
            </a:r>
            <a:endParaRPr lang="en-US" sz="1200" dirty="0"/>
          </a:p>
        </p:txBody>
      </p:sp>
      <p:sp>
        <p:nvSpPr>
          <p:cNvPr id="7" name="Shape 5"/>
          <p:cNvSpPr/>
          <p:nvPr/>
        </p:nvSpPr>
        <p:spPr>
          <a:xfrm>
            <a:off x="6251296" y="1444752"/>
            <a:ext cx="5346040" cy="1444752"/>
          </a:xfrm>
          <a:prstGeom prst="roundRect">
            <a:avLst>
              <a:gd name="adj" fmla="val 5063"/>
            </a:avLst>
          </a:prstGeom>
          <a:solidFill>
            <a:srgbClr val="F1F4F9"/>
          </a:solidFill>
          <a:ln w="12700">
            <a:solidFill>
              <a:srgbClr val="D9E1EB"/>
            </a:solidFill>
            <a:prstDash val="solid"/>
          </a:ln>
        </p:spPr>
      </p:sp>
      <p:sp>
        <p:nvSpPr>
          <p:cNvPr id="8" name="Text 6"/>
          <p:cNvSpPr/>
          <p:nvPr/>
        </p:nvSpPr>
        <p:spPr>
          <a:xfrm>
            <a:off x="6507328" y="1645920"/>
            <a:ext cx="4833976" cy="274320"/>
          </a:xfrm>
          <a:prstGeom prst="rect">
            <a:avLst/>
          </a:prstGeom>
          <a:noFill/>
          <a:ln/>
        </p:spPr>
        <p:txBody>
          <a:bodyPr wrap="square" lIns="0" tIns="0" rIns="0" bIns="0" rtlCol="0" anchor="t"/>
          <a:lstStyle/>
          <a:p>
            <a:pPr indent="0" marL="0">
              <a:buNone/>
            </a:pPr>
            <a:r>
              <a:rPr lang="en-US" sz="1400" b="1" dirty="0">
                <a:solidFill>
                  <a:srgbClr val="16233A"/>
                </a:solidFill>
                <a:latin typeface="Cambria" pitchFamily="34" charset="0"/>
                <a:ea typeface="Cambria" pitchFamily="34" charset="-122"/>
                <a:cs typeface="Cambria" pitchFamily="34" charset="-120"/>
              </a:rPr>
              <a:t>Operadores aritméticos</a:t>
            </a:r>
            <a:endParaRPr lang="en-US" sz="1400" dirty="0"/>
          </a:p>
        </p:txBody>
      </p:sp>
      <p:sp>
        <p:nvSpPr>
          <p:cNvPr id="9" name="Text 7"/>
          <p:cNvSpPr/>
          <p:nvPr/>
        </p:nvSpPr>
        <p:spPr>
          <a:xfrm>
            <a:off x="6507328" y="2011680"/>
            <a:ext cx="4833976" cy="749808"/>
          </a:xfrm>
          <a:prstGeom prst="rect">
            <a:avLst/>
          </a:prstGeom>
          <a:noFill/>
          <a:ln/>
        </p:spPr>
        <p:txBody>
          <a:bodyPr wrap="square" lIns="0" tIns="0" rIns="0" bIns="0" rtlCol="0" anchor="t"/>
          <a:lstStyle/>
          <a:p>
            <a:pPr indent="0" marL="0">
              <a:lnSpc>
                <a:spcPct val="122000"/>
              </a:lnSpc>
              <a:buNone/>
            </a:pPr>
            <a:r>
              <a:rPr lang="en-US" sz="1200" dirty="0">
                <a:solidFill>
                  <a:srgbClr val="2E7D8F"/>
                </a:solidFill>
                <a:latin typeface="Courier New" pitchFamily="34" charset="0"/>
                <a:ea typeface="Courier New" pitchFamily="34" charset="-122"/>
                <a:cs typeface="Courier New" pitchFamily="34" charset="-120"/>
              </a:rPr>
              <a:t>A + B      A - B</a:t>
            </a:r>
            <a:endParaRPr lang="en-US" sz="1200" dirty="0"/>
          </a:p>
          <a:p>
            <a:pPr indent="0" marL="0">
              <a:lnSpc>
                <a:spcPct val="122000"/>
              </a:lnSpc>
              <a:buNone/>
            </a:pPr>
            <a:r>
              <a:rPr lang="en-US" sz="1200" dirty="0">
                <a:solidFill>
                  <a:srgbClr val="2E7D8F"/>
                </a:solidFill>
                <a:latin typeface="Courier New" pitchFamily="34" charset="0"/>
                <a:ea typeface="Courier New" pitchFamily="34" charset="-122"/>
                <a:cs typeface="Courier New" pitchFamily="34" charset="-120"/>
              </a:rPr>
              <a:t>2 * A      A / 3</a:t>
            </a:r>
            <a:endParaRPr lang="en-US" sz="1200" dirty="0"/>
          </a:p>
          <a:p>
            <a:pPr indent="0" marL="0">
              <a:lnSpc>
                <a:spcPct val="122000"/>
              </a:lnSpc>
              <a:buNone/>
            </a:pPr>
            <a:r>
              <a:rPr lang="en-US" sz="1200" dirty="0">
                <a:solidFill>
                  <a:srgbClr val="2E7D8F"/>
                </a:solidFill>
                <a:latin typeface="Courier New" pitchFamily="34" charset="0"/>
                <a:ea typeface="Courier New" pitchFamily="34" charset="-122"/>
                <a:cs typeface="Courier New" pitchFamily="34" charset="-120"/>
              </a:rPr>
              <a:t>A ** 2</a:t>
            </a:r>
            <a:endParaRPr lang="en-US" sz="1200" dirty="0"/>
          </a:p>
        </p:txBody>
      </p:sp>
      <p:sp>
        <p:nvSpPr>
          <p:cNvPr id="10" name="Shape 8"/>
          <p:cNvSpPr/>
          <p:nvPr/>
        </p:nvSpPr>
        <p:spPr>
          <a:xfrm>
            <a:off x="594360" y="3072384"/>
            <a:ext cx="5346040" cy="1444752"/>
          </a:xfrm>
          <a:prstGeom prst="roundRect">
            <a:avLst>
              <a:gd name="adj" fmla="val 5063"/>
            </a:avLst>
          </a:prstGeom>
          <a:solidFill>
            <a:srgbClr val="F1F4F9"/>
          </a:solidFill>
          <a:ln w="12700">
            <a:solidFill>
              <a:srgbClr val="D9E1EB"/>
            </a:solidFill>
            <a:prstDash val="solid"/>
          </a:ln>
        </p:spPr>
      </p:sp>
      <p:sp>
        <p:nvSpPr>
          <p:cNvPr id="11" name="Text 9"/>
          <p:cNvSpPr/>
          <p:nvPr/>
        </p:nvSpPr>
        <p:spPr>
          <a:xfrm>
            <a:off x="850392" y="3273552"/>
            <a:ext cx="4833976" cy="274320"/>
          </a:xfrm>
          <a:prstGeom prst="rect">
            <a:avLst/>
          </a:prstGeom>
          <a:noFill/>
          <a:ln/>
        </p:spPr>
        <p:txBody>
          <a:bodyPr wrap="square" lIns="0" tIns="0" rIns="0" bIns="0" rtlCol="0" anchor="t"/>
          <a:lstStyle/>
          <a:p>
            <a:pPr indent="0" marL="0">
              <a:buNone/>
            </a:pPr>
            <a:r>
              <a:rPr lang="en-US" sz="1400" b="1" dirty="0">
                <a:solidFill>
                  <a:srgbClr val="16233A"/>
                </a:solidFill>
                <a:latin typeface="Cambria" pitchFamily="34" charset="0"/>
                <a:ea typeface="Cambria" pitchFamily="34" charset="-122"/>
                <a:cs typeface="Cambria" pitchFamily="34" charset="-120"/>
              </a:rPr>
              <a:t>Comparaciones y máscaras</a:t>
            </a:r>
            <a:endParaRPr lang="en-US" sz="1400" dirty="0"/>
          </a:p>
        </p:txBody>
      </p:sp>
      <p:sp>
        <p:nvSpPr>
          <p:cNvPr id="12" name="Text 10"/>
          <p:cNvSpPr/>
          <p:nvPr/>
        </p:nvSpPr>
        <p:spPr>
          <a:xfrm>
            <a:off x="850392" y="3639312"/>
            <a:ext cx="4833976" cy="749808"/>
          </a:xfrm>
          <a:prstGeom prst="rect">
            <a:avLst/>
          </a:prstGeom>
          <a:noFill/>
          <a:ln/>
        </p:spPr>
        <p:txBody>
          <a:bodyPr wrap="square" lIns="0" tIns="0" rIns="0" bIns="0" rtlCol="0" anchor="t"/>
          <a:lstStyle/>
          <a:p>
            <a:pPr indent="0" marL="0">
              <a:lnSpc>
                <a:spcPct val="122000"/>
              </a:lnSpc>
              <a:buNone/>
            </a:pPr>
            <a:r>
              <a:rPr lang="en-US" sz="1200" dirty="0">
                <a:solidFill>
                  <a:srgbClr val="2E7D8F"/>
                </a:solidFill>
                <a:latin typeface="Courier New" pitchFamily="34" charset="0"/>
                <a:ea typeface="Courier New" pitchFamily="34" charset="-122"/>
                <a:cs typeface="Courier New" pitchFamily="34" charset="-120"/>
              </a:rPr>
              <a:t>A &gt; 0</a:t>
            </a:r>
            <a:endParaRPr lang="en-US" sz="1200" dirty="0"/>
          </a:p>
          <a:p>
            <a:pPr indent="0" marL="0">
              <a:lnSpc>
                <a:spcPct val="122000"/>
              </a:lnSpc>
              <a:buNone/>
            </a:pPr>
            <a:r>
              <a:rPr lang="en-US" sz="1200" dirty="0">
                <a:solidFill>
                  <a:srgbClr val="2E7D8F"/>
                </a:solidFill>
                <a:latin typeface="Courier New" pitchFamily="34" charset="0"/>
                <a:ea typeface="Courier New" pitchFamily="34" charset="-122"/>
                <a:cs typeface="Courier New" pitchFamily="34" charset="-120"/>
              </a:rPr>
              <a:t>A == B</a:t>
            </a:r>
            <a:endParaRPr lang="en-US" sz="1200" dirty="0"/>
          </a:p>
          <a:p>
            <a:pPr indent="0" marL="0">
              <a:lnSpc>
                <a:spcPct val="122000"/>
              </a:lnSpc>
              <a:buNone/>
            </a:pPr>
            <a:r>
              <a:rPr lang="en-US" sz="1200" dirty="0">
                <a:solidFill>
                  <a:srgbClr val="2E7D8F"/>
                </a:solidFill>
                <a:latin typeface="Courier New" pitchFamily="34" charset="0"/>
                <a:ea typeface="Courier New" pitchFamily="34" charset="-122"/>
                <a:cs typeface="Courier New" pitchFamily="34" charset="-120"/>
              </a:rPr>
              <a:t>A[A &gt; 0]</a:t>
            </a:r>
            <a:endParaRPr lang="en-US" sz="1200" dirty="0"/>
          </a:p>
        </p:txBody>
      </p:sp>
      <p:sp>
        <p:nvSpPr>
          <p:cNvPr id="13" name="Shape 11"/>
          <p:cNvSpPr/>
          <p:nvPr/>
        </p:nvSpPr>
        <p:spPr>
          <a:xfrm>
            <a:off x="6251296" y="3072384"/>
            <a:ext cx="5346040" cy="1444752"/>
          </a:xfrm>
          <a:prstGeom prst="roundRect">
            <a:avLst>
              <a:gd name="adj" fmla="val 5063"/>
            </a:avLst>
          </a:prstGeom>
          <a:solidFill>
            <a:srgbClr val="F1F4F9"/>
          </a:solidFill>
          <a:ln w="12700">
            <a:solidFill>
              <a:srgbClr val="D9E1EB"/>
            </a:solidFill>
            <a:prstDash val="solid"/>
          </a:ln>
        </p:spPr>
      </p:sp>
      <p:sp>
        <p:nvSpPr>
          <p:cNvPr id="14" name="Text 12"/>
          <p:cNvSpPr/>
          <p:nvPr/>
        </p:nvSpPr>
        <p:spPr>
          <a:xfrm>
            <a:off x="6507328" y="3273552"/>
            <a:ext cx="4833976" cy="274320"/>
          </a:xfrm>
          <a:prstGeom prst="rect">
            <a:avLst/>
          </a:prstGeom>
          <a:noFill/>
          <a:ln/>
        </p:spPr>
        <p:txBody>
          <a:bodyPr wrap="square" lIns="0" tIns="0" rIns="0" bIns="0" rtlCol="0" anchor="t"/>
          <a:lstStyle/>
          <a:p>
            <a:pPr indent="0" marL="0">
              <a:buNone/>
            </a:pPr>
            <a:r>
              <a:rPr lang="en-US" sz="1400" b="1" dirty="0">
                <a:solidFill>
                  <a:srgbClr val="16233A"/>
                </a:solidFill>
                <a:latin typeface="Cambria" pitchFamily="34" charset="0"/>
                <a:ea typeface="Cambria" pitchFamily="34" charset="-122"/>
                <a:cs typeface="Cambria" pitchFamily="34" charset="-120"/>
              </a:rPr>
              <a:t>Asignación in-place</a:t>
            </a:r>
            <a:endParaRPr lang="en-US" sz="1400" dirty="0"/>
          </a:p>
        </p:txBody>
      </p:sp>
      <p:sp>
        <p:nvSpPr>
          <p:cNvPr id="15" name="Text 13"/>
          <p:cNvSpPr/>
          <p:nvPr/>
        </p:nvSpPr>
        <p:spPr>
          <a:xfrm>
            <a:off x="6507328" y="3639312"/>
            <a:ext cx="4833976" cy="749808"/>
          </a:xfrm>
          <a:prstGeom prst="rect">
            <a:avLst/>
          </a:prstGeom>
          <a:noFill/>
          <a:ln/>
        </p:spPr>
        <p:txBody>
          <a:bodyPr wrap="square" lIns="0" tIns="0" rIns="0" bIns="0" rtlCol="0" anchor="t"/>
          <a:lstStyle/>
          <a:p>
            <a:pPr indent="0" marL="0">
              <a:lnSpc>
                <a:spcPct val="122000"/>
              </a:lnSpc>
              <a:buNone/>
            </a:pPr>
            <a:r>
              <a:rPr lang="en-US" sz="1200" dirty="0">
                <a:solidFill>
                  <a:srgbClr val="2E7D8F"/>
                </a:solidFill>
                <a:latin typeface="Courier New" pitchFamily="34" charset="0"/>
                <a:ea typeface="Courier New" pitchFamily="34" charset="-122"/>
                <a:cs typeface="Courier New" pitchFamily="34" charset="-120"/>
              </a:rPr>
              <a:t>A[i, j] = 5</a:t>
            </a:r>
            <a:endParaRPr lang="en-US" sz="1200" dirty="0"/>
          </a:p>
          <a:p>
            <a:pPr indent="0" marL="0">
              <a:lnSpc>
                <a:spcPct val="122000"/>
              </a:lnSpc>
              <a:buNone/>
            </a:pPr>
            <a:r>
              <a:rPr lang="en-US" sz="1200" dirty="0">
                <a:solidFill>
                  <a:srgbClr val="2E7D8F"/>
                </a:solidFill>
                <a:latin typeface="Courier New" pitchFamily="34" charset="0"/>
                <a:ea typeface="Courier New" pitchFamily="34" charset="-122"/>
                <a:cs typeface="Courier New" pitchFamily="34" charset="-120"/>
              </a:rPr>
              <a:t>A[i, :] = A[j, :]</a:t>
            </a:r>
            <a:endParaRPr lang="en-US" sz="1200" dirty="0"/>
          </a:p>
          <a:p>
            <a:pPr indent="0" marL="0">
              <a:lnSpc>
                <a:spcPct val="122000"/>
              </a:lnSpc>
              <a:buNone/>
            </a:pPr>
            <a:r>
              <a:rPr lang="en-US" sz="1200" dirty="0">
                <a:solidFill>
                  <a:srgbClr val="2E7D8F"/>
                </a:solidFill>
                <a:latin typeface="Courier New" pitchFamily="34" charset="0"/>
                <a:ea typeface="Courier New" pitchFamily="34" charset="-122"/>
                <a:cs typeface="Courier New" pitchFamily="34" charset="-120"/>
              </a:rPr>
              <a:t>A[i, :] += s * A[j, :]</a:t>
            </a:r>
            <a:endParaRPr lang="en-US" sz="1200" dirty="0"/>
          </a:p>
        </p:txBody>
      </p:sp>
      <p:sp>
        <p:nvSpPr>
          <p:cNvPr id="16" name="Shape 14"/>
          <p:cNvSpPr/>
          <p:nvPr/>
        </p:nvSpPr>
        <p:spPr>
          <a:xfrm>
            <a:off x="594360" y="4754880"/>
            <a:ext cx="11002975" cy="1170432"/>
          </a:xfrm>
          <a:prstGeom prst="roundRect">
            <a:avLst>
              <a:gd name="adj" fmla="val 6250"/>
            </a:avLst>
          </a:prstGeom>
          <a:solidFill>
            <a:srgbClr val="FAEDEB"/>
          </a:solidFill>
          <a:ln w="12700">
            <a:solidFill>
              <a:srgbClr val="EDCFCA"/>
            </a:solidFill>
            <a:prstDash val="solid"/>
          </a:ln>
        </p:spPr>
      </p:sp>
      <p:sp>
        <p:nvSpPr>
          <p:cNvPr id="17" name="Text 15"/>
          <p:cNvSpPr/>
          <p:nvPr/>
        </p:nvSpPr>
        <p:spPr>
          <a:xfrm>
            <a:off x="886968" y="4956048"/>
            <a:ext cx="1463040" cy="274320"/>
          </a:xfrm>
          <a:prstGeom prst="rect">
            <a:avLst/>
          </a:prstGeom>
          <a:noFill/>
          <a:ln/>
        </p:spPr>
        <p:txBody>
          <a:bodyPr wrap="square" lIns="0" tIns="0" rIns="0" bIns="0" rtlCol="0" anchor="t"/>
          <a:lstStyle/>
          <a:p>
            <a:pPr indent="0" marL="0">
              <a:buNone/>
            </a:pPr>
            <a:r>
              <a:rPr lang="en-US" sz="1400" b="1" dirty="0">
                <a:solidFill>
                  <a:srgbClr val="A8453A"/>
                </a:solidFill>
                <a:latin typeface="Cambria" pitchFamily="34" charset="0"/>
                <a:ea typeface="Cambria" pitchFamily="34" charset="-122"/>
                <a:cs typeface="Cambria" pitchFamily="34" charset="-120"/>
              </a:rPr>
              <a:t>La línea fina</a:t>
            </a:r>
            <a:endParaRPr lang="en-US" sz="1400" dirty="0"/>
          </a:p>
        </p:txBody>
      </p:sp>
      <p:sp>
        <p:nvSpPr>
          <p:cNvPr id="18" name="Text 16"/>
          <p:cNvSpPr/>
          <p:nvPr/>
        </p:nvSpPr>
        <p:spPr>
          <a:xfrm>
            <a:off x="2468880" y="4937760"/>
            <a:ext cx="8808415" cy="786384"/>
          </a:xfrm>
          <a:prstGeom prst="rect">
            <a:avLst/>
          </a:prstGeom>
          <a:noFill/>
          <a:ln/>
        </p:spPr>
        <p:txBody>
          <a:bodyPr wrap="square" lIns="0" tIns="0" rIns="0" bIns="0" rtlCol="0" anchor="t"/>
          <a:lstStyle/>
          <a:p>
            <a:pPr indent="0" marL="0">
              <a:lnSpc>
                <a:spcPct val="116000"/>
              </a:lnSpc>
              <a:buNone/>
            </a:pPr>
            <a:r>
              <a:rPr lang="en-US" sz="1250" dirty="0">
                <a:solidFill>
                  <a:srgbClr val="7A4A42"/>
                </a:solidFill>
                <a:latin typeface="Calibri" pitchFamily="34" charset="0"/>
                <a:ea typeface="Calibri" pitchFamily="34" charset="-122"/>
                <a:cs typeface="Calibri" pitchFamily="34" charset="-120"/>
              </a:rPr>
              <a:t>A.T tampoco es una llamada a función: es un atributo. Pero resuelve el Ejercicio 6 entero, así que no va. El criterio no es gramatical, es de intención: si el atajo hace el trabajo que te están pidiendo hacer, no lo uses.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523"/>
        </a:solidFill>
      </p:bgPr>
    </p:bg>
    <p:spTree>
      <p:nvGrpSpPr>
        <p:cNvPr id="1" name=""/>
        <p:cNvGrpSpPr/>
        <p:nvPr/>
      </p:nvGrpSpPr>
      <p:grpSpPr>
        <a:xfrm>
          <a:off x="0" y="0"/>
          <a:ext cx="0" cy="0"/>
          <a:chOff x="0" y="0"/>
          <a:chExt cx="0" cy="0"/>
        </a:xfrm>
      </p:grpSpPr>
      <p:sp>
        <p:nvSpPr>
          <p:cNvPr id="2" name="Text 0"/>
          <p:cNvSpPr/>
          <p:nvPr/>
        </p:nvSpPr>
        <p:spPr>
          <a:xfrm>
            <a:off x="594360" y="1783080"/>
            <a:ext cx="1371600" cy="1371600"/>
          </a:xfrm>
          <a:prstGeom prst="rect">
            <a:avLst/>
          </a:prstGeom>
          <a:noFill/>
          <a:ln/>
        </p:spPr>
        <p:txBody>
          <a:bodyPr wrap="square" lIns="0" tIns="0" rIns="0" bIns="0" rtlCol="0" anchor="ctr"/>
          <a:lstStyle/>
          <a:p>
            <a:pPr indent="0" marL="0">
              <a:buNone/>
            </a:pPr>
            <a:r>
              <a:rPr lang="en-US" sz="8600" b="1" dirty="0">
                <a:solidFill>
                  <a:srgbClr val="E39A2B"/>
                </a:solidFill>
                <a:latin typeface="Cambria" pitchFamily="34" charset="0"/>
                <a:ea typeface="Cambria" pitchFamily="34" charset="-122"/>
                <a:cs typeface="Cambria" pitchFamily="34" charset="-120"/>
              </a:rPr>
              <a:t>2</a:t>
            </a:r>
            <a:endParaRPr lang="en-US" sz="8600" dirty="0"/>
          </a:p>
        </p:txBody>
      </p:sp>
      <p:sp>
        <p:nvSpPr>
          <p:cNvPr id="3" name="Text 1"/>
          <p:cNvSpPr/>
          <p:nvPr/>
        </p:nvSpPr>
        <p:spPr>
          <a:xfrm>
            <a:off x="1920240" y="1874520"/>
            <a:ext cx="749808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Numpy mínimo</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indispensable</a:t>
            </a:r>
            <a:endParaRPr lang="en-US" sz="3600" dirty="0"/>
          </a:p>
        </p:txBody>
      </p:sp>
      <p:sp>
        <p:nvSpPr>
          <p:cNvPr id="4" name="Text 2"/>
          <p:cNvSpPr/>
          <p:nvPr/>
        </p:nvSpPr>
        <p:spPr>
          <a:xfrm>
            <a:off x="1947672" y="3108960"/>
            <a:ext cx="7863840" cy="731520"/>
          </a:xfrm>
          <a:prstGeom prst="rect">
            <a:avLst/>
          </a:prstGeom>
          <a:noFill/>
          <a:ln/>
        </p:spPr>
        <p:txBody>
          <a:bodyPr wrap="square" lIns="0" tIns="0" rIns="0" bIns="0" rtlCol="0" anchor="t"/>
          <a:lstStyle/>
          <a:p>
            <a:pPr indent="0" marL="0">
              <a:buNone/>
            </a:pPr>
            <a:r>
              <a:rPr lang="en-US" sz="1500" dirty="0">
                <a:solidFill>
                  <a:srgbClr val="C8D3E4"/>
                </a:solidFill>
                <a:latin typeface="Calibri" pitchFamily="34" charset="0"/>
                <a:ea typeface="Calibri" pitchFamily="34" charset="-122"/>
                <a:cs typeface="Calibri" pitchFamily="34" charset="-120"/>
              </a:rPr>
              <a:t>Lo que de verdad vas a usar del notebook L00 — y las tres cosas que te van a morder.</a:t>
            </a:r>
            <a:endParaRPr lang="en-US" sz="1500" dirty="0"/>
          </a:p>
        </p:txBody>
      </p:sp>
      <p:sp>
        <p:nvSpPr>
          <p:cNvPr id="5" name="Shape 3"/>
          <p:cNvSpPr/>
          <p:nvPr/>
        </p:nvSpPr>
        <p:spPr>
          <a:xfrm>
            <a:off x="9646920" y="2103120"/>
            <a:ext cx="384048" cy="384048"/>
          </a:xfrm>
          <a:prstGeom prst="rect">
            <a:avLst/>
          </a:prstGeom>
          <a:solidFill>
            <a:srgbClr val="E39A2B"/>
          </a:solidFill>
          <a:ln w="12700">
            <a:solidFill>
              <a:srgbClr val="E39A2B"/>
            </a:solidFill>
            <a:prstDash val="solid"/>
          </a:ln>
        </p:spPr>
      </p:sp>
      <p:sp>
        <p:nvSpPr>
          <p:cNvPr id="6" name="Shape 4"/>
          <p:cNvSpPr/>
          <p:nvPr/>
        </p:nvSpPr>
        <p:spPr>
          <a:xfrm>
            <a:off x="10122408" y="2103120"/>
            <a:ext cx="384048" cy="384048"/>
          </a:xfrm>
          <a:prstGeom prst="rect">
            <a:avLst/>
          </a:prstGeom>
          <a:solidFill>
            <a:srgbClr val="1E2C46"/>
          </a:solidFill>
          <a:ln w="12700">
            <a:solidFill>
              <a:srgbClr val="1E2C46"/>
            </a:solidFill>
            <a:prstDash val="solid"/>
          </a:ln>
        </p:spPr>
      </p:sp>
      <p:sp>
        <p:nvSpPr>
          <p:cNvPr id="7" name="Shape 5"/>
          <p:cNvSpPr/>
          <p:nvPr/>
        </p:nvSpPr>
        <p:spPr>
          <a:xfrm>
            <a:off x="10597896" y="2103120"/>
            <a:ext cx="384048" cy="384048"/>
          </a:xfrm>
          <a:prstGeom prst="rect">
            <a:avLst/>
          </a:prstGeom>
          <a:solidFill>
            <a:srgbClr val="1E2C46"/>
          </a:solidFill>
          <a:ln w="12700">
            <a:solidFill>
              <a:srgbClr val="1E2C46"/>
            </a:solidFill>
            <a:prstDash val="solid"/>
          </a:ln>
        </p:spPr>
      </p:sp>
      <p:sp>
        <p:nvSpPr>
          <p:cNvPr id="8" name="Shape 6"/>
          <p:cNvSpPr/>
          <p:nvPr/>
        </p:nvSpPr>
        <p:spPr>
          <a:xfrm>
            <a:off x="11073384" y="2103120"/>
            <a:ext cx="384048" cy="384048"/>
          </a:xfrm>
          <a:prstGeom prst="rect">
            <a:avLst/>
          </a:prstGeom>
          <a:solidFill>
            <a:srgbClr val="1E2C46"/>
          </a:solidFill>
          <a:ln w="12700">
            <a:solidFill>
              <a:srgbClr val="1E2C46"/>
            </a:solidFill>
            <a:prstDash val="solid"/>
          </a:ln>
        </p:spPr>
      </p:sp>
      <p:sp>
        <p:nvSpPr>
          <p:cNvPr id="9" name="Shape 7"/>
          <p:cNvSpPr/>
          <p:nvPr/>
        </p:nvSpPr>
        <p:spPr>
          <a:xfrm>
            <a:off x="9646920" y="2578608"/>
            <a:ext cx="384048" cy="384048"/>
          </a:xfrm>
          <a:prstGeom prst="rect">
            <a:avLst/>
          </a:prstGeom>
          <a:solidFill>
            <a:srgbClr val="1E2C46"/>
          </a:solidFill>
          <a:ln w="12700">
            <a:solidFill>
              <a:srgbClr val="1E2C46"/>
            </a:solidFill>
            <a:prstDash val="solid"/>
          </a:ln>
        </p:spPr>
      </p:sp>
      <p:sp>
        <p:nvSpPr>
          <p:cNvPr id="10" name="Shape 8"/>
          <p:cNvSpPr/>
          <p:nvPr/>
        </p:nvSpPr>
        <p:spPr>
          <a:xfrm>
            <a:off x="10122408" y="2578608"/>
            <a:ext cx="384048" cy="384048"/>
          </a:xfrm>
          <a:prstGeom prst="rect">
            <a:avLst/>
          </a:prstGeom>
          <a:solidFill>
            <a:srgbClr val="E39A2B"/>
          </a:solidFill>
          <a:ln w="12700">
            <a:solidFill>
              <a:srgbClr val="E39A2B"/>
            </a:solidFill>
            <a:prstDash val="solid"/>
          </a:ln>
        </p:spPr>
      </p:sp>
      <p:sp>
        <p:nvSpPr>
          <p:cNvPr id="11" name="Shape 9"/>
          <p:cNvSpPr/>
          <p:nvPr/>
        </p:nvSpPr>
        <p:spPr>
          <a:xfrm>
            <a:off x="10597896" y="2578608"/>
            <a:ext cx="384048" cy="384048"/>
          </a:xfrm>
          <a:prstGeom prst="rect">
            <a:avLst/>
          </a:prstGeom>
          <a:solidFill>
            <a:srgbClr val="1E2C46"/>
          </a:solidFill>
          <a:ln w="12700">
            <a:solidFill>
              <a:srgbClr val="1E2C46"/>
            </a:solidFill>
            <a:prstDash val="solid"/>
          </a:ln>
        </p:spPr>
      </p:sp>
      <p:sp>
        <p:nvSpPr>
          <p:cNvPr id="12" name="Shape 10"/>
          <p:cNvSpPr/>
          <p:nvPr/>
        </p:nvSpPr>
        <p:spPr>
          <a:xfrm>
            <a:off x="11073384" y="2578608"/>
            <a:ext cx="384048" cy="384048"/>
          </a:xfrm>
          <a:prstGeom prst="rect">
            <a:avLst/>
          </a:prstGeom>
          <a:solidFill>
            <a:srgbClr val="1E2C46"/>
          </a:solidFill>
          <a:ln w="12700">
            <a:solidFill>
              <a:srgbClr val="1E2C46"/>
            </a:solidFill>
            <a:prstDash val="solid"/>
          </a:ln>
        </p:spPr>
      </p:sp>
      <p:sp>
        <p:nvSpPr>
          <p:cNvPr id="13" name="Shape 11"/>
          <p:cNvSpPr/>
          <p:nvPr/>
        </p:nvSpPr>
        <p:spPr>
          <a:xfrm>
            <a:off x="9646920" y="3054096"/>
            <a:ext cx="384048" cy="384048"/>
          </a:xfrm>
          <a:prstGeom prst="rect">
            <a:avLst/>
          </a:prstGeom>
          <a:solidFill>
            <a:srgbClr val="1E2C46"/>
          </a:solidFill>
          <a:ln w="12700">
            <a:solidFill>
              <a:srgbClr val="1E2C46"/>
            </a:solidFill>
            <a:prstDash val="solid"/>
          </a:ln>
        </p:spPr>
      </p:sp>
      <p:sp>
        <p:nvSpPr>
          <p:cNvPr id="14" name="Shape 12"/>
          <p:cNvSpPr/>
          <p:nvPr/>
        </p:nvSpPr>
        <p:spPr>
          <a:xfrm>
            <a:off x="10122408" y="3054096"/>
            <a:ext cx="384048" cy="384048"/>
          </a:xfrm>
          <a:prstGeom prst="rect">
            <a:avLst/>
          </a:prstGeom>
          <a:solidFill>
            <a:srgbClr val="1E2C46"/>
          </a:solidFill>
          <a:ln w="12700">
            <a:solidFill>
              <a:srgbClr val="1E2C46"/>
            </a:solidFill>
            <a:prstDash val="solid"/>
          </a:ln>
        </p:spPr>
      </p:sp>
      <p:sp>
        <p:nvSpPr>
          <p:cNvPr id="15" name="Shape 13"/>
          <p:cNvSpPr/>
          <p:nvPr/>
        </p:nvSpPr>
        <p:spPr>
          <a:xfrm>
            <a:off x="10597896" y="3054096"/>
            <a:ext cx="384048" cy="384048"/>
          </a:xfrm>
          <a:prstGeom prst="rect">
            <a:avLst/>
          </a:prstGeom>
          <a:solidFill>
            <a:srgbClr val="E39A2B"/>
          </a:solidFill>
          <a:ln w="12700">
            <a:solidFill>
              <a:srgbClr val="E39A2B"/>
            </a:solidFill>
            <a:prstDash val="solid"/>
          </a:ln>
        </p:spPr>
      </p:sp>
      <p:sp>
        <p:nvSpPr>
          <p:cNvPr id="16" name="Shape 14"/>
          <p:cNvSpPr/>
          <p:nvPr/>
        </p:nvSpPr>
        <p:spPr>
          <a:xfrm>
            <a:off x="11073384" y="3054096"/>
            <a:ext cx="384048" cy="384048"/>
          </a:xfrm>
          <a:prstGeom prst="rect">
            <a:avLst/>
          </a:prstGeom>
          <a:solidFill>
            <a:srgbClr val="1E2C46"/>
          </a:solidFill>
          <a:ln w="12700">
            <a:solidFill>
              <a:srgbClr val="1E2C46"/>
            </a:solidFill>
            <a:prstDash val="solid"/>
          </a:ln>
        </p:spPr>
      </p:sp>
      <p:sp>
        <p:nvSpPr>
          <p:cNvPr id="17" name="Shape 15"/>
          <p:cNvSpPr/>
          <p:nvPr/>
        </p:nvSpPr>
        <p:spPr>
          <a:xfrm>
            <a:off x="9646920" y="3529584"/>
            <a:ext cx="384048" cy="384048"/>
          </a:xfrm>
          <a:prstGeom prst="rect">
            <a:avLst/>
          </a:prstGeom>
          <a:solidFill>
            <a:srgbClr val="1E2C46"/>
          </a:solidFill>
          <a:ln w="12700">
            <a:solidFill>
              <a:srgbClr val="1E2C46"/>
            </a:solidFill>
            <a:prstDash val="solid"/>
          </a:ln>
        </p:spPr>
      </p:sp>
      <p:sp>
        <p:nvSpPr>
          <p:cNvPr id="18" name="Shape 16"/>
          <p:cNvSpPr/>
          <p:nvPr/>
        </p:nvSpPr>
        <p:spPr>
          <a:xfrm>
            <a:off x="10122408" y="3529584"/>
            <a:ext cx="384048" cy="384048"/>
          </a:xfrm>
          <a:prstGeom prst="rect">
            <a:avLst/>
          </a:prstGeom>
          <a:solidFill>
            <a:srgbClr val="1E2C46"/>
          </a:solidFill>
          <a:ln w="12700">
            <a:solidFill>
              <a:srgbClr val="1E2C46"/>
            </a:solidFill>
            <a:prstDash val="solid"/>
          </a:ln>
        </p:spPr>
      </p:sp>
      <p:sp>
        <p:nvSpPr>
          <p:cNvPr id="19" name="Shape 17"/>
          <p:cNvSpPr/>
          <p:nvPr/>
        </p:nvSpPr>
        <p:spPr>
          <a:xfrm>
            <a:off x="10597896" y="3529584"/>
            <a:ext cx="384048" cy="384048"/>
          </a:xfrm>
          <a:prstGeom prst="rect">
            <a:avLst/>
          </a:prstGeom>
          <a:solidFill>
            <a:srgbClr val="1E2C46"/>
          </a:solidFill>
          <a:ln w="12700">
            <a:solidFill>
              <a:srgbClr val="1E2C46"/>
            </a:solidFill>
            <a:prstDash val="solid"/>
          </a:ln>
        </p:spPr>
      </p:sp>
      <p:sp>
        <p:nvSpPr>
          <p:cNvPr id="20" name="Shape 18"/>
          <p:cNvSpPr/>
          <p:nvPr/>
        </p:nvSpPr>
        <p:spPr>
          <a:xfrm>
            <a:off x="11073384" y="3529584"/>
            <a:ext cx="384048" cy="384048"/>
          </a:xfrm>
          <a:prstGeom prst="rect">
            <a:avLst/>
          </a:prstGeom>
          <a:solidFill>
            <a:srgbClr val="E39A2B"/>
          </a:solidFill>
          <a:ln w="12700">
            <a:solidFill>
              <a:srgbClr val="E39A2B"/>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El array en sesenta segundos</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Un array es una lista con un solo tipo adentro y muchas operaciones optimizadas encima.</a:t>
            </a:r>
            <a:endParaRPr lang="en-US" sz="1300" dirty="0"/>
          </a:p>
        </p:txBody>
      </p:sp>
      <p:sp>
        <p:nvSpPr>
          <p:cNvPr id="4" name="Shape 2"/>
          <p:cNvSpPr/>
          <p:nvPr/>
        </p:nvSpPr>
        <p:spPr>
          <a:xfrm>
            <a:off x="594360" y="1444752"/>
            <a:ext cx="5532120" cy="1082467"/>
          </a:xfrm>
          <a:prstGeom prst="roundRect">
            <a:avLst>
              <a:gd name="adj" fmla="val 5068"/>
            </a:avLst>
          </a:prstGeom>
          <a:solidFill>
            <a:srgbClr val="1B2436"/>
          </a:solidFill>
          <a:ln w="12700">
            <a:solidFill>
              <a:srgbClr val="1B2436"/>
            </a:solidFill>
            <a:prstDash val="solid"/>
          </a:ln>
        </p:spPr>
      </p:sp>
      <p:sp>
        <p:nvSpPr>
          <p:cNvPr id="5" name="Text 3"/>
          <p:cNvSpPr/>
          <p:nvPr/>
        </p:nvSpPr>
        <p:spPr>
          <a:xfrm>
            <a:off x="740664" y="1581912"/>
            <a:ext cx="5239512" cy="808147"/>
          </a:xfrm>
          <a:prstGeom prst="rect">
            <a:avLst/>
          </a:prstGeom>
          <a:noFill/>
          <a:ln/>
        </p:spPr>
        <p:txBody>
          <a:bodyPr wrap="square" lIns="0" tIns="0" rIns="0" bIns="0" rtlCol="0" anchor="t"/>
          <a:lstStyle/>
          <a:p>
            <a:pPr indent="0" marL="0">
              <a:lnSpc>
                <a:spcPct val="110000"/>
              </a:lnSpc>
              <a:buNone/>
            </a:pPr>
            <a:r>
              <a:rPr lang="en-US" sz="1200" dirty="0">
                <a:solidFill>
                  <a:srgbClr val="E6ECF5"/>
                </a:solidFill>
                <a:latin typeface="Courier New" pitchFamily="34" charset="0"/>
                <a:ea typeface="Courier New" pitchFamily="34" charset="-122"/>
                <a:cs typeface="Courier New" pitchFamily="34" charset="-120"/>
              </a:rPr>
              <a:t>A = np.array([[1, 2, 3, 4],</a:t>
            </a:r>
            <a:endParaRPr lang="en-US" sz="1200" dirty="0"/>
          </a:p>
          <a:p>
            <a:pPr indent="0" marL="0">
              <a:lnSpc>
                <a:spcPct val="110000"/>
              </a:lnSpc>
              <a:buNone/>
            </a:pPr>
            <a:r>
              <a:rPr lang="en-US" sz="1200" dirty="0">
                <a:solidFill>
                  <a:srgbClr val="E6ECF5"/>
                </a:solidFill>
                <a:latin typeface="Courier New" pitchFamily="34" charset="0"/>
                <a:ea typeface="Courier New" pitchFamily="34" charset="-122"/>
                <a:cs typeface="Courier New" pitchFamily="34" charset="-120"/>
              </a:rPr>
              <a:t>              [5, 6, 7, 8],</a:t>
            </a:r>
            <a:endParaRPr lang="en-US" sz="1200" dirty="0"/>
          </a:p>
          <a:p>
            <a:pPr indent="0" marL="0">
              <a:lnSpc>
                <a:spcPct val="110000"/>
              </a:lnSpc>
              <a:buNone/>
            </a:pPr>
            <a:r>
              <a:rPr lang="en-US" sz="1200" dirty="0">
                <a:solidFill>
                  <a:srgbClr val="E6ECF5"/>
                </a:solidFill>
                <a:latin typeface="Courier New" pitchFamily="34" charset="0"/>
                <a:ea typeface="Courier New" pitchFamily="34" charset="-122"/>
                <a:cs typeface="Courier New" pitchFamily="34" charset="-120"/>
              </a:rPr>
              <a:t>              [9, 10, 11, 12]])</a:t>
            </a:r>
            <a:endParaRPr lang="en-US" sz="1200" dirty="0"/>
          </a:p>
        </p:txBody>
      </p:sp>
      <p:sp>
        <p:nvSpPr>
          <p:cNvPr id="6" name="Text 4"/>
          <p:cNvSpPr/>
          <p:nvPr/>
        </p:nvSpPr>
        <p:spPr>
          <a:xfrm>
            <a:off x="630936" y="2743200"/>
            <a:ext cx="1051560" cy="274320"/>
          </a:xfrm>
          <a:prstGeom prst="rect">
            <a:avLst/>
          </a:prstGeom>
          <a:noFill/>
          <a:ln/>
        </p:spPr>
        <p:txBody>
          <a:bodyPr wrap="square" lIns="0" tIns="0" rIns="0" bIns="0" rtlCol="0" anchor="t"/>
          <a:lstStyle/>
          <a:p>
            <a:pPr indent="0" marL="0">
              <a:buNone/>
            </a:pPr>
            <a:r>
              <a:rPr lang="en-US" sz="1300" b="1" dirty="0">
                <a:solidFill>
                  <a:srgbClr val="2E7D8F"/>
                </a:solidFill>
                <a:latin typeface="Courier New" pitchFamily="34" charset="0"/>
                <a:ea typeface="Courier New" pitchFamily="34" charset="-122"/>
                <a:cs typeface="Courier New" pitchFamily="34" charset="-120"/>
              </a:rPr>
              <a:t>.shape</a:t>
            </a:r>
            <a:endParaRPr lang="en-US" sz="1300" dirty="0"/>
          </a:p>
        </p:txBody>
      </p:sp>
      <p:sp>
        <p:nvSpPr>
          <p:cNvPr id="7" name="Text 5"/>
          <p:cNvSpPr/>
          <p:nvPr/>
        </p:nvSpPr>
        <p:spPr>
          <a:xfrm>
            <a:off x="1764792" y="2743200"/>
            <a:ext cx="1051560" cy="274320"/>
          </a:xfrm>
          <a:prstGeom prst="rect">
            <a:avLst/>
          </a:prstGeom>
          <a:noFill/>
          <a:ln/>
        </p:spPr>
        <p:txBody>
          <a:bodyPr wrap="square" lIns="0" tIns="0" rIns="0" bIns="0" rtlCol="0" anchor="t"/>
          <a:lstStyle/>
          <a:p>
            <a:pPr indent="0" marL="0">
              <a:buNone/>
            </a:pPr>
            <a:r>
              <a:rPr lang="en-US" sz="1300" dirty="0">
                <a:solidFill>
                  <a:srgbClr val="16233A"/>
                </a:solidFill>
                <a:latin typeface="Courier New" pitchFamily="34" charset="0"/>
                <a:ea typeface="Courier New" pitchFamily="34" charset="-122"/>
                <a:cs typeface="Courier New" pitchFamily="34" charset="-120"/>
              </a:rPr>
              <a:t>(3, 4)</a:t>
            </a:r>
            <a:endParaRPr lang="en-US" sz="1300" dirty="0"/>
          </a:p>
        </p:txBody>
      </p:sp>
      <p:sp>
        <p:nvSpPr>
          <p:cNvPr id="8" name="Text 6"/>
          <p:cNvSpPr/>
          <p:nvPr/>
        </p:nvSpPr>
        <p:spPr>
          <a:xfrm>
            <a:off x="2926080" y="2743200"/>
            <a:ext cx="3246120" cy="274320"/>
          </a:xfrm>
          <a:prstGeom prst="rect">
            <a:avLst/>
          </a:prstGeom>
          <a:noFill/>
          <a:ln/>
        </p:spPr>
        <p:txBody>
          <a:bodyPr wrap="square" lIns="0" tIns="0" rIns="0" bIns="0" rtlCol="0" anchor="t"/>
          <a:lstStyle/>
          <a:p>
            <a:pPr indent="0" marL="0">
              <a:buNone/>
            </a:pPr>
            <a:r>
              <a:rPr lang="en-US" sz="1200" dirty="0">
                <a:solidFill>
                  <a:srgbClr val="6B7A90"/>
                </a:solidFill>
                <a:latin typeface="Calibri" pitchFamily="34" charset="0"/>
                <a:ea typeface="Calibri" pitchFamily="34" charset="-122"/>
                <a:cs typeface="Calibri" pitchFamily="34" charset="-120"/>
              </a:rPr>
              <a:t>tupla (filas, columnas) — PERMITIDA</a:t>
            </a:r>
            <a:endParaRPr lang="en-US" sz="1200" dirty="0"/>
          </a:p>
        </p:txBody>
      </p:sp>
      <p:sp>
        <p:nvSpPr>
          <p:cNvPr id="9" name="Text 7"/>
          <p:cNvSpPr/>
          <p:nvPr/>
        </p:nvSpPr>
        <p:spPr>
          <a:xfrm>
            <a:off x="630936" y="3218688"/>
            <a:ext cx="1051560" cy="274320"/>
          </a:xfrm>
          <a:prstGeom prst="rect">
            <a:avLst/>
          </a:prstGeom>
          <a:noFill/>
          <a:ln/>
        </p:spPr>
        <p:txBody>
          <a:bodyPr wrap="square" lIns="0" tIns="0" rIns="0" bIns="0" rtlCol="0" anchor="t"/>
          <a:lstStyle/>
          <a:p>
            <a:pPr indent="0" marL="0">
              <a:buNone/>
            </a:pPr>
            <a:r>
              <a:rPr lang="en-US" sz="1300" b="1" dirty="0">
                <a:solidFill>
                  <a:srgbClr val="2E7D8F"/>
                </a:solidFill>
                <a:latin typeface="Courier New" pitchFamily="34" charset="0"/>
                <a:ea typeface="Courier New" pitchFamily="34" charset="-122"/>
                <a:cs typeface="Courier New" pitchFamily="34" charset="-120"/>
              </a:rPr>
              <a:t>.ndim</a:t>
            </a:r>
            <a:endParaRPr lang="en-US" sz="1300" dirty="0"/>
          </a:p>
        </p:txBody>
      </p:sp>
      <p:sp>
        <p:nvSpPr>
          <p:cNvPr id="10" name="Text 8"/>
          <p:cNvSpPr/>
          <p:nvPr/>
        </p:nvSpPr>
        <p:spPr>
          <a:xfrm>
            <a:off x="1764792" y="3218688"/>
            <a:ext cx="1051560" cy="274320"/>
          </a:xfrm>
          <a:prstGeom prst="rect">
            <a:avLst/>
          </a:prstGeom>
          <a:noFill/>
          <a:ln/>
        </p:spPr>
        <p:txBody>
          <a:bodyPr wrap="square" lIns="0" tIns="0" rIns="0" bIns="0" rtlCol="0" anchor="t"/>
          <a:lstStyle/>
          <a:p>
            <a:pPr indent="0" marL="0">
              <a:buNone/>
            </a:pPr>
            <a:r>
              <a:rPr lang="en-US" sz="1300" dirty="0">
                <a:solidFill>
                  <a:srgbClr val="16233A"/>
                </a:solidFill>
                <a:latin typeface="Courier New" pitchFamily="34" charset="0"/>
                <a:ea typeface="Courier New" pitchFamily="34" charset="-122"/>
                <a:cs typeface="Courier New" pitchFamily="34" charset="-120"/>
              </a:rPr>
              <a:t>2</a:t>
            </a:r>
            <a:endParaRPr lang="en-US" sz="1300" dirty="0"/>
          </a:p>
        </p:txBody>
      </p:sp>
      <p:sp>
        <p:nvSpPr>
          <p:cNvPr id="11" name="Text 9"/>
          <p:cNvSpPr/>
          <p:nvPr/>
        </p:nvSpPr>
        <p:spPr>
          <a:xfrm>
            <a:off x="2926080" y="3218688"/>
            <a:ext cx="3246120" cy="274320"/>
          </a:xfrm>
          <a:prstGeom prst="rect">
            <a:avLst/>
          </a:prstGeom>
          <a:noFill/>
          <a:ln/>
        </p:spPr>
        <p:txBody>
          <a:bodyPr wrap="square" lIns="0" tIns="0" rIns="0" bIns="0" rtlCol="0" anchor="t"/>
          <a:lstStyle/>
          <a:p>
            <a:pPr indent="0" marL="0">
              <a:buNone/>
            </a:pPr>
            <a:r>
              <a:rPr lang="en-US" sz="1200" dirty="0">
                <a:solidFill>
                  <a:srgbClr val="6B7A90"/>
                </a:solidFill>
                <a:latin typeface="Calibri" pitchFamily="34" charset="0"/>
                <a:ea typeface="Calibri" pitchFamily="34" charset="-122"/>
                <a:cs typeface="Calibri" pitchFamily="34" charset="-120"/>
              </a:rPr>
              <a:t>cantidad de dimensiones</a:t>
            </a:r>
            <a:endParaRPr lang="en-US" sz="1200" dirty="0"/>
          </a:p>
        </p:txBody>
      </p:sp>
      <p:sp>
        <p:nvSpPr>
          <p:cNvPr id="12" name="Text 10"/>
          <p:cNvSpPr/>
          <p:nvPr/>
        </p:nvSpPr>
        <p:spPr>
          <a:xfrm>
            <a:off x="630936" y="3694176"/>
            <a:ext cx="1051560" cy="274320"/>
          </a:xfrm>
          <a:prstGeom prst="rect">
            <a:avLst/>
          </a:prstGeom>
          <a:noFill/>
          <a:ln/>
        </p:spPr>
        <p:txBody>
          <a:bodyPr wrap="square" lIns="0" tIns="0" rIns="0" bIns="0" rtlCol="0" anchor="t"/>
          <a:lstStyle/>
          <a:p>
            <a:pPr indent="0" marL="0">
              <a:buNone/>
            </a:pPr>
            <a:r>
              <a:rPr lang="en-US" sz="1300" b="1" dirty="0">
                <a:solidFill>
                  <a:srgbClr val="2E7D8F"/>
                </a:solidFill>
                <a:latin typeface="Courier New" pitchFamily="34" charset="0"/>
                <a:ea typeface="Courier New" pitchFamily="34" charset="-122"/>
                <a:cs typeface="Courier New" pitchFamily="34" charset="-120"/>
              </a:rPr>
              <a:t>.size</a:t>
            </a:r>
            <a:endParaRPr lang="en-US" sz="1300" dirty="0"/>
          </a:p>
        </p:txBody>
      </p:sp>
      <p:sp>
        <p:nvSpPr>
          <p:cNvPr id="13" name="Text 11"/>
          <p:cNvSpPr/>
          <p:nvPr/>
        </p:nvSpPr>
        <p:spPr>
          <a:xfrm>
            <a:off x="1764792" y="3694176"/>
            <a:ext cx="1051560" cy="274320"/>
          </a:xfrm>
          <a:prstGeom prst="rect">
            <a:avLst/>
          </a:prstGeom>
          <a:noFill/>
          <a:ln/>
        </p:spPr>
        <p:txBody>
          <a:bodyPr wrap="square" lIns="0" tIns="0" rIns="0" bIns="0" rtlCol="0" anchor="t"/>
          <a:lstStyle/>
          <a:p>
            <a:pPr indent="0" marL="0">
              <a:buNone/>
            </a:pPr>
            <a:r>
              <a:rPr lang="en-US" sz="1300" dirty="0">
                <a:solidFill>
                  <a:srgbClr val="16233A"/>
                </a:solidFill>
                <a:latin typeface="Courier New" pitchFamily="34" charset="0"/>
                <a:ea typeface="Courier New" pitchFamily="34" charset="-122"/>
                <a:cs typeface="Courier New" pitchFamily="34" charset="-120"/>
              </a:rPr>
              <a:t>12</a:t>
            </a:r>
            <a:endParaRPr lang="en-US" sz="1300" dirty="0"/>
          </a:p>
        </p:txBody>
      </p:sp>
      <p:sp>
        <p:nvSpPr>
          <p:cNvPr id="14" name="Text 12"/>
          <p:cNvSpPr/>
          <p:nvPr/>
        </p:nvSpPr>
        <p:spPr>
          <a:xfrm>
            <a:off x="2926080" y="3694176"/>
            <a:ext cx="3246120" cy="274320"/>
          </a:xfrm>
          <a:prstGeom prst="rect">
            <a:avLst/>
          </a:prstGeom>
          <a:noFill/>
          <a:ln/>
        </p:spPr>
        <p:txBody>
          <a:bodyPr wrap="square" lIns="0" tIns="0" rIns="0" bIns="0" rtlCol="0" anchor="t"/>
          <a:lstStyle/>
          <a:p>
            <a:pPr indent="0" marL="0">
              <a:buNone/>
            </a:pPr>
            <a:r>
              <a:rPr lang="en-US" sz="1200" dirty="0">
                <a:solidFill>
                  <a:srgbClr val="6B7A90"/>
                </a:solidFill>
                <a:latin typeface="Calibri" pitchFamily="34" charset="0"/>
                <a:ea typeface="Calibri" pitchFamily="34" charset="-122"/>
                <a:cs typeface="Calibri" pitchFamily="34" charset="-120"/>
              </a:rPr>
              <a:t>cantidad total de elementos</a:t>
            </a:r>
            <a:endParaRPr lang="en-US" sz="1200" dirty="0"/>
          </a:p>
        </p:txBody>
      </p:sp>
      <p:sp>
        <p:nvSpPr>
          <p:cNvPr id="15" name="Text 13"/>
          <p:cNvSpPr/>
          <p:nvPr/>
        </p:nvSpPr>
        <p:spPr>
          <a:xfrm>
            <a:off x="630936" y="4169664"/>
            <a:ext cx="1051560" cy="274320"/>
          </a:xfrm>
          <a:prstGeom prst="rect">
            <a:avLst/>
          </a:prstGeom>
          <a:noFill/>
          <a:ln/>
        </p:spPr>
        <p:txBody>
          <a:bodyPr wrap="square" lIns="0" tIns="0" rIns="0" bIns="0" rtlCol="0" anchor="t"/>
          <a:lstStyle/>
          <a:p>
            <a:pPr indent="0" marL="0">
              <a:buNone/>
            </a:pPr>
            <a:r>
              <a:rPr lang="en-US" sz="1300" b="1" dirty="0">
                <a:solidFill>
                  <a:srgbClr val="2E7D8F"/>
                </a:solidFill>
                <a:latin typeface="Courier New" pitchFamily="34" charset="0"/>
                <a:ea typeface="Courier New" pitchFamily="34" charset="-122"/>
                <a:cs typeface="Courier New" pitchFamily="34" charset="-120"/>
              </a:rPr>
              <a:t>.dtype</a:t>
            </a:r>
            <a:endParaRPr lang="en-US" sz="1300" dirty="0"/>
          </a:p>
        </p:txBody>
      </p:sp>
      <p:sp>
        <p:nvSpPr>
          <p:cNvPr id="16" name="Text 14"/>
          <p:cNvSpPr/>
          <p:nvPr/>
        </p:nvSpPr>
        <p:spPr>
          <a:xfrm>
            <a:off x="1764792" y="4169664"/>
            <a:ext cx="1051560" cy="274320"/>
          </a:xfrm>
          <a:prstGeom prst="rect">
            <a:avLst/>
          </a:prstGeom>
          <a:noFill/>
          <a:ln/>
        </p:spPr>
        <p:txBody>
          <a:bodyPr wrap="square" lIns="0" tIns="0" rIns="0" bIns="0" rtlCol="0" anchor="t"/>
          <a:lstStyle/>
          <a:p>
            <a:pPr indent="0" marL="0">
              <a:buNone/>
            </a:pPr>
            <a:r>
              <a:rPr lang="en-US" sz="1300" dirty="0">
                <a:solidFill>
                  <a:srgbClr val="16233A"/>
                </a:solidFill>
                <a:latin typeface="Courier New" pitchFamily="34" charset="0"/>
                <a:ea typeface="Courier New" pitchFamily="34" charset="-122"/>
                <a:cs typeface="Courier New" pitchFamily="34" charset="-120"/>
              </a:rPr>
              <a:t>int64</a:t>
            </a:r>
            <a:endParaRPr lang="en-US" sz="1300" dirty="0"/>
          </a:p>
        </p:txBody>
      </p:sp>
      <p:sp>
        <p:nvSpPr>
          <p:cNvPr id="17" name="Text 15"/>
          <p:cNvSpPr/>
          <p:nvPr/>
        </p:nvSpPr>
        <p:spPr>
          <a:xfrm>
            <a:off x="2926080" y="4169664"/>
            <a:ext cx="3246120" cy="274320"/>
          </a:xfrm>
          <a:prstGeom prst="rect">
            <a:avLst/>
          </a:prstGeom>
          <a:noFill/>
          <a:ln/>
        </p:spPr>
        <p:txBody>
          <a:bodyPr wrap="square" lIns="0" tIns="0" rIns="0" bIns="0" rtlCol="0" anchor="t"/>
          <a:lstStyle/>
          <a:p>
            <a:pPr indent="0" marL="0">
              <a:buNone/>
            </a:pPr>
            <a:r>
              <a:rPr lang="en-US" sz="1200" dirty="0">
                <a:solidFill>
                  <a:srgbClr val="6B7A90"/>
                </a:solidFill>
                <a:latin typeface="Calibri" pitchFamily="34" charset="0"/>
                <a:ea typeface="Calibri" pitchFamily="34" charset="-122"/>
                <a:cs typeface="Calibri" pitchFamily="34" charset="-120"/>
              </a:rPr>
              <a:t>el tipo de TODOS los elementos</a:t>
            </a:r>
            <a:endParaRPr lang="en-US" sz="1200" dirty="0"/>
          </a:p>
        </p:txBody>
      </p:sp>
      <p:sp>
        <p:nvSpPr>
          <p:cNvPr id="18" name="Shape 16"/>
          <p:cNvSpPr/>
          <p:nvPr/>
        </p:nvSpPr>
        <p:spPr>
          <a:xfrm>
            <a:off x="6537960" y="1444752"/>
            <a:ext cx="5056632" cy="1810512"/>
          </a:xfrm>
          <a:prstGeom prst="roundRect">
            <a:avLst>
              <a:gd name="adj" fmla="val 4040"/>
            </a:avLst>
          </a:prstGeom>
          <a:solidFill>
            <a:srgbClr val="E8F1F3"/>
          </a:solidFill>
          <a:ln w="12700">
            <a:solidFill>
              <a:srgbClr val="CFE0E4"/>
            </a:solidFill>
            <a:prstDash val="solid"/>
          </a:ln>
        </p:spPr>
      </p:sp>
      <p:sp>
        <p:nvSpPr>
          <p:cNvPr id="19" name="Text 17"/>
          <p:cNvSpPr/>
          <p:nvPr/>
        </p:nvSpPr>
        <p:spPr>
          <a:xfrm>
            <a:off x="6812280" y="1664208"/>
            <a:ext cx="4507992" cy="274320"/>
          </a:xfrm>
          <a:prstGeom prst="rect">
            <a:avLst/>
          </a:prstGeom>
          <a:noFill/>
          <a:ln/>
        </p:spPr>
        <p:txBody>
          <a:bodyPr wrap="square" lIns="0" tIns="0" rIns="0" bIns="0" rtlCol="0" anchor="t"/>
          <a:lstStyle/>
          <a:p>
            <a:pPr indent="0" marL="0">
              <a:buNone/>
            </a:pPr>
            <a:r>
              <a:rPr lang="en-US" sz="1500" b="1" dirty="0">
                <a:solidFill>
                  <a:srgbClr val="2E7D8F"/>
                </a:solidFill>
                <a:latin typeface="Cambria" pitchFamily="34" charset="0"/>
                <a:ea typeface="Cambria" pitchFamily="34" charset="-122"/>
                <a:cs typeface="Cambria" pitchFamily="34" charset="-120"/>
              </a:rPr>
              <a:t>Un solo tipo adentro</a:t>
            </a:r>
            <a:endParaRPr lang="en-US" sz="1500" dirty="0"/>
          </a:p>
        </p:txBody>
      </p:sp>
      <p:sp>
        <p:nvSpPr>
          <p:cNvPr id="20" name="Text 18"/>
          <p:cNvSpPr/>
          <p:nvPr/>
        </p:nvSpPr>
        <p:spPr>
          <a:xfrm>
            <a:off x="6812280" y="2048256"/>
            <a:ext cx="4507992" cy="1005840"/>
          </a:xfrm>
          <a:prstGeom prst="rect">
            <a:avLst/>
          </a:prstGeom>
          <a:noFill/>
          <a:ln/>
        </p:spPr>
        <p:txBody>
          <a:bodyPr wrap="square" lIns="0" tIns="0" rIns="0" bIns="0" rtlCol="0" anchor="t"/>
          <a:lstStyle/>
          <a:p>
            <a:pPr indent="0" marL="0">
              <a:lnSpc>
                <a:spcPct val="116000"/>
              </a:lnSpc>
              <a:buNone/>
            </a:pPr>
            <a:r>
              <a:rPr lang="en-US" sz="1250" dirty="0">
                <a:solidFill>
                  <a:srgbClr val="2B3648"/>
                </a:solidFill>
                <a:latin typeface="Calibri" pitchFamily="34" charset="0"/>
                <a:ea typeface="Calibri" pitchFamily="34" charset="-122"/>
                <a:cs typeface="Calibri" pitchFamily="34" charset="-120"/>
              </a:rPr>
              <a:t>A diferencia de una lista de Python, un array no puede mezclar enteros y floats. Eso es lo que lo hace rápido — y lo que te va a morder en el próximo slide.</a:t>
            </a:r>
            <a:endParaRPr lang="en-US" sz="1250" dirty="0"/>
          </a:p>
        </p:txBody>
      </p:sp>
      <p:sp>
        <p:nvSpPr>
          <p:cNvPr id="21" name="Shape 19"/>
          <p:cNvSpPr/>
          <p:nvPr/>
        </p:nvSpPr>
        <p:spPr>
          <a:xfrm>
            <a:off x="6537960" y="3493008"/>
            <a:ext cx="5056632" cy="1920240"/>
          </a:xfrm>
          <a:prstGeom prst="roundRect">
            <a:avLst>
              <a:gd name="adj" fmla="val 3810"/>
            </a:avLst>
          </a:prstGeom>
          <a:solidFill>
            <a:srgbClr val="F1F4F9"/>
          </a:solidFill>
          <a:ln w="12700">
            <a:solidFill>
              <a:srgbClr val="D9E1EB"/>
            </a:solidFill>
            <a:prstDash val="solid"/>
          </a:ln>
        </p:spPr>
      </p:sp>
      <p:sp>
        <p:nvSpPr>
          <p:cNvPr id="22" name="Text 20"/>
          <p:cNvSpPr/>
          <p:nvPr/>
        </p:nvSpPr>
        <p:spPr>
          <a:xfrm>
            <a:off x="6812280" y="3712464"/>
            <a:ext cx="4507992" cy="274320"/>
          </a:xfrm>
          <a:prstGeom prst="rect">
            <a:avLst/>
          </a:prstGeom>
          <a:noFill/>
          <a:ln/>
        </p:spPr>
        <p:txBody>
          <a:bodyPr wrap="square" lIns="0" tIns="0" rIns="0" bIns="0" rtlCol="0" anchor="t"/>
          <a:lstStyle/>
          <a:p>
            <a:pPr indent="0" marL="0">
              <a:buNone/>
            </a:pPr>
            <a:r>
              <a:rPr lang="en-US" sz="1500" b="1" dirty="0">
                <a:solidFill>
                  <a:srgbClr val="16233A"/>
                </a:solidFill>
                <a:latin typeface="Cambria" pitchFamily="34" charset="0"/>
                <a:ea typeface="Cambria" pitchFamily="34" charset="-122"/>
                <a:cs typeface="Cambria" pitchFamily="34" charset="-120"/>
              </a:rPr>
              <a:t>Para los tests, no para librerias.py</a:t>
            </a:r>
            <a:endParaRPr lang="en-US" sz="1500" dirty="0"/>
          </a:p>
        </p:txBody>
      </p:sp>
      <p:sp>
        <p:nvSpPr>
          <p:cNvPr id="23" name="Text 21"/>
          <p:cNvSpPr/>
          <p:nvPr/>
        </p:nvSpPr>
        <p:spPr>
          <a:xfrm>
            <a:off x="6812280" y="4096512"/>
            <a:ext cx="4507992" cy="1097280"/>
          </a:xfrm>
          <a:prstGeom prst="rect">
            <a:avLst/>
          </a:prstGeom>
          <a:noFill/>
          <a:ln/>
        </p:spPr>
        <p:txBody>
          <a:bodyPr wrap="square" lIns="0" tIns="0" rIns="0" bIns="0" rtlCol="0" anchor="t"/>
          <a:lstStyle/>
          <a:p>
            <a:pPr indent="0" marL="0">
              <a:lnSpc>
                <a:spcPct val="116000"/>
              </a:lnSpc>
              <a:buNone/>
            </a:pPr>
            <a:r>
              <a:rPr lang="en-US" sz="1250" dirty="0">
                <a:solidFill>
                  <a:srgbClr val="2B3648"/>
                </a:solidFill>
                <a:latin typeface="Calibri" pitchFamily="34" charset="0"/>
                <a:ea typeface="Calibri" pitchFamily="34" charset="-122"/>
                <a:cs typeface="Calibri" pitchFamily="34" charset="-120"/>
              </a:rPr>
              <a:t>np.arange, np.linspace, np.random.rand y np.ones son cómodas para generar casos de prueba. Si las usás, que sea en tu archivo de tests, nunca dentro de las funciones que entregás.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dtype: la trampa de los enteros</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El error más frustrante del labo, porque no siempre avisa.</a:t>
            </a:r>
            <a:endParaRPr lang="en-US" sz="1300" dirty="0"/>
          </a:p>
        </p:txBody>
      </p:sp>
      <p:sp>
        <p:nvSpPr>
          <p:cNvPr id="4" name="Text 2"/>
          <p:cNvSpPr/>
          <p:nvPr/>
        </p:nvSpPr>
        <p:spPr>
          <a:xfrm>
            <a:off x="594360" y="1444752"/>
            <a:ext cx="11002975" cy="310896"/>
          </a:xfrm>
          <a:prstGeom prst="rect">
            <a:avLst/>
          </a:prstGeom>
          <a:noFill/>
          <a:ln/>
        </p:spPr>
        <p:txBody>
          <a:bodyPr wrap="square" lIns="0" tIns="0" rIns="0" bIns="0" rtlCol="0" anchor="t"/>
          <a:lstStyle/>
          <a:p>
            <a:pPr indent="0" marL="0">
              <a:buNone/>
            </a:pPr>
            <a:r>
              <a:rPr lang="en-US" sz="1300" dirty="0">
                <a:solidFill>
                  <a:srgbClr val="2B3648"/>
                </a:solidFill>
                <a:latin typeface="Calibri" pitchFamily="34" charset="0"/>
                <a:ea typeface="Calibri" pitchFamily="34" charset="-122"/>
                <a:cs typeface="Calibri" pitchFamily="34" charset="-120"/>
              </a:rPr>
              <a:t>np.array de una lista de enteros te da un array de enteros. Y un array de enteros se niega a guardar un resultado con decimales:</a:t>
            </a:r>
            <a:endParaRPr lang="en-US" sz="1300" dirty="0"/>
          </a:p>
        </p:txBody>
      </p:sp>
      <p:sp>
        <p:nvSpPr>
          <p:cNvPr id="5" name="Shape 3"/>
          <p:cNvSpPr/>
          <p:nvPr/>
        </p:nvSpPr>
        <p:spPr>
          <a:xfrm>
            <a:off x="594360" y="1865376"/>
            <a:ext cx="5336896" cy="2026859"/>
          </a:xfrm>
          <a:prstGeom prst="roundRect">
            <a:avLst>
              <a:gd name="adj" fmla="val 2707"/>
            </a:avLst>
          </a:prstGeom>
          <a:solidFill>
            <a:srgbClr val="1B2436"/>
          </a:solidFill>
          <a:ln w="12700">
            <a:solidFill>
              <a:srgbClr val="1B2436"/>
            </a:solidFill>
            <a:prstDash val="solid"/>
          </a:ln>
        </p:spPr>
      </p:sp>
      <p:sp>
        <p:nvSpPr>
          <p:cNvPr id="6" name="Text 4"/>
          <p:cNvSpPr/>
          <p:nvPr/>
        </p:nvSpPr>
        <p:spPr>
          <a:xfrm>
            <a:off x="740664" y="2002536"/>
            <a:ext cx="5044288" cy="1752539"/>
          </a:xfrm>
          <a:prstGeom prst="rect">
            <a:avLst/>
          </a:prstGeom>
          <a:noFill/>
          <a:ln/>
        </p:spPr>
        <p:txBody>
          <a:bodyPr wrap="square" lIns="0" tIns="0" rIns="0" bIns="0" rtlCol="0" anchor="t"/>
          <a:lstStyle/>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A = np.array([[1, 2],</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[3, 4]])   # dtype int64</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A[0, :] -= 0.5 * A[1, :]</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UFuncOutputCastingError, o bien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truncamiento silencioso segun version</a:t>
            </a:r>
            <a:endParaRPr lang="en-US" sz="1100" dirty="0"/>
          </a:p>
        </p:txBody>
      </p:sp>
      <p:sp>
        <p:nvSpPr>
          <p:cNvPr id="7" name="Shape 5"/>
          <p:cNvSpPr/>
          <p:nvPr/>
        </p:nvSpPr>
        <p:spPr>
          <a:xfrm>
            <a:off x="6260440" y="1865376"/>
            <a:ext cx="5336896" cy="1938528"/>
          </a:xfrm>
          <a:prstGeom prst="roundRect">
            <a:avLst>
              <a:gd name="adj" fmla="val 3774"/>
            </a:avLst>
          </a:prstGeom>
          <a:solidFill>
            <a:srgbClr val="E8F1F3"/>
          </a:solidFill>
          <a:ln w="12700">
            <a:solidFill>
              <a:srgbClr val="CFE0E4"/>
            </a:solidFill>
            <a:prstDash val="solid"/>
          </a:ln>
        </p:spPr>
      </p:sp>
      <p:sp>
        <p:nvSpPr>
          <p:cNvPr id="8" name="Text 6"/>
          <p:cNvSpPr/>
          <p:nvPr/>
        </p:nvSpPr>
        <p:spPr>
          <a:xfrm>
            <a:off x="6534760" y="2066544"/>
            <a:ext cx="4788256" cy="274320"/>
          </a:xfrm>
          <a:prstGeom prst="rect">
            <a:avLst/>
          </a:prstGeom>
          <a:noFill/>
          <a:ln/>
        </p:spPr>
        <p:txBody>
          <a:bodyPr wrap="square" lIns="0" tIns="0" rIns="0" bIns="0" rtlCol="0" anchor="t"/>
          <a:lstStyle/>
          <a:p>
            <a:pPr indent="0" marL="0">
              <a:buNone/>
            </a:pPr>
            <a:r>
              <a:rPr lang="en-US" sz="1400" b="1" dirty="0">
                <a:solidFill>
                  <a:srgbClr val="2E7D8F"/>
                </a:solidFill>
                <a:latin typeface="Cambria" pitchFamily="34" charset="0"/>
                <a:ea typeface="Cambria" pitchFamily="34" charset="-122"/>
                <a:cs typeface="Cambria" pitchFamily="34" charset="-120"/>
              </a:rPr>
              <a:t>Por eso escalonar_filas arranca así</a:t>
            </a:r>
            <a:endParaRPr lang="en-US" sz="1400" dirty="0"/>
          </a:p>
        </p:txBody>
      </p:sp>
      <p:sp>
        <p:nvSpPr>
          <p:cNvPr id="9" name="Shape 7"/>
          <p:cNvSpPr/>
          <p:nvPr/>
        </p:nvSpPr>
        <p:spPr>
          <a:xfrm>
            <a:off x="6534760" y="2432304"/>
            <a:ext cx="4788256" cy="737006"/>
          </a:xfrm>
          <a:prstGeom prst="roundRect">
            <a:avLst>
              <a:gd name="adj" fmla="val 7444"/>
            </a:avLst>
          </a:prstGeom>
          <a:solidFill>
            <a:srgbClr val="1B2436"/>
          </a:solidFill>
          <a:ln w="12700">
            <a:solidFill>
              <a:srgbClr val="1B2436"/>
            </a:solidFill>
            <a:prstDash val="solid"/>
          </a:ln>
        </p:spPr>
      </p:sp>
      <p:sp>
        <p:nvSpPr>
          <p:cNvPr id="10" name="Text 8"/>
          <p:cNvSpPr/>
          <p:nvPr/>
        </p:nvSpPr>
        <p:spPr>
          <a:xfrm>
            <a:off x="6681064" y="2569464"/>
            <a:ext cx="4495648" cy="462686"/>
          </a:xfrm>
          <a:prstGeom prst="rect">
            <a:avLst/>
          </a:prstGeom>
          <a:noFill/>
          <a:ln/>
        </p:spPr>
        <p:txBody>
          <a:bodyPr wrap="square" lIns="0" tIns="0" rIns="0" bIns="0" rtlCol="0" anchor="t"/>
          <a:lstStyle/>
          <a:p>
            <a:pPr indent="0" marL="0">
              <a:lnSpc>
                <a:spcPct val="110000"/>
              </a:lnSpc>
              <a:buNone/>
            </a:pPr>
            <a:r>
              <a:rPr lang="en-US" sz="1000" dirty="0">
                <a:solidFill>
                  <a:srgbClr val="E6ECF5"/>
                </a:solidFill>
                <a:latin typeface="Courier New" pitchFamily="34" charset="0"/>
                <a:ea typeface="Courier New" pitchFamily="34" charset="-122"/>
                <a:cs typeface="Courier New" pitchFamily="34" charset="-120"/>
              </a:rPr>
              <a:t>if issubclass(A.dtype.type, np.integer):</a:t>
            </a:r>
            <a:endParaRPr lang="en-US" sz="1000" dirty="0"/>
          </a:p>
          <a:p>
            <a:pPr indent="0" marL="0">
              <a:lnSpc>
                <a:spcPct val="110000"/>
              </a:lnSpc>
              <a:buNone/>
            </a:pPr>
            <a:r>
              <a:rPr lang="en-US" sz="1000" dirty="0">
                <a:solidFill>
                  <a:srgbClr val="E6ECF5"/>
                </a:solidFill>
                <a:latin typeface="Courier New" pitchFamily="34" charset="0"/>
                <a:ea typeface="Courier New" pitchFamily="34" charset="-122"/>
                <a:cs typeface="Courier New" pitchFamily="34" charset="-120"/>
              </a:rPr>
              <a:t>    A = A.astype(float)</a:t>
            </a:r>
            <a:endParaRPr lang="en-US" sz="1000" dirty="0"/>
          </a:p>
        </p:txBody>
      </p:sp>
      <p:sp>
        <p:nvSpPr>
          <p:cNvPr id="11" name="Text 9"/>
          <p:cNvSpPr/>
          <p:nvPr/>
        </p:nvSpPr>
        <p:spPr>
          <a:xfrm>
            <a:off x="6534760" y="3255264"/>
            <a:ext cx="4788256" cy="384048"/>
          </a:xfrm>
          <a:prstGeom prst="rect">
            <a:avLst/>
          </a:prstGeom>
          <a:noFill/>
          <a:ln/>
        </p:spPr>
        <p:txBody>
          <a:bodyPr wrap="square" lIns="0" tIns="0" rIns="0" bIns="0" rtlCol="0" anchor="t"/>
          <a:lstStyle/>
          <a:p>
            <a:pPr indent="0" marL="0">
              <a:buNone/>
            </a:pPr>
            <a:r>
              <a:rPr lang="en-US" sz="1200" dirty="0">
                <a:solidFill>
                  <a:srgbClr val="6B7A90"/>
                </a:solidFill>
                <a:latin typeface="Calibri" pitchFamily="34" charset="0"/>
                <a:ea typeface="Calibri" pitchFamily="34" charset="-122"/>
                <a:cs typeface="Calibri" pitchFamily="34" charset="-120"/>
              </a:rPr>
              <a:t>Es la primera línea funcional de la función que te dieron. Ahora sabés por qué está.</a:t>
            </a:r>
            <a:endParaRPr lang="en-US" sz="1200" dirty="0"/>
          </a:p>
        </p:txBody>
      </p:sp>
      <p:sp>
        <p:nvSpPr>
          <p:cNvPr id="12" name="Shape 10"/>
          <p:cNvSpPr/>
          <p:nvPr/>
        </p:nvSpPr>
        <p:spPr>
          <a:xfrm>
            <a:off x="594360" y="4114800"/>
            <a:ext cx="11002975" cy="1755648"/>
          </a:xfrm>
          <a:prstGeom prst="roundRect">
            <a:avLst>
              <a:gd name="adj" fmla="val 4167"/>
            </a:avLst>
          </a:prstGeom>
          <a:solidFill>
            <a:srgbClr val="FCF2E0"/>
          </a:solidFill>
          <a:ln w="12700">
            <a:solidFill>
              <a:srgbClr val="F0DDB8"/>
            </a:solidFill>
            <a:prstDash val="solid"/>
          </a:ln>
        </p:spPr>
      </p:sp>
      <p:sp>
        <p:nvSpPr>
          <p:cNvPr id="13" name="Text 11"/>
          <p:cNvSpPr/>
          <p:nvPr/>
        </p:nvSpPr>
        <p:spPr>
          <a:xfrm>
            <a:off x="886968" y="4315968"/>
            <a:ext cx="10417759" cy="292608"/>
          </a:xfrm>
          <a:prstGeom prst="rect">
            <a:avLst/>
          </a:prstGeom>
          <a:noFill/>
          <a:ln/>
        </p:spPr>
        <p:txBody>
          <a:bodyPr wrap="square" lIns="0" tIns="0" rIns="0" bIns="0" rtlCol="0" anchor="t"/>
          <a:lstStyle/>
          <a:p>
            <a:pPr indent="0" marL="0">
              <a:buNone/>
            </a:pPr>
            <a:r>
              <a:rPr lang="en-US" sz="1450" b="1" dirty="0">
                <a:solidFill>
                  <a:srgbClr val="8A6318"/>
                </a:solidFill>
                <a:latin typeface="Cambria" pitchFamily="34" charset="0"/>
                <a:ea typeface="Cambria" pitchFamily="34" charset="-122"/>
                <a:cs typeface="Cambria" pitchFamily="34" charset="-120"/>
              </a:rPr>
              <a:t>Dónde te va a pasar a vos — y qué hacer, porque astype tampoco está permitida</a:t>
            </a:r>
            <a:endParaRPr lang="en-US" sz="1450" dirty="0"/>
          </a:p>
        </p:txBody>
      </p:sp>
      <p:sp>
        <p:nvSpPr>
          <p:cNvPr id="14" name="Text 12"/>
          <p:cNvSpPr/>
          <p:nvPr/>
        </p:nvSpPr>
        <p:spPr>
          <a:xfrm>
            <a:off x="905256" y="4700016"/>
            <a:ext cx="10362895" cy="1042416"/>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Ejercicio 10 (sumar_fila_multiplo): si el escalar s es 0.5 y la matriz es de enteros, explota o trunca.</a:t>
            </a:r>
            <a:endParaRPr lang="en-US" sz="1250" dirty="0"/>
          </a:p>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Ejercicios 14 y 16 (áureo, Hilbert): los resultados son racionales; la matriz tiene que ser de floats.</a:t>
            </a:r>
            <a:endParaRPr lang="en-US" sz="1250" dirty="0"/>
          </a:p>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Salida limpia: construí el array ya como float. Escribí 1.0 en vez de 1 en tus listas, o pasá cada valor por float() antes de armar la lista. Una sola llamada a np.array al final y listo.</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Indexado y slicing: tu herramienta principal</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Si entendés bien este slide, la mitad del labo se escribe sola.</a:t>
            </a:r>
            <a:endParaRPr lang="en-US" sz="1300" dirty="0"/>
          </a:p>
        </p:txBody>
      </p:sp>
      <p:sp>
        <p:nvSpPr>
          <p:cNvPr id="4" name="Text 2"/>
          <p:cNvSpPr/>
          <p:nvPr/>
        </p:nvSpPr>
        <p:spPr>
          <a:xfrm>
            <a:off x="612648" y="1444752"/>
            <a:ext cx="2377440" cy="256032"/>
          </a:xfrm>
          <a:prstGeom prst="rect">
            <a:avLst/>
          </a:prstGeom>
          <a:noFill/>
          <a:ln/>
        </p:spPr>
        <p:txBody>
          <a:bodyPr wrap="square" lIns="0" tIns="0" rIns="0" bIns="0" rtlCol="0" anchor="t"/>
          <a:lstStyle/>
          <a:p>
            <a:pPr indent="0" marL="0">
              <a:buNone/>
            </a:pPr>
            <a:r>
              <a:rPr lang="en-US" sz="1200" dirty="0">
                <a:solidFill>
                  <a:srgbClr val="6B7A90"/>
                </a:solidFill>
                <a:latin typeface="Courier New" pitchFamily="34" charset="0"/>
                <a:ea typeface="Courier New" pitchFamily="34" charset="-122"/>
                <a:cs typeface="Courier New" pitchFamily="34" charset="-120"/>
              </a:rPr>
              <a:t>A con shape (4, 4)</a:t>
            </a:r>
            <a:endParaRPr lang="en-US" sz="1200" dirty="0"/>
          </a:p>
        </p:txBody>
      </p:sp>
      <p:sp>
        <p:nvSpPr>
          <p:cNvPr id="5" name="Shape 3"/>
          <p:cNvSpPr/>
          <p:nvPr/>
        </p:nvSpPr>
        <p:spPr>
          <a:xfrm>
            <a:off x="612648" y="1792224"/>
            <a:ext cx="566928" cy="566928"/>
          </a:xfrm>
          <a:prstGeom prst="rect">
            <a:avLst/>
          </a:prstGeom>
          <a:solidFill>
            <a:srgbClr val="FFFFFF"/>
          </a:solidFill>
          <a:ln w="12700">
            <a:solidFill>
              <a:srgbClr val="D9E1EB"/>
            </a:solidFill>
            <a:prstDash val="solid"/>
          </a:ln>
        </p:spPr>
      </p:sp>
      <p:sp>
        <p:nvSpPr>
          <p:cNvPr id="6" name="Text 4"/>
          <p:cNvSpPr/>
          <p:nvPr/>
        </p:nvSpPr>
        <p:spPr>
          <a:xfrm>
            <a:off x="612648" y="1792224"/>
            <a:ext cx="566928" cy="566928"/>
          </a:xfrm>
          <a:prstGeom prst="rect">
            <a:avLst/>
          </a:prstGeom>
          <a:noFill/>
          <a:ln/>
        </p:spPr>
        <p:txBody>
          <a:bodyPr wrap="square" lIns="0" tIns="0" rIns="0" bIns="0" rtlCol="0" anchor="ctr"/>
          <a:lstStyle/>
          <a:p>
            <a:pPr algn="ctr" indent="0" marL="0">
              <a:buNone/>
            </a:pPr>
            <a:r>
              <a:rPr lang="en-US" sz="1200" dirty="0">
                <a:solidFill>
                  <a:srgbClr val="2B3648"/>
                </a:solidFill>
                <a:latin typeface="Calibri" pitchFamily="34" charset="0"/>
                <a:ea typeface="Calibri" pitchFamily="34" charset="-122"/>
                <a:cs typeface="Calibri" pitchFamily="34" charset="-120"/>
              </a:rPr>
              <a:t>0</a:t>
            </a:r>
            <a:endParaRPr lang="en-US" sz="1200" dirty="0"/>
          </a:p>
        </p:txBody>
      </p:sp>
      <p:sp>
        <p:nvSpPr>
          <p:cNvPr id="7" name="Shape 5"/>
          <p:cNvSpPr/>
          <p:nvPr/>
        </p:nvSpPr>
        <p:spPr>
          <a:xfrm>
            <a:off x="1179576" y="1792224"/>
            <a:ext cx="566928" cy="566928"/>
          </a:xfrm>
          <a:prstGeom prst="rect">
            <a:avLst/>
          </a:prstGeom>
          <a:solidFill>
            <a:srgbClr val="FFFFFF"/>
          </a:solidFill>
          <a:ln w="12700">
            <a:solidFill>
              <a:srgbClr val="D9E1EB"/>
            </a:solidFill>
            <a:prstDash val="solid"/>
          </a:ln>
        </p:spPr>
      </p:sp>
      <p:sp>
        <p:nvSpPr>
          <p:cNvPr id="8" name="Text 6"/>
          <p:cNvSpPr/>
          <p:nvPr/>
        </p:nvSpPr>
        <p:spPr>
          <a:xfrm>
            <a:off x="1179576" y="1792224"/>
            <a:ext cx="566928" cy="566928"/>
          </a:xfrm>
          <a:prstGeom prst="rect">
            <a:avLst/>
          </a:prstGeom>
          <a:noFill/>
          <a:ln/>
        </p:spPr>
        <p:txBody>
          <a:bodyPr wrap="square" lIns="0" tIns="0" rIns="0" bIns="0" rtlCol="0" anchor="ctr"/>
          <a:lstStyle/>
          <a:p>
            <a:pPr algn="ctr" indent="0" marL="0">
              <a:buNone/>
            </a:pPr>
            <a:r>
              <a:rPr lang="en-US" sz="1200" dirty="0">
                <a:solidFill>
                  <a:srgbClr val="2B3648"/>
                </a:solidFill>
                <a:latin typeface="Calibri" pitchFamily="34" charset="0"/>
                <a:ea typeface="Calibri" pitchFamily="34" charset="-122"/>
                <a:cs typeface="Calibri" pitchFamily="34" charset="-120"/>
              </a:rPr>
              <a:t>1</a:t>
            </a:r>
            <a:endParaRPr lang="en-US" sz="1200" dirty="0"/>
          </a:p>
        </p:txBody>
      </p:sp>
      <p:sp>
        <p:nvSpPr>
          <p:cNvPr id="9" name="Shape 7"/>
          <p:cNvSpPr/>
          <p:nvPr/>
        </p:nvSpPr>
        <p:spPr>
          <a:xfrm>
            <a:off x="1746504" y="1792224"/>
            <a:ext cx="566928" cy="566928"/>
          </a:xfrm>
          <a:prstGeom prst="rect">
            <a:avLst/>
          </a:prstGeom>
          <a:solidFill>
            <a:srgbClr val="FCF2E0"/>
          </a:solidFill>
          <a:ln w="12700">
            <a:solidFill>
              <a:srgbClr val="D9E1EB"/>
            </a:solidFill>
            <a:prstDash val="solid"/>
          </a:ln>
        </p:spPr>
      </p:sp>
      <p:sp>
        <p:nvSpPr>
          <p:cNvPr id="10" name="Text 8"/>
          <p:cNvSpPr/>
          <p:nvPr/>
        </p:nvSpPr>
        <p:spPr>
          <a:xfrm>
            <a:off x="1746504" y="1792224"/>
            <a:ext cx="566928" cy="566928"/>
          </a:xfrm>
          <a:prstGeom prst="rect">
            <a:avLst/>
          </a:prstGeom>
          <a:noFill/>
          <a:ln/>
        </p:spPr>
        <p:txBody>
          <a:bodyPr wrap="square" lIns="0" tIns="0" rIns="0" bIns="0" rtlCol="0" anchor="ctr"/>
          <a:lstStyle/>
          <a:p>
            <a:pPr algn="ctr" indent="0" marL="0">
              <a:buNone/>
            </a:pPr>
            <a:r>
              <a:rPr lang="en-US" sz="1200" b="1" dirty="0">
                <a:solidFill>
                  <a:srgbClr val="8A6318"/>
                </a:solidFill>
                <a:latin typeface="Calibri" pitchFamily="34" charset="0"/>
                <a:ea typeface="Calibri" pitchFamily="34" charset="-122"/>
                <a:cs typeface="Calibri" pitchFamily="34" charset="-120"/>
              </a:rPr>
              <a:t>2</a:t>
            </a:r>
            <a:endParaRPr lang="en-US" sz="1200" dirty="0"/>
          </a:p>
        </p:txBody>
      </p:sp>
      <p:sp>
        <p:nvSpPr>
          <p:cNvPr id="11" name="Shape 9"/>
          <p:cNvSpPr/>
          <p:nvPr/>
        </p:nvSpPr>
        <p:spPr>
          <a:xfrm>
            <a:off x="2313432" y="1792224"/>
            <a:ext cx="566928" cy="566928"/>
          </a:xfrm>
          <a:prstGeom prst="rect">
            <a:avLst/>
          </a:prstGeom>
          <a:solidFill>
            <a:srgbClr val="FFFFFF"/>
          </a:solidFill>
          <a:ln w="12700">
            <a:solidFill>
              <a:srgbClr val="D9E1EB"/>
            </a:solidFill>
            <a:prstDash val="solid"/>
          </a:ln>
        </p:spPr>
      </p:sp>
      <p:sp>
        <p:nvSpPr>
          <p:cNvPr id="12" name="Text 10"/>
          <p:cNvSpPr/>
          <p:nvPr/>
        </p:nvSpPr>
        <p:spPr>
          <a:xfrm>
            <a:off x="2313432" y="1792224"/>
            <a:ext cx="566928" cy="566928"/>
          </a:xfrm>
          <a:prstGeom prst="rect">
            <a:avLst/>
          </a:prstGeom>
          <a:noFill/>
          <a:ln/>
        </p:spPr>
        <p:txBody>
          <a:bodyPr wrap="square" lIns="0" tIns="0" rIns="0" bIns="0" rtlCol="0" anchor="ctr"/>
          <a:lstStyle/>
          <a:p>
            <a:pPr algn="ctr" indent="0" marL="0">
              <a:buNone/>
            </a:pPr>
            <a:r>
              <a:rPr lang="en-US" sz="1200" dirty="0">
                <a:solidFill>
                  <a:srgbClr val="2B3648"/>
                </a:solidFill>
                <a:latin typeface="Calibri" pitchFamily="34" charset="0"/>
                <a:ea typeface="Calibri" pitchFamily="34" charset="-122"/>
                <a:cs typeface="Calibri" pitchFamily="34" charset="-120"/>
              </a:rPr>
              <a:t>3</a:t>
            </a:r>
            <a:endParaRPr lang="en-US" sz="1200" dirty="0"/>
          </a:p>
        </p:txBody>
      </p:sp>
      <p:sp>
        <p:nvSpPr>
          <p:cNvPr id="13" name="Shape 11"/>
          <p:cNvSpPr/>
          <p:nvPr/>
        </p:nvSpPr>
        <p:spPr>
          <a:xfrm>
            <a:off x="612648" y="2359152"/>
            <a:ext cx="566928" cy="566928"/>
          </a:xfrm>
          <a:prstGeom prst="rect">
            <a:avLst/>
          </a:prstGeom>
          <a:solidFill>
            <a:srgbClr val="FFFFFF"/>
          </a:solidFill>
          <a:ln w="12700">
            <a:solidFill>
              <a:srgbClr val="D9E1EB"/>
            </a:solidFill>
            <a:prstDash val="solid"/>
          </a:ln>
        </p:spPr>
      </p:sp>
      <p:sp>
        <p:nvSpPr>
          <p:cNvPr id="14" name="Text 12"/>
          <p:cNvSpPr/>
          <p:nvPr/>
        </p:nvSpPr>
        <p:spPr>
          <a:xfrm>
            <a:off x="612648" y="2359152"/>
            <a:ext cx="566928" cy="566928"/>
          </a:xfrm>
          <a:prstGeom prst="rect">
            <a:avLst/>
          </a:prstGeom>
          <a:noFill/>
          <a:ln/>
        </p:spPr>
        <p:txBody>
          <a:bodyPr wrap="square" lIns="0" tIns="0" rIns="0" bIns="0" rtlCol="0" anchor="ctr"/>
          <a:lstStyle/>
          <a:p>
            <a:pPr algn="ctr" indent="0" marL="0">
              <a:buNone/>
            </a:pPr>
            <a:r>
              <a:rPr lang="en-US" sz="1200" dirty="0">
                <a:solidFill>
                  <a:srgbClr val="2B3648"/>
                </a:solidFill>
                <a:latin typeface="Calibri" pitchFamily="34" charset="0"/>
                <a:ea typeface="Calibri" pitchFamily="34" charset="-122"/>
                <a:cs typeface="Calibri" pitchFamily="34" charset="-120"/>
              </a:rPr>
              <a:t>4</a:t>
            </a:r>
            <a:endParaRPr lang="en-US" sz="1200" dirty="0"/>
          </a:p>
        </p:txBody>
      </p:sp>
      <p:sp>
        <p:nvSpPr>
          <p:cNvPr id="15" name="Shape 13"/>
          <p:cNvSpPr/>
          <p:nvPr/>
        </p:nvSpPr>
        <p:spPr>
          <a:xfrm>
            <a:off x="1179576" y="2359152"/>
            <a:ext cx="566928" cy="566928"/>
          </a:xfrm>
          <a:prstGeom prst="rect">
            <a:avLst/>
          </a:prstGeom>
          <a:solidFill>
            <a:srgbClr val="FFFFFF"/>
          </a:solidFill>
          <a:ln w="12700">
            <a:solidFill>
              <a:srgbClr val="D9E1EB"/>
            </a:solidFill>
            <a:prstDash val="solid"/>
          </a:ln>
        </p:spPr>
      </p:sp>
      <p:sp>
        <p:nvSpPr>
          <p:cNvPr id="16" name="Text 14"/>
          <p:cNvSpPr/>
          <p:nvPr/>
        </p:nvSpPr>
        <p:spPr>
          <a:xfrm>
            <a:off x="1179576" y="2359152"/>
            <a:ext cx="566928" cy="566928"/>
          </a:xfrm>
          <a:prstGeom prst="rect">
            <a:avLst/>
          </a:prstGeom>
          <a:noFill/>
          <a:ln/>
        </p:spPr>
        <p:txBody>
          <a:bodyPr wrap="square" lIns="0" tIns="0" rIns="0" bIns="0" rtlCol="0" anchor="ctr"/>
          <a:lstStyle/>
          <a:p>
            <a:pPr algn="ctr" indent="0" marL="0">
              <a:buNone/>
            </a:pPr>
            <a:r>
              <a:rPr lang="en-US" sz="1200" dirty="0">
                <a:solidFill>
                  <a:srgbClr val="2B3648"/>
                </a:solidFill>
                <a:latin typeface="Calibri" pitchFamily="34" charset="0"/>
                <a:ea typeface="Calibri" pitchFamily="34" charset="-122"/>
                <a:cs typeface="Calibri" pitchFamily="34" charset="-120"/>
              </a:rPr>
              <a:t>5</a:t>
            </a:r>
            <a:endParaRPr lang="en-US" sz="1200" dirty="0"/>
          </a:p>
        </p:txBody>
      </p:sp>
      <p:sp>
        <p:nvSpPr>
          <p:cNvPr id="17" name="Shape 15"/>
          <p:cNvSpPr/>
          <p:nvPr/>
        </p:nvSpPr>
        <p:spPr>
          <a:xfrm>
            <a:off x="1746504" y="2359152"/>
            <a:ext cx="566928" cy="566928"/>
          </a:xfrm>
          <a:prstGeom prst="rect">
            <a:avLst/>
          </a:prstGeom>
          <a:solidFill>
            <a:srgbClr val="FCF2E0"/>
          </a:solidFill>
          <a:ln w="12700">
            <a:solidFill>
              <a:srgbClr val="D9E1EB"/>
            </a:solidFill>
            <a:prstDash val="solid"/>
          </a:ln>
        </p:spPr>
      </p:sp>
      <p:sp>
        <p:nvSpPr>
          <p:cNvPr id="18" name="Text 16"/>
          <p:cNvSpPr/>
          <p:nvPr/>
        </p:nvSpPr>
        <p:spPr>
          <a:xfrm>
            <a:off x="1746504" y="2359152"/>
            <a:ext cx="566928" cy="566928"/>
          </a:xfrm>
          <a:prstGeom prst="rect">
            <a:avLst/>
          </a:prstGeom>
          <a:noFill/>
          <a:ln/>
        </p:spPr>
        <p:txBody>
          <a:bodyPr wrap="square" lIns="0" tIns="0" rIns="0" bIns="0" rtlCol="0" anchor="ctr"/>
          <a:lstStyle/>
          <a:p>
            <a:pPr algn="ctr" indent="0" marL="0">
              <a:buNone/>
            </a:pPr>
            <a:r>
              <a:rPr lang="en-US" sz="1200" b="1" dirty="0">
                <a:solidFill>
                  <a:srgbClr val="8A6318"/>
                </a:solidFill>
                <a:latin typeface="Calibri" pitchFamily="34" charset="0"/>
                <a:ea typeface="Calibri" pitchFamily="34" charset="-122"/>
                <a:cs typeface="Calibri" pitchFamily="34" charset="-120"/>
              </a:rPr>
              <a:t>6</a:t>
            </a:r>
            <a:endParaRPr lang="en-US" sz="1200" dirty="0"/>
          </a:p>
        </p:txBody>
      </p:sp>
      <p:sp>
        <p:nvSpPr>
          <p:cNvPr id="19" name="Shape 17"/>
          <p:cNvSpPr/>
          <p:nvPr/>
        </p:nvSpPr>
        <p:spPr>
          <a:xfrm>
            <a:off x="2313432" y="2359152"/>
            <a:ext cx="566928" cy="566928"/>
          </a:xfrm>
          <a:prstGeom prst="rect">
            <a:avLst/>
          </a:prstGeom>
          <a:solidFill>
            <a:srgbClr val="E8F1F3"/>
          </a:solidFill>
          <a:ln w="12700">
            <a:solidFill>
              <a:srgbClr val="D9E1EB"/>
            </a:solidFill>
            <a:prstDash val="solid"/>
          </a:ln>
        </p:spPr>
      </p:sp>
      <p:sp>
        <p:nvSpPr>
          <p:cNvPr id="20" name="Text 18"/>
          <p:cNvSpPr/>
          <p:nvPr/>
        </p:nvSpPr>
        <p:spPr>
          <a:xfrm>
            <a:off x="2313432" y="2359152"/>
            <a:ext cx="566928" cy="566928"/>
          </a:xfrm>
          <a:prstGeom prst="rect">
            <a:avLst/>
          </a:prstGeom>
          <a:noFill/>
          <a:ln/>
        </p:spPr>
        <p:txBody>
          <a:bodyPr wrap="square" lIns="0" tIns="0" rIns="0" bIns="0" rtlCol="0" anchor="ctr"/>
          <a:lstStyle/>
          <a:p>
            <a:pPr algn="ctr" indent="0" marL="0">
              <a:buNone/>
            </a:pPr>
            <a:r>
              <a:rPr lang="en-US" sz="1200" b="1" dirty="0">
                <a:solidFill>
                  <a:srgbClr val="2E7D8F"/>
                </a:solidFill>
                <a:latin typeface="Calibri" pitchFamily="34" charset="0"/>
                <a:ea typeface="Calibri" pitchFamily="34" charset="-122"/>
                <a:cs typeface="Calibri" pitchFamily="34" charset="-120"/>
              </a:rPr>
              <a:t>7</a:t>
            </a:r>
            <a:endParaRPr lang="en-US" sz="1200" dirty="0"/>
          </a:p>
        </p:txBody>
      </p:sp>
      <p:sp>
        <p:nvSpPr>
          <p:cNvPr id="21" name="Shape 19"/>
          <p:cNvSpPr/>
          <p:nvPr/>
        </p:nvSpPr>
        <p:spPr>
          <a:xfrm>
            <a:off x="612648" y="2926080"/>
            <a:ext cx="566928" cy="566928"/>
          </a:xfrm>
          <a:prstGeom prst="rect">
            <a:avLst/>
          </a:prstGeom>
          <a:solidFill>
            <a:srgbClr val="FFFFFF"/>
          </a:solidFill>
          <a:ln w="12700">
            <a:solidFill>
              <a:srgbClr val="D9E1EB"/>
            </a:solidFill>
            <a:prstDash val="solid"/>
          </a:ln>
        </p:spPr>
      </p:sp>
      <p:sp>
        <p:nvSpPr>
          <p:cNvPr id="22" name="Text 20"/>
          <p:cNvSpPr/>
          <p:nvPr/>
        </p:nvSpPr>
        <p:spPr>
          <a:xfrm>
            <a:off x="612648" y="2926080"/>
            <a:ext cx="566928" cy="566928"/>
          </a:xfrm>
          <a:prstGeom prst="rect">
            <a:avLst/>
          </a:prstGeom>
          <a:noFill/>
          <a:ln/>
        </p:spPr>
        <p:txBody>
          <a:bodyPr wrap="square" lIns="0" tIns="0" rIns="0" bIns="0" rtlCol="0" anchor="ctr"/>
          <a:lstStyle/>
          <a:p>
            <a:pPr algn="ctr" indent="0" marL="0">
              <a:buNone/>
            </a:pPr>
            <a:r>
              <a:rPr lang="en-US" sz="1200" dirty="0">
                <a:solidFill>
                  <a:srgbClr val="2B3648"/>
                </a:solidFill>
                <a:latin typeface="Calibri" pitchFamily="34" charset="0"/>
                <a:ea typeface="Calibri" pitchFamily="34" charset="-122"/>
                <a:cs typeface="Calibri" pitchFamily="34" charset="-120"/>
              </a:rPr>
              <a:t>8</a:t>
            </a:r>
            <a:endParaRPr lang="en-US" sz="1200" dirty="0"/>
          </a:p>
        </p:txBody>
      </p:sp>
      <p:sp>
        <p:nvSpPr>
          <p:cNvPr id="23" name="Shape 21"/>
          <p:cNvSpPr/>
          <p:nvPr/>
        </p:nvSpPr>
        <p:spPr>
          <a:xfrm>
            <a:off x="1179576" y="2926080"/>
            <a:ext cx="566928" cy="566928"/>
          </a:xfrm>
          <a:prstGeom prst="rect">
            <a:avLst/>
          </a:prstGeom>
          <a:solidFill>
            <a:srgbClr val="FFFFFF"/>
          </a:solidFill>
          <a:ln w="12700">
            <a:solidFill>
              <a:srgbClr val="D9E1EB"/>
            </a:solidFill>
            <a:prstDash val="solid"/>
          </a:ln>
        </p:spPr>
      </p:sp>
      <p:sp>
        <p:nvSpPr>
          <p:cNvPr id="24" name="Text 22"/>
          <p:cNvSpPr/>
          <p:nvPr/>
        </p:nvSpPr>
        <p:spPr>
          <a:xfrm>
            <a:off x="1179576" y="2926080"/>
            <a:ext cx="566928" cy="566928"/>
          </a:xfrm>
          <a:prstGeom prst="rect">
            <a:avLst/>
          </a:prstGeom>
          <a:noFill/>
          <a:ln/>
        </p:spPr>
        <p:txBody>
          <a:bodyPr wrap="square" lIns="0" tIns="0" rIns="0" bIns="0" rtlCol="0" anchor="ctr"/>
          <a:lstStyle/>
          <a:p>
            <a:pPr algn="ctr" indent="0" marL="0">
              <a:buNone/>
            </a:pPr>
            <a:r>
              <a:rPr lang="en-US" sz="1200" dirty="0">
                <a:solidFill>
                  <a:srgbClr val="2B3648"/>
                </a:solidFill>
                <a:latin typeface="Calibri" pitchFamily="34" charset="0"/>
                <a:ea typeface="Calibri" pitchFamily="34" charset="-122"/>
                <a:cs typeface="Calibri" pitchFamily="34" charset="-120"/>
              </a:rPr>
              <a:t>9</a:t>
            </a:r>
            <a:endParaRPr lang="en-US" sz="1200" dirty="0"/>
          </a:p>
        </p:txBody>
      </p:sp>
      <p:sp>
        <p:nvSpPr>
          <p:cNvPr id="25" name="Shape 23"/>
          <p:cNvSpPr/>
          <p:nvPr/>
        </p:nvSpPr>
        <p:spPr>
          <a:xfrm>
            <a:off x="1746504" y="2926080"/>
            <a:ext cx="566928" cy="566928"/>
          </a:xfrm>
          <a:prstGeom prst="rect">
            <a:avLst/>
          </a:prstGeom>
          <a:solidFill>
            <a:srgbClr val="FCF2E0"/>
          </a:solidFill>
          <a:ln w="12700">
            <a:solidFill>
              <a:srgbClr val="D9E1EB"/>
            </a:solidFill>
            <a:prstDash val="solid"/>
          </a:ln>
        </p:spPr>
      </p:sp>
      <p:sp>
        <p:nvSpPr>
          <p:cNvPr id="26" name="Text 24"/>
          <p:cNvSpPr/>
          <p:nvPr/>
        </p:nvSpPr>
        <p:spPr>
          <a:xfrm>
            <a:off x="1746504" y="2926080"/>
            <a:ext cx="566928" cy="566928"/>
          </a:xfrm>
          <a:prstGeom prst="rect">
            <a:avLst/>
          </a:prstGeom>
          <a:noFill/>
          <a:ln/>
        </p:spPr>
        <p:txBody>
          <a:bodyPr wrap="square" lIns="0" tIns="0" rIns="0" bIns="0" rtlCol="0" anchor="ctr"/>
          <a:lstStyle/>
          <a:p>
            <a:pPr algn="ctr" indent="0" marL="0">
              <a:buNone/>
            </a:pPr>
            <a:r>
              <a:rPr lang="en-US" sz="1200" b="1" dirty="0">
                <a:solidFill>
                  <a:srgbClr val="8A6318"/>
                </a:solidFill>
                <a:latin typeface="Calibri" pitchFamily="34" charset="0"/>
                <a:ea typeface="Calibri" pitchFamily="34" charset="-122"/>
                <a:cs typeface="Calibri" pitchFamily="34" charset="-120"/>
              </a:rPr>
              <a:t>10</a:t>
            </a:r>
            <a:endParaRPr lang="en-US" sz="1200" dirty="0"/>
          </a:p>
        </p:txBody>
      </p:sp>
      <p:sp>
        <p:nvSpPr>
          <p:cNvPr id="27" name="Shape 25"/>
          <p:cNvSpPr/>
          <p:nvPr/>
        </p:nvSpPr>
        <p:spPr>
          <a:xfrm>
            <a:off x="2313432" y="2926080"/>
            <a:ext cx="566928" cy="566928"/>
          </a:xfrm>
          <a:prstGeom prst="rect">
            <a:avLst/>
          </a:prstGeom>
          <a:solidFill>
            <a:srgbClr val="E8F1F3"/>
          </a:solidFill>
          <a:ln w="12700">
            <a:solidFill>
              <a:srgbClr val="D9E1EB"/>
            </a:solidFill>
            <a:prstDash val="solid"/>
          </a:ln>
        </p:spPr>
      </p:sp>
      <p:sp>
        <p:nvSpPr>
          <p:cNvPr id="28" name="Text 26"/>
          <p:cNvSpPr/>
          <p:nvPr/>
        </p:nvSpPr>
        <p:spPr>
          <a:xfrm>
            <a:off x="2313432" y="2926080"/>
            <a:ext cx="566928" cy="566928"/>
          </a:xfrm>
          <a:prstGeom prst="rect">
            <a:avLst/>
          </a:prstGeom>
          <a:noFill/>
          <a:ln/>
        </p:spPr>
        <p:txBody>
          <a:bodyPr wrap="square" lIns="0" tIns="0" rIns="0" bIns="0" rtlCol="0" anchor="ctr"/>
          <a:lstStyle/>
          <a:p>
            <a:pPr algn="ctr" indent="0" marL="0">
              <a:buNone/>
            </a:pPr>
            <a:r>
              <a:rPr lang="en-US" sz="1200" b="1" dirty="0">
                <a:solidFill>
                  <a:srgbClr val="2E7D8F"/>
                </a:solidFill>
                <a:latin typeface="Calibri" pitchFamily="34" charset="0"/>
                <a:ea typeface="Calibri" pitchFamily="34" charset="-122"/>
                <a:cs typeface="Calibri" pitchFamily="34" charset="-120"/>
              </a:rPr>
              <a:t>11</a:t>
            </a:r>
            <a:endParaRPr lang="en-US" sz="1200" dirty="0"/>
          </a:p>
        </p:txBody>
      </p:sp>
      <p:sp>
        <p:nvSpPr>
          <p:cNvPr id="29" name="Shape 27"/>
          <p:cNvSpPr/>
          <p:nvPr/>
        </p:nvSpPr>
        <p:spPr>
          <a:xfrm>
            <a:off x="612648" y="3493008"/>
            <a:ext cx="566928" cy="566928"/>
          </a:xfrm>
          <a:prstGeom prst="rect">
            <a:avLst/>
          </a:prstGeom>
          <a:solidFill>
            <a:srgbClr val="FFFFFF"/>
          </a:solidFill>
          <a:ln w="12700">
            <a:solidFill>
              <a:srgbClr val="D9E1EB"/>
            </a:solidFill>
            <a:prstDash val="solid"/>
          </a:ln>
        </p:spPr>
      </p:sp>
      <p:sp>
        <p:nvSpPr>
          <p:cNvPr id="30" name="Text 28"/>
          <p:cNvSpPr/>
          <p:nvPr/>
        </p:nvSpPr>
        <p:spPr>
          <a:xfrm>
            <a:off x="612648" y="3493008"/>
            <a:ext cx="566928" cy="566928"/>
          </a:xfrm>
          <a:prstGeom prst="rect">
            <a:avLst/>
          </a:prstGeom>
          <a:noFill/>
          <a:ln/>
        </p:spPr>
        <p:txBody>
          <a:bodyPr wrap="square" lIns="0" tIns="0" rIns="0" bIns="0" rtlCol="0" anchor="ctr"/>
          <a:lstStyle/>
          <a:p>
            <a:pPr algn="ctr" indent="0" marL="0">
              <a:buNone/>
            </a:pPr>
            <a:r>
              <a:rPr lang="en-US" sz="1200" dirty="0">
                <a:solidFill>
                  <a:srgbClr val="2B3648"/>
                </a:solidFill>
                <a:latin typeface="Calibri" pitchFamily="34" charset="0"/>
                <a:ea typeface="Calibri" pitchFamily="34" charset="-122"/>
                <a:cs typeface="Calibri" pitchFamily="34" charset="-120"/>
              </a:rPr>
              <a:t>12</a:t>
            </a:r>
            <a:endParaRPr lang="en-US" sz="1200" dirty="0"/>
          </a:p>
        </p:txBody>
      </p:sp>
      <p:sp>
        <p:nvSpPr>
          <p:cNvPr id="31" name="Shape 29"/>
          <p:cNvSpPr/>
          <p:nvPr/>
        </p:nvSpPr>
        <p:spPr>
          <a:xfrm>
            <a:off x="1179576" y="3493008"/>
            <a:ext cx="566928" cy="566928"/>
          </a:xfrm>
          <a:prstGeom prst="rect">
            <a:avLst/>
          </a:prstGeom>
          <a:solidFill>
            <a:srgbClr val="FFFFFF"/>
          </a:solidFill>
          <a:ln w="12700">
            <a:solidFill>
              <a:srgbClr val="D9E1EB"/>
            </a:solidFill>
            <a:prstDash val="solid"/>
          </a:ln>
        </p:spPr>
      </p:sp>
      <p:sp>
        <p:nvSpPr>
          <p:cNvPr id="32" name="Text 30"/>
          <p:cNvSpPr/>
          <p:nvPr/>
        </p:nvSpPr>
        <p:spPr>
          <a:xfrm>
            <a:off x="1179576" y="3493008"/>
            <a:ext cx="566928" cy="566928"/>
          </a:xfrm>
          <a:prstGeom prst="rect">
            <a:avLst/>
          </a:prstGeom>
          <a:noFill/>
          <a:ln/>
        </p:spPr>
        <p:txBody>
          <a:bodyPr wrap="square" lIns="0" tIns="0" rIns="0" bIns="0" rtlCol="0" anchor="ctr"/>
          <a:lstStyle/>
          <a:p>
            <a:pPr algn="ctr" indent="0" marL="0">
              <a:buNone/>
            </a:pPr>
            <a:r>
              <a:rPr lang="en-US" sz="1200" dirty="0">
                <a:solidFill>
                  <a:srgbClr val="2B3648"/>
                </a:solidFill>
                <a:latin typeface="Calibri" pitchFamily="34" charset="0"/>
                <a:ea typeface="Calibri" pitchFamily="34" charset="-122"/>
                <a:cs typeface="Calibri" pitchFamily="34" charset="-120"/>
              </a:rPr>
              <a:t>13</a:t>
            </a:r>
            <a:endParaRPr lang="en-US" sz="1200" dirty="0"/>
          </a:p>
        </p:txBody>
      </p:sp>
      <p:sp>
        <p:nvSpPr>
          <p:cNvPr id="33" name="Shape 31"/>
          <p:cNvSpPr/>
          <p:nvPr/>
        </p:nvSpPr>
        <p:spPr>
          <a:xfrm>
            <a:off x="1746504" y="3493008"/>
            <a:ext cx="566928" cy="566928"/>
          </a:xfrm>
          <a:prstGeom prst="rect">
            <a:avLst/>
          </a:prstGeom>
          <a:solidFill>
            <a:srgbClr val="FCF2E0"/>
          </a:solidFill>
          <a:ln w="12700">
            <a:solidFill>
              <a:srgbClr val="D9E1EB"/>
            </a:solidFill>
            <a:prstDash val="solid"/>
          </a:ln>
        </p:spPr>
      </p:sp>
      <p:sp>
        <p:nvSpPr>
          <p:cNvPr id="34" name="Text 32"/>
          <p:cNvSpPr/>
          <p:nvPr/>
        </p:nvSpPr>
        <p:spPr>
          <a:xfrm>
            <a:off x="1746504" y="3493008"/>
            <a:ext cx="566928" cy="566928"/>
          </a:xfrm>
          <a:prstGeom prst="rect">
            <a:avLst/>
          </a:prstGeom>
          <a:noFill/>
          <a:ln/>
        </p:spPr>
        <p:txBody>
          <a:bodyPr wrap="square" lIns="0" tIns="0" rIns="0" bIns="0" rtlCol="0" anchor="ctr"/>
          <a:lstStyle/>
          <a:p>
            <a:pPr algn="ctr" indent="0" marL="0">
              <a:buNone/>
            </a:pPr>
            <a:r>
              <a:rPr lang="en-US" sz="1200" b="1" dirty="0">
                <a:solidFill>
                  <a:srgbClr val="8A6318"/>
                </a:solidFill>
                <a:latin typeface="Calibri" pitchFamily="34" charset="0"/>
                <a:ea typeface="Calibri" pitchFamily="34" charset="-122"/>
                <a:cs typeface="Calibri" pitchFamily="34" charset="-120"/>
              </a:rPr>
              <a:t>14</a:t>
            </a:r>
            <a:endParaRPr lang="en-US" sz="1200" dirty="0"/>
          </a:p>
        </p:txBody>
      </p:sp>
      <p:sp>
        <p:nvSpPr>
          <p:cNvPr id="35" name="Shape 33"/>
          <p:cNvSpPr/>
          <p:nvPr/>
        </p:nvSpPr>
        <p:spPr>
          <a:xfrm>
            <a:off x="2313432" y="3493008"/>
            <a:ext cx="566928" cy="566928"/>
          </a:xfrm>
          <a:prstGeom prst="rect">
            <a:avLst/>
          </a:prstGeom>
          <a:solidFill>
            <a:srgbClr val="FFFFFF"/>
          </a:solidFill>
          <a:ln w="12700">
            <a:solidFill>
              <a:srgbClr val="D9E1EB"/>
            </a:solidFill>
            <a:prstDash val="solid"/>
          </a:ln>
        </p:spPr>
      </p:sp>
      <p:sp>
        <p:nvSpPr>
          <p:cNvPr id="36" name="Text 34"/>
          <p:cNvSpPr/>
          <p:nvPr/>
        </p:nvSpPr>
        <p:spPr>
          <a:xfrm>
            <a:off x="2313432" y="3493008"/>
            <a:ext cx="566928" cy="566928"/>
          </a:xfrm>
          <a:prstGeom prst="rect">
            <a:avLst/>
          </a:prstGeom>
          <a:noFill/>
          <a:ln/>
        </p:spPr>
        <p:txBody>
          <a:bodyPr wrap="square" lIns="0" tIns="0" rIns="0" bIns="0" rtlCol="0" anchor="ctr"/>
          <a:lstStyle/>
          <a:p>
            <a:pPr algn="ctr" indent="0" marL="0">
              <a:buNone/>
            </a:pPr>
            <a:r>
              <a:rPr lang="en-US" sz="1200" dirty="0">
                <a:solidFill>
                  <a:srgbClr val="2B3648"/>
                </a:solidFill>
                <a:latin typeface="Calibri" pitchFamily="34" charset="0"/>
                <a:ea typeface="Calibri" pitchFamily="34" charset="-122"/>
                <a:cs typeface="Calibri" pitchFamily="34" charset="-120"/>
              </a:rPr>
              <a:t>15</a:t>
            </a:r>
            <a:endParaRPr lang="en-US" sz="1200" dirty="0"/>
          </a:p>
        </p:txBody>
      </p:sp>
      <p:sp>
        <p:nvSpPr>
          <p:cNvPr id="37" name="Text 35"/>
          <p:cNvSpPr/>
          <p:nvPr/>
        </p:nvSpPr>
        <p:spPr>
          <a:xfrm>
            <a:off x="612648" y="4206240"/>
            <a:ext cx="2651760" cy="694944"/>
          </a:xfrm>
          <a:prstGeom prst="rect">
            <a:avLst/>
          </a:prstGeom>
          <a:noFill/>
          <a:ln/>
        </p:spPr>
        <p:txBody>
          <a:bodyPr wrap="square" lIns="0" tIns="0" rIns="0" bIns="0" rtlCol="0" anchor="t"/>
          <a:lstStyle/>
          <a:p>
            <a:pPr indent="0" marL="0">
              <a:lnSpc>
                <a:spcPct val="114000"/>
              </a:lnSpc>
              <a:buNone/>
            </a:pPr>
            <a:r>
              <a:rPr lang="en-US" sz="1100" i="1" dirty="0">
                <a:solidFill>
                  <a:srgbClr val="6B7A90"/>
                </a:solidFill>
                <a:latin typeface="Calibri" pitchFamily="34" charset="0"/>
                <a:ea typeface="Calibri" pitchFamily="34" charset="-122"/>
                <a:cs typeface="Calibri" pitchFamily="34" charset="-120"/>
              </a:rPr>
              <a:t>Resaltado: la columna 2 (ámbar) y el bloque A[1:3, 2:4] (celeste, donde se cruzan).</a:t>
            </a:r>
            <a:endParaRPr lang="en-US" sz="1100" dirty="0"/>
          </a:p>
        </p:txBody>
      </p:sp>
      <p:sp>
        <p:nvSpPr>
          <p:cNvPr id="38" name="Shape 36"/>
          <p:cNvSpPr/>
          <p:nvPr/>
        </p:nvSpPr>
        <p:spPr>
          <a:xfrm>
            <a:off x="3383280" y="1481328"/>
            <a:ext cx="8214055" cy="603504"/>
          </a:xfrm>
          <a:prstGeom prst="roundRect">
            <a:avLst>
              <a:gd name="adj" fmla="val 7576"/>
            </a:avLst>
          </a:prstGeom>
          <a:solidFill>
            <a:srgbClr val="F1F4F9"/>
          </a:solidFill>
          <a:ln w="12700">
            <a:solidFill>
              <a:srgbClr val="F1F4F9"/>
            </a:solidFill>
            <a:prstDash val="solid"/>
          </a:ln>
        </p:spPr>
      </p:sp>
      <p:sp>
        <p:nvSpPr>
          <p:cNvPr id="39" name="Text 37"/>
          <p:cNvSpPr/>
          <p:nvPr/>
        </p:nvSpPr>
        <p:spPr>
          <a:xfrm>
            <a:off x="3566160" y="1554480"/>
            <a:ext cx="1417320" cy="256032"/>
          </a:xfrm>
          <a:prstGeom prst="rect">
            <a:avLst/>
          </a:prstGeom>
          <a:noFill/>
          <a:ln/>
        </p:spPr>
        <p:txBody>
          <a:bodyPr wrap="square" lIns="0" tIns="0" rIns="0" bIns="0" rtlCol="0" anchor="t"/>
          <a:lstStyle/>
          <a:p>
            <a:pPr indent="0" marL="0">
              <a:buNone/>
            </a:pPr>
            <a:r>
              <a:rPr lang="en-US" sz="1250" b="1" dirty="0">
                <a:solidFill>
                  <a:srgbClr val="2E7D8F"/>
                </a:solidFill>
                <a:latin typeface="Courier New" pitchFamily="34" charset="0"/>
                <a:ea typeface="Courier New" pitchFamily="34" charset="-122"/>
                <a:cs typeface="Courier New" pitchFamily="34" charset="-120"/>
              </a:rPr>
              <a:t>A[2, 3]</a:t>
            </a:r>
            <a:endParaRPr lang="en-US" sz="1250" dirty="0"/>
          </a:p>
        </p:txBody>
      </p:sp>
      <p:sp>
        <p:nvSpPr>
          <p:cNvPr id="40" name="Text 38"/>
          <p:cNvSpPr/>
          <p:nvPr/>
        </p:nvSpPr>
        <p:spPr>
          <a:xfrm>
            <a:off x="5102352" y="1554480"/>
            <a:ext cx="2606040" cy="256032"/>
          </a:xfrm>
          <a:prstGeom prst="rect">
            <a:avLst/>
          </a:prstGeom>
          <a:noFill/>
          <a:ln/>
        </p:spPr>
        <p:txBody>
          <a:bodyPr wrap="square" lIns="0" tIns="0" rIns="0" bIns="0" rtlCol="0" anchor="t"/>
          <a:lstStyle/>
          <a:p>
            <a:pPr indent="0" marL="0">
              <a:buNone/>
            </a:pPr>
            <a:r>
              <a:rPr lang="en-US" sz="1200" dirty="0">
                <a:solidFill>
                  <a:srgbClr val="16233A"/>
                </a:solidFill>
                <a:latin typeface="Courier New" pitchFamily="34" charset="0"/>
                <a:ea typeface="Courier New" pitchFamily="34" charset="-122"/>
                <a:cs typeface="Courier New" pitchFamily="34" charset="-120"/>
              </a:rPr>
              <a:t>11</a:t>
            </a:r>
            <a:endParaRPr lang="en-US" sz="1200" dirty="0"/>
          </a:p>
        </p:txBody>
      </p:sp>
      <p:sp>
        <p:nvSpPr>
          <p:cNvPr id="41" name="Text 39"/>
          <p:cNvSpPr/>
          <p:nvPr/>
        </p:nvSpPr>
        <p:spPr>
          <a:xfrm>
            <a:off x="7790688" y="1563624"/>
            <a:ext cx="3623767" cy="402336"/>
          </a:xfrm>
          <a:prstGeom prst="rect">
            <a:avLst/>
          </a:prstGeom>
          <a:noFill/>
          <a:ln/>
        </p:spPr>
        <p:txBody>
          <a:bodyPr wrap="square" lIns="0" tIns="0" rIns="0" bIns="0" rtlCol="0" anchor="t"/>
          <a:lstStyle/>
          <a:p>
            <a:pPr indent="0" marL="0">
              <a:lnSpc>
                <a:spcPct val="110000"/>
              </a:lnSpc>
              <a:buNone/>
            </a:pPr>
            <a:r>
              <a:rPr lang="en-US" sz="1150" dirty="0">
                <a:solidFill>
                  <a:srgbClr val="6B7A90"/>
                </a:solidFill>
                <a:latin typeface="Calibri" pitchFamily="34" charset="0"/>
                <a:ea typeface="Calibri" pitchFamily="34" charset="-122"/>
                <a:cs typeface="Calibri" pitchFamily="34" charset="-120"/>
              </a:rPr>
              <a:t>un escalar</a:t>
            </a:r>
            <a:endParaRPr lang="en-US" sz="1150" dirty="0"/>
          </a:p>
        </p:txBody>
      </p:sp>
      <p:sp>
        <p:nvSpPr>
          <p:cNvPr id="42" name="Text 40"/>
          <p:cNvSpPr/>
          <p:nvPr/>
        </p:nvSpPr>
        <p:spPr>
          <a:xfrm>
            <a:off x="3566160" y="2212848"/>
            <a:ext cx="1417320" cy="256032"/>
          </a:xfrm>
          <a:prstGeom prst="rect">
            <a:avLst/>
          </a:prstGeom>
          <a:noFill/>
          <a:ln/>
        </p:spPr>
        <p:txBody>
          <a:bodyPr wrap="square" lIns="0" tIns="0" rIns="0" bIns="0" rtlCol="0" anchor="t"/>
          <a:lstStyle/>
          <a:p>
            <a:pPr indent="0" marL="0">
              <a:buNone/>
            </a:pPr>
            <a:r>
              <a:rPr lang="en-US" sz="1250" b="1" dirty="0">
                <a:solidFill>
                  <a:srgbClr val="2E7D8F"/>
                </a:solidFill>
                <a:latin typeface="Courier New" pitchFamily="34" charset="0"/>
                <a:ea typeface="Courier New" pitchFamily="34" charset="-122"/>
                <a:cs typeface="Courier New" pitchFamily="34" charset="-120"/>
              </a:rPr>
              <a:t>A[:, 2]</a:t>
            </a:r>
            <a:endParaRPr lang="en-US" sz="1250" dirty="0"/>
          </a:p>
        </p:txBody>
      </p:sp>
      <p:sp>
        <p:nvSpPr>
          <p:cNvPr id="43" name="Text 41"/>
          <p:cNvSpPr/>
          <p:nvPr/>
        </p:nvSpPr>
        <p:spPr>
          <a:xfrm>
            <a:off x="5102352" y="2212848"/>
            <a:ext cx="2606040" cy="256032"/>
          </a:xfrm>
          <a:prstGeom prst="rect">
            <a:avLst/>
          </a:prstGeom>
          <a:noFill/>
          <a:ln/>
        </p:spPr>
        <p:txBody>
          <a:bodyPr wrap="square" lIns="0" tIns="0" rIns="0" bIns="0" rtlCol="0" anchor="t"/>
          <a:lstStyle/>
          <a:p>
            <a:pPr indent="0" marL="0">
              <a:buNone/>
            </a:pPr>
            <a:r>
              <a:rPr lang="en-US" sz="1200" dirty="0">
                <a:solidFill>
                  <a:srgbClr val="16233A"/>
                </a:solidFill>
                <a:latin typeface="Courier New" pitchFamily="34" charset="0"/>
                <a:ea typeface="Courier New" pitchFamily="34" charset="-122"/>
                <a:cs typeface="Courier New" pitchFamily="34" charset="-120"/>
              </a:rPr>
              <a:t>[2  6  10  14]</a:t>
            </a:r>
            <a:endParaRPr lang="en-US" sz="1200" dirty="0"/>
          </a:p>
        </p:txBody>
      </p:sp>
      <p:sp>
        <p:nvSpPr>
          <p:cNvPr id="44" name="Text 42"/>
          <p:cNvSpPr/>
          <p:nvPr/>
        </p:nvSpPr>
        <p:spPr>
          <a:xfrm>
            <a:off x="7790688" y="2221992"/>
            <a:ext cx="3623767" cy="402336"/>
          </a:xfrm>
          <a:prstGeom prst="rect">
            <a:avLst/>
          </a:prstGeom>
          <a:noFill/>
          <a:ln/>
        </p:spPr>
        <p:txBody>
          <a:bodyPr wrap="square" lIns="0" tIns="0" rIns="0" bIns="0" rtlCol="0" anchor="t"/>
          <a:lstStyle/>
          <a:p>
            <a:pPr indent="0" marL="0">
              <a:lnSpc>
                <a:spcPct val="110000"/>
              </a:lnSpc>
              <a:buNone/>
            </a:pPr>
            <a:r>
              <a:rPr lang="en-US" sz="1150" dirty="0">
                <a:solidFill>
                  <a:srgbClr val="6B7A90"/>
                </a:solidFill>
                <a:latin typeface="Calibri" pitchFamily="34" charset="0"/>
                <a:ea typeface="Calibri" pitchFamily="34" charset="-122"/>
                <a:cs typeface="Calibri" pitchFamily="34" charset="-120"/>
              </a:rPr>
              <a:t>shape (4,) — es 1D, no una columna</a:t>
            </a:r>
            <a:endParaRPr lang="en-US" sz="1150" dirty="0"/>
          </a:p>
        </p:txBody>
      </p:sp>
      <p:sp>
        <p:nvSpPr>
          <p:cNvPr id="45" name="Shape 43"/>
          <p:cNvSpPr/>
          <p:nvPr/>
        </p:nvSpPr>
        <p:spPr>
          <a:xfrm>
            <a:off x="3383280" y="2798064"/>
            <a:ext cx="8214055" cy="603504"/>
          </a:xfrm>
          <a:prstGeom prst="roundRect">
            <a:avLst>
              <a:gd name="adj" fmla="val 7576"/>
            </a:avLst>
          </a:prstGeom>
          <a:solidFill>
            <a:srgbClr val="F1F4F9"/>
          </a:solidFill>
          <a:ln w="12700">
            <a:solidFill>
              <a:srgbClr val="F1F4F9"/>
            </a:solidFill>
            <a:prstDash val="solid"/>
          </a:ln>
        </p:spPr>
      </p:sp>
      <p:sp>
        <p:nvSpPr>
          <p:cNvPr id="46" name="Text 44"/>
          <p:cNvSpPr/>
          <p:nvPr/>
        </p:nvSpPr>
        <p:spPr>
          <a:xfrm>
            <a:off x="3566160" y="2871216"/>
            <a:ext cx="1417320" cy="256032"/>
          </a:xfrm>
          <a:prstGeom prst="rect">
            <a:avLst/>
          </a:prstGeom>
          <a:noFill/>
          <a:ln/>
        </p:spPr>
        <p:txBody>
          <a:bodyPr wrap="square" lIns="0" tIns="0" rIns="0" bIns="0" rtlCol="0" anchor="t"/>
          <a:lstStyle/>
          <a:p>
            <a:pPr indent="0" marL="0">
              <a:buNone/>
            </a:pPr>
            <a:r>
              <a:rPr lang="en-US" sz="1250" b="1" dirty="0">
                <a:solidFill>
                  <a:srgbClr val="2E7D8F"/>
                </a:solidFill>
                <a:latin typeface="Courier New" pitchFamily="34" charset="0"/>
                <a:ea typeface="Courier New" pitchFamily="34" charset="-122"/>
                <a:cs typeface="Courier New" pitchFamily="34" charset="-120"/>
              </a:rPr>
              <a:t>A[:, 2:3]</a:t>
            </a:r>
            <a:endParaRPr lang="en-US" sz="1250" dirty="0"/>
          </a:p>
        </p:txBody>
      </p:sp>
      <p:sp>
        <p:nvSpPr>
          <p:cNvPr id="47" name="Text 45"/>
          <p:cNvSpPr/>
          <p:nvPr/>
        </p:nvSpPr>
        <p:spPr>
          <a:xfrm>
            <a:off x="5102352" y="2871216"/>
            <a:ext cx="2606040" cy="256032"/>
          </a:xfrm>
          <a:prstGeom prst="rect">
            <a:avLst/>
          </a:prstGeom>
          <a:noFill/>
          <a:ln/>
        </p:spPr>
        <p:txBody>
          <a:bodyPr wrap="square" lIns="0" tIns="0" rIns="0" bIns="0" rtlCol="0" anchor="t"/>
          <a:lstStyle/>
          <a:p>
            <a:pPr indent="0" marL="0">
              <a:buNone/>
            </a:pPr>
            <a:r>
              <a:rPr lang="en-US" sz="1200" dirty="0">
                <a:solidFill>
                  <a:srgbClr val="16233A"/>
                </a:solidFill>
                <a:latin typeface="Courier New" pitchFamily="34" charset="0"/>
                <a:ea typeface="Courier New" pitchFamily="34" charset="-122"/>
                <a:cs typeface="Courier New" pitchFamily="34" charset="-120"/>
              </a:rPr>
              <a:t>[[2] [6] [10] [14]]</a:t>
            </a:r>
            <a:endParaRPr lang="en-US" sz="1200" dirty="0"/>
          </a:p>
        </p:txBody>
      </p:sp>
      <p:sp>
        <p:nvSpPr>
          <p:cNvPr id="48" name="Text 46"/>
          <p:cNvSpPr/>
          <p:nvPr/>
        </p:nvSpPr>
        <p:spPr>
          <a:xfrm>
            <a:off x="7790688" y="2880360"/>
            <a:ext cx="3623767" cy="402336"/>
          </a:xfrm>
          <a:prstGeom prst="rect">
            <a:avLst/>
          </a:prstGeom>
          <a:noFill/>
          <a:ln/>
        </p:spPr>
        <p:txBody>
          <a:bodyPr wrap="square" lIns="0" tIns="0" rIns="0" bIns="0" rtlCol="0" anchor="t"/>
          <a:lstStyle/>
          <a:p>
            <a:pPr indent="0" marL="0">
              <a:lnSpc>
                <a:spcPct val="110000"/>
              </a:lnSpc>
              <a:buNone/>
            </a:pPr>
            <a:r>
              <a:rPr lang="en-US" sz="1150" dirty="0">
                <a:solidFill>
                  <a:srgbClr val="6B7A90"/>
                </a:solidFill>
                <a:latin typeface="Calibri" pitchFamily="34" charset="0"/>
                <a:ea typeface="Calibri" pitchFamily="34" charset="-122"/>
                <a:cs typeface="Calibri" pitchFamily="34" charset="-120"/>
              </a:rPr>
              <a:t>shape (4, 1) — ahora sí es columna</a:t>
            </a:r>
            <a:endParaRPr lang="en-US" sz="1150" dirty="0"/>
          </a:p>
        </p:txBody>
      </p:sp>
      <p:sp>
        <p:nvSpPr>
          <p:cNvPr id="49" name="Text 47"/>
          <p:cNvSpPr/>
          <p:nvPr/>
        </p:nvSpPr>
        <p:spPr>
          <a:xfrm>
            <a:off x="3566160" y="3529584"/>
            <a:ext cx="1417320" cy="256032"/>
          </a:xfrm>
          <a:prstGeom prst="rect">
            <a:avLst/>
          </a:prstGeom>
          <a:noFill/>
          <a:ln/>
        </p:spPr>
        <p:txBody>
          <a:bodyPr wrap="square" lIns="0" tIns="0" rIns="0" bIns="0" rtlCol="0" anchor="t"/>
          <a:lstStyle/>
          <a:p>
            <a:pPr indent="0" marL="0">
              <a:buNone/>
            </a:pPr>
            <a:r>
              <a:rPr lang="en-US" sz="1250" b="1" dirty="0">
                <a:solidFill>
                  <a:srgbClr val="2E7D8F"/>
                </a:solidFill>
                <a:latin typeface="Courier New" pitchFamily="34" charset="0"/>
                <a:ea typeface="Courier New" pitchFamily="34" charset="-122"/>
                <a:cs typeface="Courier New" pitchFamily="34" charset="-120"/>
              </a:rPr>
              <a:t>A[1:3, 2:4]</a:t>
            </a:r>
            <a:endParaRPr lang="en-US" sz="1250" dirty="0"/>
          </a:p>
        </p:txBody>
      </p:sp>
      <p:sp>
        <p:nvSpPr>
          <p:cNvPr id="50" name="Text 48"/>
          <p:cNvSpPr/>
          <p:nvPr/>
        </p:nvSpPr>
        <p:spPr>
          <a:xfrm>
            <a:off x="5102352" y="3529584"/>
            <a:ext cx="2606040" cy="256032"/>
          </a:xfrm>
          <a:prstGeom prst="rect">
            <a:avLst/>
          </a:prstGeom>
          <a:noFill/>
          <a:ln/>
        </p:spPr>
        <p:txBody>
          <a:bodyPr wrap="square" lIns="0" tIns="0" rIns="0" bIns="0" rtlCol="0" anchor="t"/>
          <a:lstStyle/>
          <a:p>
            <a:pPr indent="0" marL="0">
              <a:buNone/>
            </a:pPr>
            <a:r>
              <a:rPr lang="en-US" sz="1200" dirty="0">
                <a:solidFill>
                  <a:srgbClr val="16233A"/>
                </a:solidFill>
                <a:latin typeface="Courier New" pitchFamily="34" charset="0"/>
                <a:ea typeface="Courier New" pitchFamily="34" charset="-122"/>
                <a:cs typeface="Courier New" pitchFamily="34" charset="-120"/>
              </a:rPr>
              <a:t>[[6 7] [10 11]]</a:t>
            </a:r>
            <a:endParaRPr lang="en-US" sz="1200" dirty="0"/>
          </a:p>
        </p:txBody>
      </p:sp>
      <p:sp>
        <p:nvSpPr>
          <p:cNvPr id="51" name="Text 49"/>
          <p:cNvSpPr/>
          <p:nvPr/>
        </p:nvSpPr>
        <p:spPr>
          <a:xfrm>
            <a:off x="7790688" y="3538728"/>
            <a:ext cx="3623767" cy="402336"/>
          </a:xfrm>
          <a:prstGeom prst="rect">
            <a:avLst/>
          </a:prstGeom>
          <a:noFill/>
          <a:ln/>
        </p:spPr>
        <p:txBody>
          <a:bodyPr wrap="square" lIns="0" tIns="0" rIns="0" bIns="0" rtlCol="0" anchor="t"/>
          <a:lstStyle/>
          <a:p>
            <a:pPr indent="0" marL="0">
              <a:lnSpc>
                <a:spcPct val="110000"/>
              </a:lnSpc>
              <a:buNone/>
            </a:pPr>
            <a:r>
              <a:rPr lang="en-US" sz="1150" dirty="0">
                <a:solidFill>
                  <a:srgbClr val="6B7A90"/>
                </a:solidFill>
                <a:latin typeface="Calibri" pitchFamily="34" charset="0"/>
                <a:ea typeface="Calibri" pitchFamily="34" charset="-122"/>
                <a:cs typeface="Calibri" pitchFamily="34" charset="-120"/>
              </a:rPr>
              <a:t>un bloque</a:t>
            </a:r>
            <a:endParaRPr lang="en-US" sz="1150" dirty="0"/>
          </a:p>
        </p:txBody>
      </p:sp>
      <p:sp>
        <p:nvSpPr>
          <p:cNvPr id="52" name="Shape 50"/>
          <p:cNvSpPr/>
          <p:nvPr/>
        </p:nvSpPr>
        <p:spPr>
          <a:xfrm>
            <a:off x="3383280" y="4114800"/>
            <a:ext cx="8214055" cy="603504"/>
          </a:xfrm>
          <a:prstGeom prst="roundRect">
            <a:avLst>
              <a:gd name="adj" fmla="val 7576"/>
            </a:avLst>
          </a:prstGeom>
          <a:solidFill>
            <a:srgbClr val="F1F4F9"/>
          </a:solidFill>
          <a:ln w="12700">
            <a:solidFill>
              <a:srgbClr val="F1F4F9"/>
            </a:solidFill>
            <a:prstDash val="solid"/>
          </a:ln>
        </p:spPr>
      </p:sp>
      <p:sp>
        <p:nvSpPr>
          <p:cNvPr id="53" name="Text 51"/>
          <p:cNvSpPr/>
          <p:nvPr/>
        </p:nvSpPr>
        <p:spPr>
          <a:xfrm>
            <a:off x="3566160" y="4187952"/>
            <a:ext cx="1417320" cy="256032"/>
          </a:xfrm>
          <a:prstGeom prst="rect">
            <a:avLst/>
          </a:prstGeom>
          <a:noFill/>
          <a:ln/>
        </p:spPr>
        <p:txBody>
          <a:bodyPr wrap="square" lIns="0" tIns="0" rIns="0" bIns="0" rtlCol="0" anchor="t"/>
          <a:lstStyle/>
          <a:p>
            <a:pPr indent="0" marL="0">
              <a:buNone/>
            </a:pPr>
            <a:r>
              <a:rPr lang="en-US" sz="1250" b="1" dirty="0">
                <a:solidFill>
                  <a:srgbClr val="2E7D8F"/>
                </a:solidFill>
                <a:latin typeface="Courier New" pitchFamily="34" charset="0"/>
                <a:ea typeface="Courier New" pitchFamily="34" charset="-122"/>
                <a:cs typeface="Courier New" pitchFamily="34" charset="-120"/>
              </a:rPr>
              <a:t>A[-1, :]</a:t>
            </a:r>
            <a:endParaRPr lang="en-US" sz="1250" dirty="0"/>
          </a:p>
        </p:txBody>
      </p:sp>
      <p:sp>
        <p:nvSpPr>
          <p:cNvPr id="54" name="Text 52"/>
          <p:cNvSpPr/>
          <p:nvPr/>
        </p:nvSpPr>
        <p:spPr>
          <a:xfrm>
            <a:off x="5102352" y="4187952"/>
            <a:ext cx="2606040" cy="256032"/>
          </a:xfrm>
          <a:prstGeom prst="rect">
            <a:avLst/>
          </a:prstGeom>
          <a:noFill/>
          <a:ln/>
        </p:spPr>
        <p:txBody>
          <a:bodyPr wrap="square" lIns="0" tIns="0" rIns="0" bIns="0" rtlCol="0" anchor="t"/>
          <a:lstStyle/>
          <a:p>
            <a:pPr indent="0" marL="0">
              <a:buNone/>
            </a:pPr>
            <a:r>
              <a:rPr lang="en-US" sz="1200" dirty="0">
                <a:solidFill>
                  <a:srgbClr val="16233A"/>
                </a:solidFill>
                <a:latin typeface="Courier New" pitchFamily="34" charset="0"/>
                <a:ea typeface="Courier New" pitchFamily="34" charset="-122"/>
                <a:cs typeface="Courier New" pitchFamily="34" charset="-120"/>
              </a:rPr>
              <a:t>[12 13 14 15]</a:t>
            </a:r>
            <a:endParaRPr lang="en-US" sz="1200" dirty="0"/>
          </a:p>
        </p:txBody>
      </p:sp>
      <p:sp>
        <p:nvSpPr>
          <p:cNvPr id="55" name="Text 53"/>
          <p:cNvSpPr/>
          <p:nvPr/>
        </p:nvSpPr>
        <p:spPr>
          <a:xfrm>
            <a:off x="7790688" y="4197096"/>
            <a:ext cx="3623767" cy="402336"/>
          </a:xfrm>
          <a:prstGeom prst="rect">
            <a:avLst/>
          </a:prstGeom>
          <a:noFill/>
          <a:ln/>
        </p:spPr>
        <p:txBody>
          <a:bodyPr wrap="square" lIns="0" tIns="0" rIns="0" bIns="0" rtlCol="0" anchor="t"/>
          <a:lstStyle/>
          <a:p>
            <a:pPr indent="0" marL="0">
              <a:lnSpc>
                <a:spcPct val="110000"/>
              </a:lnSpc>
              <a:buNone/>
            </a:pPr>
            <a:r>
              <a:rPr lang="en-US" sz="1150" dirty="0">
                <a:solidFill>
                  <a:srgbClr val="6B7A90"/>
                </a:solidFill>
                <a:latin typeface="Calibri" pitchFamily="34" charset="0"/>
                <a:ea typeface="Calibri" pitchFamily="34" charset="-122"/>
                <a:cs typeface="Calibri" pitchFamily="34" charset="-120"/>
              </a:rPr>
              <a:t>última fila</a:t>
            </a:r>
            <a:endParaRPr lang="en-US" sz="1150" dirty="0"/>
          </a:p>
        </p:txBody>
      </p:sp>
      <p:sp>
        <p:nvSpPr>
          <p:cNvPr id="56" name="Text 54"/>
          <p:cNvSpPr/>
          <p:nvPr/>
        </p:nvSpPr>
        <p:spPr>
          <a:xfrm>
            <a:off x="3566160" y="4846320"/>
            <a:ext cx="1417320" cy="256032"/>
          </a:xfrm>
          <a:prstGeom prst="rect">
            <a:avLst/>
          </a:prstGeom>
          <a:noFill/>
          <a:ln/>
        </p:spPr>
        <p:txBody>
          <a:bodyPr wrap="square" lIns="0" tIns="0" rIns="0" bIns="0" rtlCol="0" anchor="t"/>
          <a:lstStyle/>
          <a:p>
            <a:pPr indent="0" marL="0">
              <a:buNone/>
            </a:pPr>
            <a:r>
              <a:rPr lang="en-US" sz="1250" b="1" dirty="0">
                <a:solidFill>
                  <a:srgbClr val="2E7D8F"/>
                </a:solidFill>
                <a:latin typeface="Courier New" pitchFamily="34" charset="0"/>
                <a:ea typeface="Courier New" pitchFamily="34" charset="-122"/>
                <a:cs typeface="Courier New" pitchFamily="34" charset="-120"/>
              </a:rPr>
              <a:t>A[::-1, :]</a:t>
            </a:r>
            <a:endParaRPr lang="en-US" sz="1250" dirty="0"/>
          </a:p>
        </p:txBody>
      </p:sp>
      <p:sp>
        <p:nvSpPr>
          <p:cNvPr id="57" name="Text 55"/>
          <p:cNvSpPr/>
          <p:nvPr/>
        </p:nvSpPr>
        <p:spPr>
          <a:xfrm>
            <a:off x="5102352" y="4846320"/>
            <a:ext cx="2606040" cy="256032"/>
          </a:xfrm>
          <a:prstGeom prst="rect">
            <a:avLst/>
          </a:prstGeom>
          <a:noFill/>
          <a:ln/>
        </p:spPr>
        <p:txBody>
          <a:bodyPr wrap="square" lIns="0" tIns="0" rIns="0" bIns="0" rtlCol="0" anchor="t"/>
          <a:lstStyle/>
          <a:p>
            <a:pPr indent="0" marL="0">
              <a:buNone/>
            </a:pPr>
            <a:r>
              <a:rPr lang="en-US" sz="1200" dirty="0">
                <a:solidFill>
                  <a:srgbClr val="16233A"/>
                </a:solidFill>
                <a:latin typeface="Courier New" pitchFamily="34" charset="0"/>
                <a:ea typeface="Courier New" pitchFamily="34" charset="-122"/>
                <a:cs typeface="Courier New" pitchFamily="34" charset="-120"/>
              </a:rPr>
              <a:t>filas al revés</a:t>
            </a:r>
            <a:endParaRPr lang="en-US" sz="1200" dirty="0"/>
          </a:p>
        </p:txBody>
      </p:sp>
      <p:sp>
        <p:nvSpPr>
          <p:cNvPr id="58" name="Text 56"/>
          <p:cNvSpPr/>
          <p:nvPr/>
        </p:nvSpPr>
        <p:spPr>
          <a:xfrm>
            <a:off x="7790688" y="4855464"/>
            <a:ext cx="3623767" cy="402336"/>
          </a:xfrm>
          <a:prstGeom prst="rect">
            <a:avLst/>
          </a:prstGeom>
          <a:noFill/>
          <a:ln/>
        </p:spPr>
        <p:txBody>
          <a:bodyPr wrap="square" lIns="0" tIns="0" rIns="0" bIns="0" rtlCol="0" anchor="t"/>
          <a:lstStyle/>
          <a:p>
            <a:pPr indent="0" marL="0">
              <a:lnSpc>
                <a:spcPct val="110000"/>
              </a:lnSpc>
              <a:buNone/>
            </a:pPr>
            <a:r>
              <a:rPr lang="en-US" sz="1150" dirty="0">
                <a:solidFill>
                  <a:srgbClr val="6B7A90"/>
                </a:solidFill>
                <a:latin typeface="Calibri" pitchFamily="34" charset="0"/>
                <a:ea typeface="Calibri" pitchFamily="34" charset="-122"/>
                <a:cs typeface="Calibri" pitchFamily="34" charset="-120"/>
              </a:rPr>
              <a:t>el paso también acepta negativos</a:t>
            </a:r>
            <a:endParaRPr lang="en-US" sz="1150" dirty="0"/>
          </a:p>
        </p:txBody>
      </p:sp>
      <p:sp>
        <p:nvSpPr>
          <p:cNvPr id="59" name="Shape 57"/>
          <p:cNvSpPr/>
          <p:nvPr/>
        </p:nvSpPr>
        <p:spPr>
          <a:xfrm>
            <a:off x="3383280" y="5650992"/>
            <a:ext cx="8214055" cy="621792"/>
          </a:xfrm>
          <a:prstGeom prst="roundRect">
            <a:avLst>
              <a:gd name="adj" fmla="val 11765"/>
            </a:avLst>
          </a:prstGeom>
          <a:solidFill>
            <a:srgbClr val="FCF2E0"/>
          </a:solidFill>
          <a:ln w="12700">
            <a:solidFill>
              <a:srgbClr val="F0DDB8"/>
            </a:solidFill>
            <a:prstDash val="solid"/>
          </a:ln>
        </p:spPr>
      </p:sp>
      <p:sp>
        <p:nvSpPr>
          <p:cNvPr id="60" name="Text 58"/>
          <p:cNvSpPr/>
          <p:nvPr/>
        </p:nvSpPr>
        <p:spPr>
          <a:xfrm>
            <a:off x="3602736" y="5797296"/>
            <a:ext cx="7775143" cy="365760"/>
          </a:xfrm>
          <a:prstGeom prst="rect">
            <a:avLst/>
          </a:prstGeom>
          <a:noFill/>
          <a:ln/>
        </p:spPr>
        <p:txBody>
          <a:bodyPr wrap="square" lIns="0" tIns="0" rIns="0" bIns="0" rtlCol="0" anchor="t"/>
          <a:lstStyle/>
          <a:p>
            <a:pPr indent="0" marL="0">
              <a:buNone/>
            </a:pPr>
            <a:r>
              <a:rPr lang="en-US" sz="1200" dirty="0">
                <a:solidFill>
                  <a:srgbClr val="6E5525"/>
                </a:solidFill>
                <a:latin typeface="Calibri" pitchFamily="34" charset="0"/>
                <a:ea typeface="Calibri" pitchFamily="34" charset="-122"/>
                <a:cs typeface="Calibri" pitchFamily="34" charset="-120"/>
              </a:rPr>
              <a:t>La diferencia entre shape (4,) y (4,1) parece un detalle. En el Ejercicio 8 es la diferencia entre que te dé y que no.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(4,) y (4,1): por qué no son lo mismo</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Un índice entero borra ese eje. Un slice lo conserva, aunque quede de largo 1. Seguimos con la misma A de 4×4 de la lámina anterior.</a:t>
            </a:r>
            <a:endParaRPr lang="en-US" sz="1300" dirty="0"/>
          </a:p>
        </p:txBody>
      </p:sp>
      <p:sp>
        <p:nvSpPr>
          <p:cNvPr id="4" name="Shape 2"/>
          <p:cNvSpPr/>
          <p:nvPr/>
        </p:nvSpPr>
        <p:spPr>
          <a:xfrm>
            <a:off x="594360" y="1444752"/>
            <a:ext cx="5350612" cy="2523744"/>
          </a:xfrm>
          <a:prstGeom prst="roundRect">
            <a:avLst>
              <a:gd name="adj" fmla="val 2899"/>
            </a:avLst>
          </a:prstGeom>
          <a:solidFill>
            <a:srgbClr val="F1F4F9"/>
          </a:solidFill>
          <a:ln w="12700">
            <a:solidFill>
              <a:srgbClr val="D9E1EB"/>
            </a:solidFill>
            <a:prstDash val="solid"/>
          </a:ln>
        </p:spPr>
      </p:sp>
      <p:sp>
        <p:nvSpPr>
          <p:cNvPr id="5" name="Text 3"/>
          <p:cNvSpPr/>
          <p:nvPr/>
        </p:nvSpPr>
        <p:spPr>
          <a:xfrm>
            <a:off x="886968" y="1627632"/>
            <a:ext cx="2011680" cy="274320"/>
          </a:xfrm>
          <a:prstGeom prst="rect">
            <a:avLst/>
          </a:prstGeom>
          <a:noFill/>
          <a:ln/>
        </p:spPr>
        <p:txBody>
          <a:bodyPr wrap="square" lIns="0" tIns="0" rIns="0" bIns="0" rtlCol="0" anchor="t"/>
          <a:lstStyle/>
          <a:p>
            <a:pPr indent="0" marL="0">
              <a:buNone/>
            </a:pPr>
            <a:r>
              <a:rPr lang="en-US" sz="1600" b="1" dirty="0">
                <a:solidFill>
                  <a:srgbClr val="2E7D8F"/>
                </a:solidFill>
                <a:latin typeface="Courier New" pitchFamily="34" charset="0"/>
                <a:ea typeface="Courier New" pitchFamily="34" charset="-122"/>
                <a:cs typeface="Courier New" pitchFamily="34" charset="-120"/>
              </a:rPr>
              <a:t>A[:, 2]</a:t>
            </a:r>
            <a:endParaRPr lang="en-US" sz="1600" dirty="0"/>
          </a:p>
        </p:txBody>
      </p:sp>
      <p:sp>
        <p:nvSpPr>
          <p:cNvPr id="6" name="Text 4"/>
          <p:cNvSpPr/>
          <p:nvPr/>
        </p:nvSpPr>
        <p:spPr>
          <a:xfrm>
            <a:off x="886968" y="1956816"/>
            <a:ext cx="4765396" cy="274320"/>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el 2 es un índice entero → el eje de columnas desaparece</a:t>
            </a:r>
            <a:endParaRPr lang="en-US" sz="1150" dirty="0"/>
          </a:p>
        </p:txBody>
      </p:sp>
      <p:sp>
        <p:nvSpPr>
          <p:cNvPr id="7" name="Shape 5"/>
          <p:cNvSpPr/>
          <p:nvPr/>
        </p:nvSpPr>
        <p:spPr>
          <a:xfrm>
            <a:off x="886968" y="2340864"/>
            <a:ext cx="420624" cy="420624"/>
          </a:xfrm>
          <a:prstGeom prst="rect">
            <a:avLst/>
          </a:prstGeom>
          <a:solidFill>
            <a:srgbClr val="FCF2E0"/>
          </a:solidFill>
          <a:ln w="12700">
            <a:solidFill>
              <a:srgbClr val="D9E1EB"/>
            </a:solidFill>
            <a:prstDash val="solid"/>
          </a:ln>
        </p:spPr>
      </p:sp>
      <p:sp>
        <p:nvSpPr>
          <p:cNvPr id="8" name="Text 6"/>
          <p:cNvSpPr/>
          <p:nvPr/>
        </p:nvSpPr>
        <p:spPr>
          <a:xfrm>
            <a:off x="886968" y="2340864"/>
            <a:ext cx="420624" cy="420624"/>
          </a:xfrm>
          <a:prstGeom prst="rect">
            <a:avLst/>
          </a:prstGeom>
          <a:noFill/>
          <a:ln/>
        </p:spPr>
        <p:txBody>
          <a:bodyPr wrap="square" lIns="0" tIns="0" rIns="0" bIns="0" rtlCol="0" anchor="ctr"/>
          <a:lstStyle/>
          <a:p>
            <a:pPr algn="ctr" indent="0" marL="0">
              <a:buNone/>
            </a:pPr>
            <a:r>
              <a:rPr lang="en-US" sz="1200" b="1" dirty="0">
                <a:solidFill>
                  <a:srgbClr val="8A6318"/>
                </a:solidFill>
                <a:latin typeface="Calibri" pitchFamily="34" charset="0"/>
                <a:ea typeface="Calibri" pitchFamily="34" charset="-122"/>
                <a:cs typeface="Calibri" pitchFamily="34" charset="-120"/>
              </a:rPr>
              <a:t>2</a:t>
            </a:r>
            <a:endParaRPr lang="en-US" sz="1200" dirty="0"/>
          </a:p>
        </p:txBody>
      </p:sp>
      <p:sp>
        <p:nvSpPr>
          <p:cNvPr id="9" name="Shape 7"/>
          <p:cNvSpPr/>
          <p:nvPr/>
        </p:nvSpPr>
        <p:spPr>
          <a:xfrm>
            <a:off x="1307592" y="2340864"/>
            <a:ext cx="420624" cy="420624"/>
          </a:xfrm>
          <a:prstGeom prst="rect">
            <a:avLst/>
          </a:prstGeom>
          <a:solidFill>
            <a:srgbClr val="FCF2E0"/>
          </a:solidFill>
          <a:ln w="12700">
            <a:solidFill>
              <a:srgbClr val="D9E1EB"/>
            </a:solidFill>
            <a:prstDash val="solid"/>
          </a:ln>
        </p:spPr>
      </p:sp>
      <p:sp>
        <p:nvSpPr>
          <p:cNvPr id="10" name="Text 8"/>
          <p:cNvSpPr/>
          <p:nvPr/>
        </p:nvSpPr>
        <p:spPr>
          <a:xfrm>
            <a:off x="1307592" y="2340864"/>
            <a:ext cx="420624" cy="420624"/>
          </a:xfrm>
          <a:prstGeom prst="rect">
            <a:avLst/>
          </a:prstGeom>
          <a:noFill/>
          <a:ln/>
        </p:spPr>
        <p:txBody>
          <a:bodyPr wrap="square" lIns="0" tIns="0" rIns="0" bIns="0" rtlCol="0" anchor="ctr"/>
          <a:lstStyle/>
          <a:p>
            <a:pPr algn="ctr" indent="0" marL="0">
              <a:buNone/>
            </a:pPr>
            <a:r>
              <a:rPr lang="en-US" sz="1200" b="1" dirty="0">
                <a:solidFill>
                  <a:srgbClr val="8A6318"/>
                </a:solidFill>
                <a:latin typeface="Calibri" pitchFamily="34" charset="0"/>
                <a:ea typeface="Calibri" pitchFamily="34" charset="-122"/>
                <a:cs typeface="Calibri" pitchFamily="34" charset="-120"/>
              </a:rPr>
              <a:t>6</a:t>
            </a:r>
            <a:endParaRPr lang="en-US" sz="1200" dirty="0"/>
          </a:p>
        </p:txBody>
      </p:sp>
      <p:sp>
        <p:nvSpPr>
          <p:cNvPr id="11" name="Shape 9"/>
          <p:cNvSpPr/>
          <p:nvPr/>
        </p:nvSpPr>
        <p:spPr>
          <a:xfrm>
            <a:off x="1728216" y="2340864"/>
            <a:ext cx="420624" cy="420624"/>
          </a:xfrm>
          <a:prstGeom prst="rect">
            <a:avLst/>
          </a:prstGeom>
          <a:solidFill>
            <a:srgbClr val="FCF2E0"/>
          </a:solidFill>
          <a:ln w="12700">
            <a:solidFill>
              <a:srgbClr val="D9E1EB"/>
            </a:solidFill>
            <a:prstDash val="solid"/>
          </a:ln>
        </p:spPr>
      </p:sp>
      <p:sp>
        <p:nvSpPr>
          <p:cNvPr id="12" name="Text 10"/>
          <p:cNvSpPr/>
          <p:nvPr/>
        </p:nvSpPr>
        <p:spPr>
          <a:xfrm>
            <a:off x="1728216" y="2340864"/>
            <a:ext cx="420624" cy="420624"/>
          </a:xfrm>
          <a:prstGeom prst="rect">
            <a:avLst/>
          </a:prstGeom>
          <a:noFill/>
          <a:ln/>
        </p:spPr>
        <p:txBody>
          <a:bodyPr wrap="square" lIns="0" tIns="0" rIns="0" bIns="0" rtlCol="0" anchor="ctr"/>
          <a:lstStyle/>
          <a:p>
            <a:pPr algn="ctr" indent="0" marL="0">
              <a:buNone/>
            </a:pPr>
            <a:r>
              <a:rPr lang="en-US" sz="1200" b="1" dirty="0">
                <a:solidFill>
                  <a:srgbClr val="8A6318"/>
                </a:solidFill>
                <a:latin typeface="Calibri" pitchFamily="34" charset="0"/>
                <a:ea typeface="Calibri" pitchFamily="34" charset="-122"/>
                <a:cs typeface="Calibri" pitchFamily="34" charset="-120"/>
              </a:rPr>
              <a:t>10</a:t>
            </a:r>
            <a:endParaRPr lang="en-US" sz="1200" dirty="0"/>
          </a:p>
        </p:txBody>
      </p:sp>
      <p:sp>
        <p:nvSpPr>
          <p:cNvPr id="13" name="Shape 11"/>
          <p:cNvSpPr/>
          <p:nvPr/>
        </p:nvSpPr>
        <p:spPr>
          <a:xfrm>
            <a:off x="2148840" y="2340864"/>
            <a:ext cx="420624" cy="420624"/>
          </a:xfrm>
          <a:prstGeom prst="rect">
            <a:avLst/>
          </a:prstGeom>
          <a:solidFill>
            <a:srgbClr val="FCF2E0"/>
          </a:solidFill>
          <a:ln w="12700">
            <a:solidFill>
              <a:srgbClr val="D9E1EB"/>
            </a:solidFill>
            <a:prstDash val="solid"/>
          </a:ln>
        </p:spPr>
      </p:sp>
      <p:sp>
        <p:nvSpPr>
          <p:cNvPr id="14" name="Text 12"/>
          <p:cNvSpPr/>
          <p:nvPr/>
        </p:nvSpPr>
        <p:spPr>
          <a:xfrm>
            <a:off x="2148840" y="2340864"/>
            <a:ext cx="420624" cy="420624"/>
          </a:xfrm>
          <a:prstGeom prst="rect">
            <a:avLst/>
          </a:prstGeom>
          <a:noFill/>
          <a:ln/>
        </p:spPr>
        <p:txBody>
          <a:bodyPr wrap="square" lIns="0" tIns="0" rIns="0" bIns="0" rtlCol="0" anchor="ctr"/>
          <a:lstStyle/>
          <a:p>
            <a:pPr algn="ctr" indent="0" marL="0">
              <a:buNone/>
            </a:pPr>
            <a:r>
              <a:rPr lang="en-US" sz="1200" b="1" dirty="0">
                <a:solidFill>
                  <a:srgbClr val="8A6318"/>
                </a:solidFill>
                <a:latin typeface="Calibri" pitchFamily="34" charset="0"/>
                <a:ea typeface="Calibri" pitchFamily="34" charset="-122"/>
                <a:cs typeface="Calibri" pitchFamily="34" charset="-120"/>
              </a:rPr>
              <a:t>14</a:t>
            </a:r>
            <a:endParaRPr lang="en-US" sz="1200" dirty="0"/>
          </a:p>
        </p:txBody>
      </p:sp>
      <p:sp>
        <p:nvSpPr>
          <p:cNvPr id="15" name="Text 13"/>
          <p:cNvSpPr/>
          <p:nvPr/>
        </p:nvSpPr>
        <p:spPr>
          <a:xfrm>
            <a:off x="2807208" y="2432304"/>
            <a:ext cx="2926080" cy="274320"/>
          </a:xfrm>
          <a:prstGeom prst="rect">
            <a:avLst/>
          </a:prstGeom>
          <a:noFill/>
          <a:ln/>
        </p:spPr>
        <p:txBody>
          <a:bodyPr wrap="square" lIns="0" tIns="0" rIns="0" bIns="0" rtlCol="0" anchor="t"/>
          <a:lstStyle/>
          <a:p>
            <a:pPr indent="0" marL="0">
              <a:buNone/>
            </a:pPr>
            <a:r>
              <a:rPr lang="en-US" sz="1250" dirty="0">
                <a:solidFill>
                  <a:srgbClr val="16233A"/>
                </a:solidFill>
                <a:latin typeface="Courier New" pitchFamily="34" charset="0"/>
                <a:ea typeface="Courier New" pitchFamily="34" charset="-122"/>
                <a:cs typeface="Courier New" pitchFamily="34" charset="-120"/>
              </a:rPr>
              <a:t>shape (4,)   ·   un solo eje</a:t>
            </a:r>
            <a:endParaRPr lang="en-US" sz="1250" dirty="0"/>
          </a:p>
        </p:txBody>
      </p:sp>
      <p:sp>
        <p:nvSpPr>
          <p:cNvPr id="16" name="Text 14"/>
          <p:cNvSpPr/>
          <p:nvPr/>
        </p:nvSpPr>
        <p:spPr>
          <a:xfrm>
            <a:off x="886968" y="2962656"/>
            <a:ext cx="4765396" cy="914400"/>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No es una columna. Tampoco es una fila, estrictamente: es un vector sin orientación. Pero en cuanto lo mezclás con una matriz, numpy lo alinea desde la derecha y termina comportándose como fila.</a:t>
            </a:r>
            <a:endParaRPr lang="en-US" sz="1200" dirty="0"/>
          </a:p>
        </p:txBody>
      </p:sp>
      <p:sp>
        <p:nvSpPr>
          <p:cNvPr id="17" name="Shape 15"/>
          <p:cNvSpPr/>
          <p:nvPr/>
        </p:nvSpPr>
        <p:spPr>
          <a:xfrm>
            <a:off x="6246724" y="1444752"/>
            <a:ext cx="5350612" cy="2523744"/>
          </a:xfrm>
          <a:prstGeom prst="roundRect">
            <a:avLst>
              <a:gd name="adj" fmla="val 2899"/>
            </a:avLst>
          </a:prstGeom>
          <a:solidFill>
            <a:srgbClr val="F1F4F9"/>
          </a:solidFill>
          <a:ln w="12700">
            <a:solidFill>
              <a:srgbClr val="D9E1EB"/>
            </a:solidFill>
            <a:prstDash val="solid"/>
          </a:ln>
        </p:spPr>
      </p:sp>
      <p:sp>
        <p:nvSpPr>
          <p:cNvPr id="18" name="Text 16"/>
          <p:cNvSpPr/>
          <p:nvPr/>
        </p:nvSpPr>
        <p:spPr>
          <a:xfrm>
            <a:off x="6539332" y="1627632"/>
            <a:ext cx="2011680" cy="274320"/>
          </a:xfrm>
          <a:prstGeom prst="rect">
            <a:avLst/>
          </a:prstGeom>
          <a:noFill/>
          <a:ln/>
        </p:spPr>
        <p:txBody>
          <a:bodyPr wrap="square" lIns="0" tIns="0" rIns="0" bIns="0" rtlCol="0" anchor="t"/>
          <a:lstStyle/>
          <a:p>
            <a:pPr indent="0" marL="0">
              <a:buNone/>
            </a:pPr>
            <a:r>
              <a:rPr lang="en-US" sz="1600" b="1" dirty="0">
                <a:solidFill>
                  <a:srgbClr val="2E7D8F"/>
                </a:solidFill>
                <a:latin typeface="Courier New" pitchFamily="34" charset="0"/>
                <a:ea typeface="Courier New" pitchFamily="34" charset="-122"/>
                <a:cs typeface="Courier New" pitchFamily="34" charset="-120"/>
              </a:rPr>
              <a:t>A[:, 2:3]</a:t>
            </a:r>
            <a:endParaRPr lang="en-US" sz="1600" dirty="0"/>
          </a:p>
        </p:txBody>
      </p:sp>
      <p:sp>
        <p:nvSpPr>
          <p:cNvPr id="19" name="Text 17"/>
          <p:cNvSpPr/>
          <p:nvPr/>
        </p:nvSpPr>
        <p:spPr>
          <a:xfrm>
            <a:off x="6539332" y="1956816"/>
            <a:ext cx="4765396" cy="274320"/>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el 2:3 es un slice → el eje sobrevive, con largo 1</a:t>
            </a:r>
            <a:endParaRPr lang="en-US" sz="1150" dirty="0"/>
          </a:p>
        </p:txBody>
      </p:sp>
      <p:sp>
        <p:nvSpPr>
          <p:cNvPr id="20" name="Shape 18"/>
          <p:cNvSpPr/>
          <p:nvPr/>
        </p:nvSpPr>
        <p:spPr>
          <a:xfrm>
            <a:off x="6539332" y="2340864"/>
            <a:ext cx="420624" cy="420624"/>
          </a:xfrm>
          <a:prstGeom prst="rect">
            <a:avLst/>
          </a:prstGeom>
          <a:solidFill>
            <a:srgbClr val="FCF2E0"/>
          </a:solidFill>
          <a:ln w="12700">
            <a:solidFill>
              <a:srgbClr val="D9E1EB"/>
            </a:solidFill>
            <a:prstDash val="solid"/>
          </a:ln>
        </p:spPr>
      </p:sp>
      <p:sp>
        <p:nvSpPr>
          <p:cNvPr id="21" name="Text 19"/>
          <p:cNvSpPr/>
          <p:nvPr/>
        </p:nvSpPr>
        <p:spPr>
          <a:xfrm>
            <a:off x="6539332" y="2340864"/>
            <a:ext cx="420624" cy="420624"/>
          </a:xfrm>
          <a:prstGeom prst="rect">
            <a:avLst/>
          </a:prstGeom>
          <a:noFill/>
          <a:ln/>
        </p:spPr>
        <p:txBody>
          <a:bodyPr wrap="square" lIns="0" tIns="0" rIns="0" bIns="0" rtlCol="0" anchor="ctr"/>
          <a:lstStyle/>
          <a:p>
            <a:pPr algn="ctr" indent="0" marL="0">
              <a:buNone/>
            </a:pPr>
            <a:r>
              <a:rPr lang="en-US" sz="1200" b="1" dirty="0">
                <a:solidFill>
                  <a:srgbClr val="8A6318"/>
                </a:solidFill>
                <a:latin typeface="Calibri" pitchFamily="34" charset="0"/>
                <a:ea typeface="Calibri" pitchFamily="34" charset="-122"/>
                <a:cs typeface="Calibri" pitchFamily="34" charset="-120"/>
              </a:rPr>
              <a:t>2</a:t>
            </a:r>
            <a:endParaRPr lang="en-US" sz="1200" dirty="0"/>
          </a:p>
        </p:txBody>
      </p:sp>
      <p:sp>
        <p:nvSpPr>
          <p:cNvPr id="22" name="Shape 20"/>
          <p:cNvSpPr/>
          <p:nvPr/>
        </p:nvSpPr>
        <p:spPr>
          <a:xfrm>
            <a:off x="6539332" y="2761488"/>
            <a:ext cx="420624" cy="420624"/>
          </a:xfrm>
          <a:prstGeom prst="rect">
            <a:avLst/>
          </a:prstGeom>
          <a:solidFill>
            <a:srgbClr val="FCF2E0"/>
          </a:solidFill>
          <a:ln w="12700">
            <a:solidFill>
              <a:srgbClr val="D9E1EB"/>
            </a:solidFill>
            <a:prstDash val="solid"/>
          </a:ln>
        </p:spPr>
      </p:sp>
      <p:sp>
        <p:nvSpPr>
          <p:cNvPr id="23" name="Text 21"/>
          <p:cNvSpPr/>
          <p:nvPr/>
        </p:nvSpPr>
        <p:spPr>
          <a:xfrm>
            <a:off x="6539332" y="2761488"/>
            <a:ext cx="420624" cy="420624"/>
          </a:xfrm>
          <a:prstGeom prst="rect">
            <a:avLst/>
          </a:prstGeom>
          <a:noFill/>
          <a:ln/>
        </p:spPr>
        <p:txBody>
          <a:bodyPr wrap="square" lIns="0" tIns="0" rIns="0" bIns="0" rtlCol="0" anchor="ctr"/>
          <a:lstStyle/>
          <a:p>
            <a:pPr algn="ctr" indent="0" marL="0">
              <a:buNone/>
            </a:pPr>
            <a:r>
              <a:rPr lang="en-US" sz="1200" b="1" dirty="0">
                <a:solidFill>
                  <a:srgbClr val="8A6318"/>
                </a:solidFill>
                <a:latin typeface="Calibri" pitchFamily="34" charset="0"/>
                <a:ea typeface="Calibri" pitchFamily="34" charset="-122"/>
                <a:cs typeface="Calibri" pitchFamily="34" charset="-120"/>
              </a:rPr>
              <a:t>6</a:t>
            </a:r>
            <a:endParaRPr lang="en-US" sz="1200" dirty="0"/>
          </a:p>
        </p:txBody>
      </p:sp>
      <p:sp>
        <p:nvSpPr>
          <p:cNvPr id="24" name="Shape 22"/>
          <p:cNvSpPr/>
          <p:nvPr/>
        </p:nvSpPr>
        <p:spPr>
          <a:xfrm>
            <a:off x="6539332" y="3182112"/>
            <a:ext cx="420624" cy="420624"/>
          </a:xfrm>
          <a:prstGeom prst="rect">
            <a:avLst/>
          </a:prstGeom>
          <a:solidFill>
            <a:srgbClr val="FCF2E0"/>
          </a:solidFill>
          <a:ln w="12700">
            <a:solidFill>
              <a:srgbClr val="D9E1EB"/>
            </a:solidFill>
            <a:prstDash val="solid"/>
          </a:ln>
        </p:spPr>
      </p:sp>
      <p:sp>
        <p:nvSpPr>
          <p:cNvPr id="25" name="Text 23"/>
          <p:cNvSpPr/>
          <p:nvPr/>
        </p:nvSpPr>
        <p:spPr>
          <a:xfrm>
            <a:off x="6539332" y="3182112"/>
            <a:ext cx="420624" cy="420624"/>
          </a:xfrm>
          <a:prstGeom prst="rect">
            <a:avLst/>
          </a:prstGeom>
          <a:noFill/>
          <a:ln/>
        </p:spPr>
        <p:txBody>
          <a:bodyPr wrap="square" lIns="0" tIns="0" rIns="0" bIns="0" rtlCol="0" anchor="ctr"/>
          <a:lstStyle/>
          <a:p>
            <a:pPr algn="ctr" indent="0" marL="0">
              <a:buNone/>
            </a:pPr>
            <a:r>
              <a:rPr lang="en-US" sz="1200" b="1" dirty="0">
                <a:solidFill>
                  <a:srgbClr val="8A6318"/>
                </a:solidFill>
                <a:latin typeface="Calibri" pitchFamily="34" charset="0"/>
                <a:ea typeface="Calibri" pitchFamily="34" charset="-122"/>
                <a:cs typeface="Calibri" pitchFamily="34" charset="-120"/>
              </a:rPr>
              <a:t>10</a:t>
            </a:r>
            <a:endParaRPr lang="en-US" sz="1200" dirty="0"/>
          </a:p>
        </p:txBody>
      </p:sp>
      <p:sp>
        <p:nvSpPr>
          <p:cNvPr id="26" name="Shape 24"/>
          <p:cNvSpPr/>
          <p:nvPr/>
        </p:nvSpPr>
        <p:spPr>
          <a:xfrm>
            <a:off x="6539332" y="3602736"/>
            <a:ext cx="420624" cy="420624"/>
          </a:xfrm>
          <a:prstGeom prst="rect">
            <a:avLst/>
          </a:prstGeom>
          <a:solidFill>
            <a:srgbClr val="FCF2E0"/>
          </a:solidFill>
          <a:ln w="12700">
            <a:solidFill>
              <a:srgbClr val="D9E1EB"/>
            </a:solidFill>
            <a:prstDash val="solid"/>
          </a:ln>
        </p:spPr>
      </p:sp>
      <p:sp>
        <p:nvSpPr>
          <p:cNvPr id="27" name="Text 25"/>
          <p:cNvSpPr/>
          <p:nvPr/>
        </p:nvSpPr>
        <p:spPr>
          <a:xfrm>
            <a:off x="6539332" y="3602736"/>
            <a:ext cx="420624" cy="420624"/>
          </a:xfrm>
          <a:prstGeom prst="rect">
            <a:avLst/>
          </a:prstGeom>
          <a:noFill/>
          <a:ln/>
        </p:spPr>
        <p:txBody>
          <a:bodyPr wrap="square" lIns="0" tIns="0" rIns="0" bIns="0" rtlCol="0" anchor="ctr"/>
          <a:lstStyle/>
          <a:p>
            <a:pPr algn="ctr" indent="0" marL="0">
              <a:buNone/>
            </a:pPr>
            <a:r>
              <a:rPr lang="en-US" sz="1200" b="1" dirty="0">
                <a:solidFill>
                  <a:srgbClr val="8A6318"/>
                </a:solidFill>
                <a:latin typeface="Calibri" pitchFamily="34" charset="0"/>
                <a:ea typeface="Calibri" pitchFamily="34" charset="-122"/>
                <a:cs typeface="Calibri" pitchFamily="34" charset="-120"/>
              </a:rPr>
              <a:t>14</a:t>
            </a:r>
            <a:endParaRPr lang="en-US" sz="1200" dirty="0"/>
          </a:p>
        </p:txBody>
      </p:sp>
      <p:sp>
        <p:nvSpPr>
          <p:cNvPr id="28" name="Text 26"/>
          <p:cNvSpPr/>
          <p:nvPr/>
        </p:nvSpPr>
        <p:spPr>
          <a:xfrm>
            <a:off x="7206844" y="2404872"/>
            <a:ext cx="2926080" cy="274320"/>
          </a:xfrm>
          <a:prstGeom prst="rect">
            <a:avLst/>
          </a:prstGeom>
          <a:noFill/>
          <a:ln/>
        </p:spPr>
        <p:txBody>
          <a:bodyPr wrap="square" lIns="0" tIns="0" rIns="0" bIns="0" rtlCol="0" anchor="t"/>
          <a:lstStyle/>
          <a:p>
            <a:pPr indent="0" marL="0">
              <a:buNone/>
            </a:pPr>
            <a:r>
              <a:rPr lang="en-US" sz="1250" dirty="0">
                <a:solidFill>
                  <a:srgbClr val="16233A"/>
                </a:solidFill>
                <a:latin typeface="Courier New" pitchFamily="34" charset="0"/>
                <a:ea typeface="Courier New" pitchFamily="34" charset="-122"/>
                <a:cs typeface="Courier New" pitchFamily="34" charset="-120"/>
              </a:rPr>
              <a:t>shape (4,1)   ·   dos ejes</a:t>
            </a:r>
            <a:endParaRPr lang="en-US" sz="1250" dirty="0"/>
          </a:p>
        </p:txBody>
      </p:sp>
      <p:sp>
        <p:nvSpPr>
          <p:cNvPr id="29" name="Text 27"/>
          <p:cNvSpPr/>
          <p:nvPr/>
        </p:nvSpPr>
        <p:spPr>
          <a:xfrm>
            <a:off x="7206844" y="2761488"/>
            <a:ext cx="4097884" cy="10607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Cuatro filas por una columna: esto sí es una columna de verdad. Al imprimirlo, el doble corchete —  [[ 2] [ 6] [10] [14]]  — es la pista visual de que hay dos dimensiones.</a:t>
            </a:r>
            <a:endParaRPr lang="en-US" sz="1200" dirty="0"/>
          </a:p>
        </p:txBody>
      </p:sp>
      <p:sp>
        <p:nvSpPr>
          <p:cNvPr id="30" name="Shape 28"/>
          <p:cNvSpPr/>
          <p:nvPr/>
        </p:nvSpPr>
        <p:spPr>
          <a:xfrm>
            <a:off x="594360" y="4187952"/>
            <a:ext cx="6675120" cy="2194560"/>
          </a:xfrm>
          <a:prstGeom prst="roundRect">
            <a:avLst>
              <a:gd name="adj" fmla="val 3333"/>
            </a:avLst>
          </a:prstGeom>
          <a:solidFill>
            <a:srgbClr val="FFFFFF"/>
          </a:solidFill>
          <a:ln w="12700">
            <a:solidFill>
              <a:srgbClr val="D9E1EB"/>
            </a:solidFill>
            <a:prstDash val="solid"/>
          </a:ln>
        </p:spPr>
      </p:sp>
      <p:sp>
        <p:nvSpPr>
          <p:cNvPr id="31" name="Text 29"/>
          <p:cNvSpPr/>
          <p:nvPr/>
        </p:nvSpPr>
        <p:spPr>
          <a:xfrm>
            <a:off x="868680" y="4370832"/>
            <a:ext cx="6126480" cy="274320"/>
          </a:xfrm>
          <a:prstGeom prst="rect">
            <a:avLst/>
          </a:prstGeom>
          <a:noFill/>
          <a:ln/>
        </p:spPr>
        <p:txBody>
          <a:bodyPr wrap="square" lIns="0" tIns="0" rIns="0" bIns="0" rtlCol="0" anchor="t"/>
          <a:lstStyle/>
          <a:p>
            <a:pPr indent="0" marL="0">
              <a:buNone/>
            </a:pPr>
            <a:r>
              <a:rPr lang="en-US" sz="1400" b="1" dirty="0">
                <a:solidFill>
                  <a:srgbClr val="16233A"/>
                </a:solidFill>
                <a:latin typeface="Cambria" pitchFamily="34" charset="0"/>
                <a:ea typeface="Cambria" pitchFamily="34" charset="-122"/>
                <a:cs typeface="Cambria" pitchFamily="34" charset="-120"/>
              </a:rPr>
              <a:t>Qué pasa al multiplicarlo por una matriz M de shape (4,3)</a:t>
            </a:r>
            <a:endParaRPr lang="en-US" sz="1400" dirty="0"/>
          </a:p>
        </p:txBody>
      </p:sp>
      <p:sp>
        <p:nvSpPr>
          <p:cNvPr id="32" name="Shape 30"/>
          <p:cNvSpPr/>
          <p:nvPr/>
        </p:nvSpPr>
        <p:spPr>
          <a:xfrm>
            <a:off x="850392" y="4754880"/>
            <a:ext cx="6163056" cy="548640"/>
          </a:xfrm>
          <a:prstGeom prst="roundRect">
            <a:avLst>
              <a:gd name="adj" fmla="val 8333"/>
            </a:avLst>
          </a:prstGeom>
          <a:solidFill>
            <a:srgbClr val="FAEDEB"/>
          </a:solidFill>
          <a:ln w="12700">
            <a:solidFill>
              <a:srgbClr val="FAEDEB"/>
            </a:solidFill>
            <a:prstDash val="solid"/>
          </a:ln>
        </p:spPr>
      </p:sp>
      <p:sp>
        <p:nvSpPr>
          <p:cNvPr id="33" name="Text 31"/>
          <p:cNvSpPr/>
          <p:nvPr/>
        </p:nvSpPr>
        <p:spPr>
          <a:xfrm>
            <a:off x="1014984" y="4800600"/>
            <a:ext cx="1417320" cy="256032"/>
          </a:xfrm>
          <a:prstGeom prst="rect">
            <a:avLst/>
          </a:prstGeom>
          <a:noFill/>
          <a:ln/>
        </p:spPr>
        <p:txBody>
          <a:bodyPr wrap="square" lIns="0" tIns="0" rIns="0" bIns="0" rtlCol="0" anchor="t"/>
          <a:lstStyle/>
          <a:p>
            <a:pPr indent="0" marL="0">
              <a:buNone/>
            </a:pPr>
            <a:r>
              <a:rPr lang="en-US" sz="1200" b="1" dirty="0">
                <a:solidFill>
                  <a:srgbClr val="A8453A"/>
                </a:solidFill>
                <a:latin typeface="Courier New" pitchFamily="34" charset="0"/>
                <a:ea typeface="Courier New" pitchFamily="34" charset="-122"/>
                <a:cs typeface="Courier New" pitchFamily="34" charset="-120"/>
              </a:rPr>
              <a:t>M * A[:, 2]</a:t>
            </a:r>
            <a:endParaRPr lang="en-US" sz="1200" dirty="0"/>
          </a:p>
        </p:txBody>
      </p:sp>
      <p:sp>
        <p:nvSpPr>
          <p:cNvPr id="34" name="Text 32"/>
          <p:cNvSpPr/>
          <p:nvPr/>
        </p:nvSpPr>
        <p:spPr>
          <a:xfrm>
            <a:off x="2496312" y="4800600"/>
            <a:ext cx="1417320" cy="256032"/>
          </a:xfrm>
          <a:prstGeom prst="rect">
            <a:avLst/>
          </a:prstGeom>
          <a:noFill/>
          <a:ln/>
        </p:spPr>
        <p:txBody>
          <a:bodyPr wrap="square" lIns="0" tIns="0" rIns="0" bIns="0" rtlCol="0" anchor="t"/>
          <a:lstStyle/>
          <a:p>
            <a:pPr indent="0" marL="0">
              <a:buNone/>
            </a:pPr>
            <a:r>
              <a:rPr lang="en-US" sz="1150" dirty="0">
                <a:solidFill>
                  <a:srgbClr val="16233A"/>
                </a:solidFill>
                <a:latin typeface="Courier New" pitchFamily="34" charset="0"/>
                <a:ea typeface="Courier New" pitchFamily="34" charset="-122"/>
                <a:cs typeface="Courier New" pitchFamily="34" charset="-120"/>
              </a:rPr>
              <a:t>(4,3) vs (4,)</a:t>
            </a:r>
            <a:endParaRPr lang="en-US" sz="1150" dirty="0"/>
          </a:p>
        </p:txBody>
      </p:sp>
      <p:sp>
        <p:nvSpPr>
          <p:cNvPr id="35" name="Text 33"/>
          <p:cNvSpPr/>
          <p:nvPr/>
        </p:nvSpPr>
        <p:spPr>
          <a:xfrm>
            <a:off x="3995928" y="4800600"/>
            <a:ext cx="2148840" cy="457200"/>
          </a:xfrm>
          <a:prstGeom prst="rect">
            <a:avLst/>
          </a:prstGeom>
          <a:noFill/>
          <a:ln/>
        </p:spPr>
        <p:txBody>
          <a:bodyPr wrap="square" lIns="0" tIns="0" rIns="0" bIns="0" rtlCol="0" anchor="t"/>
          <a:lstStyle/>
          <a:p>
            <a:pPr indent="0" marL="0">
              <a:lnSpc>
                <a:spcPct val="110000"/>
              </a:lnSpc>
              <a:buNone/>
            </a:pPr>
            <a:r>
              <a:rPr lang="en-US" sz="1050" dirty="0">
                <a:solidFill>
                  <a:srgbClr val="2B3648"/>
                </a:solidFill>
                <a:latin typeface="Calibri" pitchFamily="34" charset="0"/>
                <a:ea typeface="Calibri" pitchFamily="34" charset="-122"/>
                <a:cs typeface="Calibri" pitchFamily="34" charset="-120"/>
              </a:rPr>
              <a:t>compara 3 contra 4 → no coinciden</a:t>
            </a:r>
            <a:endParaRPr lang="en-US" sz="1050" dirty="0"/>
          </a:p>
        </p:txBody>
      </p:sp>
      <p:sp>
        <p:nvSpPr>
          <p:cNvPr id="36" name="Text 34"/>
          <p:cNvSpPr/>
          <p:nvPr/>
        </p:nvSpPr>
        <p:spPr>
          <a:xfrm>
            <a:off x="6172200" y="4800600"/>
            <a:ext cx="777240" cy="256032"/>
          </a:xfrm>
          <a:prstGeom prst="rect">
            <a:avLst/>
          </a:prstGeom>
          <a:noFill/>
          <a:ln/>
        </p:spPr>
        <p:txBody>
          <a:bodyPr wrap="square" lIns="0" tIns="0" rIns="0" bIns="0" rtlCol="0" anchor="t"/>
          <a:lstStyle/>
          <a:p>
            <a:pPr algn="r" indent="0" marL="0">
              <a:buNone/>
            </a:pPr>
            <a:r>
              <a:rPr lang="en-US" sz="1150" b="1" dirty="0">
                <a:solidFill>
                  <a:srgbClr val="A8453A"/>
                </a:solidFill>
                <a:latin typeface="Calibri" pitchFamily="34" charset="0"/>
                <a:ea typeface="Calibri" pitchFamily="34" charset="-122"/>
                <a:cs typeface="Calibri" pitchFamily="34" charset="-120"/>
              </a:rPr>
              <a:t>Error</a:t>
            </a:r>
            <a:endParaRPr lang="en-US" sz="1150" dirty="0"/>
          </a:p>
        </p:txBody>
      </p:sp>
      <p:sp>
        <p:nvSpPr>
          <p:cNvPr id="37" name="Shape 35"/>
          <p:cNvSpPr/>
          <p:nvPr/>
        </p:nvSpPr>
        <p:spPr>
          <a:xfrm>
            <a:off x="850392" y="5376672"/>
            <a:ext cx="6163056" cy="548640"/>
          </a:xfrm>
          <a:prstGeom prst="roundRect">
            <a:avLst>
              <a:gd name="adj" fmla="val 8333"/>
            </a:avLst>
          </a:prstGeom>
          <a:solidFill>
            <a:srgbClr val="EAF4EE"/>
          </a:solidFill>
          <a:ln w="12700">
            <a:solidFill>
              <a:srgbClr val="EAF4EE"/>
            </a:solidFill>
            <a:prstDash val="solid"/>
          </a:ln>
        </p:spPr>
      </p:sp>
      <p:sp>
        <p:nvSpPr>
          <p:cNvPr id="38" name="Text 36"/>
          <p:cNvSpPr/>
          <p:nvPr/>
        </p:nvSpPr>
        <p:spPr>
          <a:xfrm>
            <a:off x="1014984" y="5422392"/>
            <a:ext cx="1417320" cy="256032"/>
          </a:xfrm>
          <a:prstGeom prst="rect">
            <a:avLst/>
          </a:prstGeom>
          <a:noFill/>
          <a:ln/>
        </p:spPr>
        <p:txBody>
          <a:bodyPr wrap="square" lIns="0" tIns="0" rIns="0" bIns="0" rtlCol="0" anchor="t"/>
          <a:lstStyle/>
          <a:p>
            <a:pPr indent="0" marL="0">
              <a:buNone/>
            </a:pPr>
            <a:r>
              <a:rPr lang="en-US" sz="1200" b="1" dirty="0">
                <a:solidFill>
                  <a:srgbClr val="2F7D4F"/>
                </a:solidFill>
                <a:latin typeface="Courier New" pitchFamily="34" charset="0"/>
                <a:ea typeface="Courier New" pitchFamily="34" charset="-122"/>
                <a:cs typeface="Courier New" pitchFamily="34" charset="-120"/>
              </a:rPr>
              <a:t>M * A[:, 2:3]</a:t>
            </a:r>
            <a:endParaRPr lang="en-US" sz="1200" dirty="0"/>
          </a:p>
        </p:txBody>
      </p:sp>
      <p:sp>
        <p:nvSpPr>
          <p:cNvPr id="39" name="Text 37"/>
          <p:cNvSpPr/>
          <p:nvPr/>
        </p:nvSpPr>
        <p:spPr>
          <a:xfrm>
            <a:off x="2496312" y="5422392"/>
            <a:ext cx="1417320" cy="256032"/>
          </a:xfrm>
          <a:prstGeom prst="rect">
            <a:avLst/>
          </a:prstGeom>
          <a:noFill/>
          <a:ln/>
        </p:spPr>
        <p:txBody>
          <a:bodyPr wrap="square" lIns="0" tIns="0" rIns="0" bIns="0" rtlCol="0" anchor="t"/>
          <a:lstStyle/>
          <a:p>
            <a:pPr indent="0" marL="0">
              <a:buNone/>
            </a:pPr>
            <a:r>
              <a:rPr lang="en-US" sz="1150" dirty="0">
                <a:solidFill>
                  <a:srgbClr val="16233A"/>
                </a:solidFill>
                <a:latin typeface="Courier New" pitchFamily="34" charset="0"/>
                <a:ea typeface="Courier New" pitchFamily="34" charset="-122"/>
                <a:cs typeface="Courier New" pitchFamily="34" charset="-120"/>
              </a:rPr>
              <a:t>(4,3) vs (4,1)</a:t>
            </a:r>
            <a:endParaRPr lang="en-US" sz="1150" dirty="0"/>
          </a:p>
        </p:txBody>
      </p:sp>
      <p:sp>
        <p:nvSpPr>
          <p:cNvPr id="40" name="Text 38"/>
          <p:cNvSpPr/>
          <p:nvPr/>
        </p:nvSpPr>
        <p:spPr>
          <a:xfrm>
            <a:off x="3995928" y="5422392"/>
            <a:ext cx="2148840" cy="457200"/>
          </a:xfrm>
          <a:prstGeom prst="rect">
            <a:avLst/>
          </a:prstGeom>
          <a:noFill/>
          <a:ln/>
        </p:spPr>
        <p:txBody>
          <a:bodyPr wrap="square" lIns="0" tIns="0" rIns="0" bIns="0" rtlCol="0" anchor="t"/>
          <a:lstStyle/>
          <a:p>
            <a:pPr indent="0" marL="0">
              <a:lnSpc>
                <a:spcPct val="110000"/>
              </a:lnSpc>
              <a:buNone/>
            </a:pPr>
            <a:r>
              <a:rPr lang="en-US" sz="1050" dirty="0">
                <a:solidFill>
                  <a:srgbClr val="2B3648"/>
                </a:solidFill>
                <a:latin typeface="Calibri" pitchFamily="34" charset="0"/>
                <a:ea typeface="Calibri" pitchFamily="34" charset="-122"/>
                <a:cs typeface="Calibri" pitchFamily="34" charset="-120"/>
              </a:rPr>
              <a:t>el 1 se estira a 3 → cada fila por su número</a:t>
            </a:r>
            <a:endParaRPr lang="en-US" sz="1050" dirty="0"/>
          </a:p>
        </p:txBody>
      </p:sp>
      <p:sp>
        <p:nvSpPr>
          <p:cNvPr id="41" name="Text 39"/>
          <p:cNvSpPr/>
          <p:nvPr/>
        </p:nvSpPr>
        <p:spPr>
          <a:xfrm>
            <a:off x="6172200" y="5422392"/>
            <a:ext cx="777240" cy="256032"/>
          </a:xfrm>
          <a:prstGeom prst="rect">
            <a:avLst/>
          </a:prstGeom>
          <a:noFill/>
          <a:ln/>
        </p:spPr>
        <p:txBody>
          <a:bodyPr wrap="square" lIns="0" tIns="0" rIns="0" bIns="0" rtlCol="0" anchor="t"/>
          <a:lstStyle/>
          <a:p>
            <a:pPr algn="r" indent="0" marL="0">
              <a:buNone/>
            </a:pPr>
            <a:r>
              <a:rPr lang="en-US" sz="1150" b="1" dirty="0">
                <a:solidFill>
                  <a:srgbClr val="2F7D4F"/>
                </a:solidFill>
                <a:latin typeface="Calibri" pitchFamily="34" charset="0"/>
                <a:ea typeface="Calibri" pitchFamily="34" charset="-122"/>
                <a:cs typeface="Calibri" pitchFamily="34" charset="-120"/>
              </a:rPr>
              <a:t>Funciona</a:t>
            </a:r>
            <a:endParaRPr lang="en-US" sz="1150" dirty="0"/>
          </a:p>
        </p:txBody>
      </p:sp>
      <p:sp>
        <p:nvSpPr>
          <p:cNvPr id="42" name="Text 40"/>
          <p:cNvSpPr/>
          <p:nvPr/>
        </p:nvSpPr>
        <p:spPr>
          <a:xfrm>
            <a:off x="868680" y="5943600"/>
            <a:ext cx="6126480" cy="402336"/>
          </a:xfrm>
          <a:prstGeom prst="rect">
            <a:avLst/>
          </a:prstGeom>
          <a:noFill/>
          <a:ln/>
        </p:spPr>
        <p:txBody>
          <a:bodyPr wrap="square" lIns="0" tIns="0" rIns="0" bIns="0" rtlCol="0" anchor="t"/>
          <a:lstStyle/>
          <a:p>
            <a:pPr indent="0" marL="0">
              <a:lnSpc>
                <a:spcPct val="114000"/>
              </a:lnSpc>
              <a:buNone/>
            </a:pPr>
            <a:r>
              <a:rPr lang="en-US" sz="1150" i="1" dirty="0">
                <a:solidFill>
                  <a:srgbClr val="6B7A90"/>
                </a:solidFill>
                <a:latin typeface="Calibri" pitchFamily="34" charset="0"/>
                <a:ea typeface="Calibri" pitchFamily="34" charset="-122"/>
                <a:cs typeface="Calibri" pitchFamily="34" charset="-120"/>
              </a:rPr>
              <a:t>Regla de bolsillo: si vas a operar el resultado contra una matriz, extraelo con slice (2:3). Si solo lo vas a recorrer o sumar, el entero alcanza.</a:t>
            </a:r>
            <a:endParaRPr lang="en-US" sz="1150" dirty="0"/>
          </a:p>
        </p:txBody>
      </p:sp>
      <p:sp>
        <p:nvSpPr>
          <p:cNvPr id="43" name="Shape 41"/>
          <p:cNvSpPr/>
          <p:nvPr/>
        </p:nvSpPr>
        <p:spPr>
          <a:xfrm>
            <a:off x="7571232" y="4187952"/>
            <a:ext cx="4026103" cy="2194560"/>
          </a:xfrm>
          <a:prstGeom prst="roundRect">
            <a:avLst>
              <a:gd name="adj" fmla="val 3333"/>
            </a:avLst>
          </a:prstGeom>
          <a:solidFill>
            <a:srgbClr val="FCF2E0"/>
          </a:solidFill>
          <a:ln w="12700">
            <a:solidFill>
              <a:srgbClr val="F0DDB8"/>
            </a:solidFill>
            <a:prstDash val="solid"/>
          </a:ln>
        </p:spPr>
      </p:sp>
      <p:sp>
        <p:nvSpPr>
          <p:cNvPr id="44" name="Text 42"/>
          <p:cNvSpPr/>
          <p:nvPr/>
        </p:nvSpPr>
        <p:spPr>
          <a:xfrm>
            <a:off x="7827264" y="4370832"/>
            <a:ext cx="3514039" cy="274320"/>
          </a:xfrm>
          <a:prstGeom prst="rect">
            <a:avLst/>
          </a:prstGeom>
          <a:noFill/>
          <a:ln/>
        </p:spPr>
        <p:txBody>
          <a:bodyPr wrap="square" lIns="0" tIns="0" rIns="0" bIns="0" rtlCol="0" anchor="t"/>
          <a:lstStyle/>
          <a:p>
            <a:pPr indent="0" marL="0">
              <a:buNone/>
            </a:pPr>
            <a:r>
              <a:rPr lang="en-US" sz="1400" b="1" dirty="0">
                <a:solidFill>
                  <a:srgbClr val="8A6318"/>
                </a:solidFill>
                <a:latin typeface="Cambria" pitchFamily="34" charset="0"/>
                <a:ea typeface="Cambria" pitchFamily="34" charset="-122"/>
                <a:cs typeface="Cambria" pitchFamily="34" charset="-120"/>
              </a:rPr>
              <a:t>Por eso el 0:1 de escalonar_filas</a:t>
            </a:r>
            <a:endParaRPr lang="en-US" sz="1400" dirty="0"/>
          </a:p>
        </p:txBody>
      </p:sp>
      <p:sp>
        <p:nvSpPr>
          <p:cNvPr id="45" name="Shape 43"/>
          <p:cNvSpPr/>
          <p:nvPr/>
        </p:nvSpPr>
        <p:spPr>
          <a:xfrm>
            <a:off x="7827264" y="4718304"/>
            <a:ext cx="3514039" cy="505663"/>
          </a:xfrm>
          <a:prstGeom prst="roundRect">
            <a:avLst>
              <a:gd name="adj" fmla="val 10850"/>
            </a:avLst>
          </a:prstGeom>
          <a:solidFill>
            <a:srgbClr val="1B2436"/>
          </a:solidFill>
          <a:ln w="12700">
            <a:solidFill>
              <a:srgbClr val="1B2436"/>
            </a:solidFill>
            <a:prstDash val="solid"/>
          </a:ln>
        </p:spPr>
      </p:sp>
      <p:sp>
        <p:nvSpPr>
          <p:cNvPr id="46" name="Text 44"/>
          <p:cNvSpPr/>
          <p:nvPr/>
        </p:nvSpPr>
        <p:spPr>
          <a:xfrm>
            <a:off x="7973568" y="4855464"/>
            <a:ext cx="3221431" cy="231343"/>
          </a:xfrm>
          <a:prstGeom prst="rect">
            <a:avLst/>
          </a:prstGeom>
          <a:noFill/>
          <a:ln/>
        </p:spPr>
        <p:txBody>
          <a:bodyPr wrap="square" lIns="0" tIns="0" rIns="0" bIns="0" rtlCol="0" anchor="t"/>
          <a:lstStyle/>
          <a:p>
            <a:pPr indent="0" marL="0">
              <a:lnSpc>
                <a:spcPct val="110000"/>
              </a:lnSpc>
              <a:buNone/>
            </a:pPr>
            <a:r>
              <a:rPr lang="en-US" sz="1000" dirty="0">
                <a:solidFill>
                  <a:srgbClr val="E6ECF5"/>
                </a:solidFill>
                <a:latin typeface="Courier New" pitchFamily="34" charset="0"/>
                <a:ea typeface="Courier New" pitchFamily="34" charset="-122"/>
                <a:cs typeface="Courier New" pitchFamily="34" charset="-120"/>
              </a:rPr>
              <a:t>A[1:,:] -= (...) * A[1:,0:1]</a:t>
            </a:r>
            <a:endParaRPr lang="en-US" sz="1000" dirty="0"/>
          </a:p>
        </p:txBody>
      </p:sp>
      <p:sp>
        <p:nvSpPr>
          <p:cNvPr id="47" name="Text 45"/>
          <p:cNvSpPr/>
          <p:nvPr/>
        </p:nvSpPr>
        <p:spPr>
          <a:xfrm>
            <a:off x="7827264" y="5303520"/>
            <a:ext cx="3514039" cy="749808"/>
          </a:xfrm>
          <a:prstGeom prst="rect">
            <a:avLst/>
          </a:prstGeom>
          <a:noFill/>
          <a:ln/>
        </p:spPr>
        <p:txBody>
          <a:bodyPr wrap="square" lIns="0" tIns="0" rIns="0" bIns="0" rtlCol="0" anchor="t"/>
          <a:lstStyle/>
          <a:p>
            <a:pPr indent="0" marL="0">
              <a:lnSpc>
                <a:spcPct val="114000"/>
              </a:lnSpc>
              <a:buNone/>
            </a:pPr>
            <a:r>
              <a:rPr lang="en-US" sz="1050" dirty="0">
                <a:solidFill>
                  <a:srgbClr val="6E5525"/>
                </a:solidFill>
                <a:latin typeface="Calibri" pitchFamily="34" charset="0"/>
                <a:ea typeface="Calibri" pitchFamily="34" charset="-122"/>
                <a:cs typeface="Calibri" pitchFamily="34" charset="-120"/>
              </a:rPr>
              <a:t>Cada fila de abajo necesita su propio coeficiente: hace falta forma columna. Con A[1:,0] tendrías (f-1,) y se alinearía contra las columnas.</a:t>
            </a:r>
            <a:endParaRPr lang="en-US" sz="1050" dirty="0"/>
          </a:p>
        </p:txBody>
      </p:sp>
      <p:sp>
        <p:nvSpPr>
          <p:cNvPr id="48" name="Text 46"/>
          <p:cNvSpPr/>
          <p:nvPr/>
        </p:nvSpPr>
        <p:spPr>
          <a:xfrm>
            <a:off x="7827264" y="6053328"/>
            <a:ext cx="3514039" cy="237744"/>
          </a:xfrm>
          <a:prstGeom prst="rect">
            <a:avLst/>
          </a:prstGeom>
          <a:noFill/>
          <a:ln/>
        </p:spPr>
        <p:txBody>
          <a:bodyPr wrap="square" lIns="0" tIns="0" rIns="0" bIns="0" rtlCol="0" anchor="t"/>
          <a:lstStyle/>
          <a:p>
            <a:pPr indent="0" marL="0">
              <a:buNone/>
            </a:pPr>
            <a:r>
              <a:rPr lang="en-US" sz="1000" dirty="0">
                <a:solidFill>
                  <a:srgbClr val="8A6318"/>
                </a:solidFill>
                <a:latin typeface="Courier New" pitchFamily="34" charset="0"/>
                <a:ea typeface="Courier New" pitchFamily="34" charset="-122"/>
                <a:cs typeface="Courier New" pitchFamily="34" charset="-120"/>
              </a:rPr>
              <a:t>Caso espejo:  A[2,:] → (4,)      A[2:3,:] → (1,4)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Slicing no copia: el bug número uno del labo</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Un slice es una ventana al mismo bloque de memoria. Escribir en la ventana escribe en el original.</a:t>
            </a:r>
            <a:endParaRPr lang="en-US" sz="1300" dirty="0"/>
          </a:p>
        </p:txBody>
      </p:sp>
      <p:sp>
        <p:nvSpPr>
          <p:cNvPr id="4" name="Shape 2"/>
          <p:cNvSpPr/>
          <p:nvPr/>
        </p:nvSpPr>
        <p:spPr>
          <a:xfrm>
            <a:off x="594360" y="1444752"/>
            <a:ext cx="3484778" cy="1847088"/>
          </a:xfrm>
          <a:prstGeom prst="roundRect">
            <a:avLst>
              <a:gd name="adj" fmla="val 3960"/>
            </a:avLst>
          </a:prstGeom>
          <a:solidFill>
            <a:srgbClr val="F1F4F9"/>
          </a:solidFill>
          <a:ln w="12700">
            <a:solidFill>
              <a:srgbClr val="D9E1EB"/>
            </a:solidFill>
            <a:prstDash val="solid"/>
          </a:ln>
        </p:spPr>
      </p:sp>
      <p:sp>
        <p:nvSpPr>
          <p:cNvPr id="5" name="Text 3"/>
          <p:cNvSpPr/>
          <p:nvPr/>
        </p:nvSpPr>
        <p:spPr>
          <a:xfrm>
            <a:off x="850392" y="1645920"/>
            <a:ext cx="2972714" cy="274320"/>
          </a:xfrm>
          <a:prstGeom prst="rect">
            <a:avLst/>
          </a:prstGeom>
          <a:noFill/>
          <a:ln/>
        </p:spPr>
        <p:txBody>
          <a:bodyPr wrap="square" lIns="0" tIns="0" rIns="0" bIns="0" rtlCol="0" anchor="t"/>
          <a:lstStyle/>
          <a:p>
            <a:pPr indent="0" marL="0">
              <a:buNone/>
            </a:pPr>
            <a:r>
              <a:rPr lang="en-US" sz="1500" b="1" dirty="0">
                <a:solidFill>
                  <a:srgbClr val="16233A"/>
                </a:solidFill>
                <a:latin typeface="Cambria" pitchFamily="34" charset="0"/>
                <a:ea typeface="Cambria" pitchFamily="34" charset="-122"/>
                <a:cs typeface="Cambria" pitchFamily="34" charset="-120"/>
              </a:rPr>
              <a:t>Referencia</a:t>
            </a:r>
            <a:endParaRPr lang="en-US" sz="1500" dirty="0"/>
          </a:p>
        </p:txBody>
      </p:sp>
      <p:sp>
        <p:nvSpPr>
          <p:cNvPr id="6" name="Text 4"/>
          <p:cNvSpPr/>
          <p:nvPr/>
        </p:nvSpPr>
        <p:spPr>
          <a:xfrm>
            <a:off x="850392" y="1993392"/>
            <a:ext cx="2972714" cy="274320"/>
          </a:xfrm>
          <a:prstGeom prst="rect">
            <a:avLst/>
          </a:prstGeom>
          <a:noFill/>
          <a:ln/>
        </p:spPr>
        <p:txBody>
          <a:bodyPr wrap="square" lIns="0" tIns="0" rIns="0" bIns="0" rtlCol="0" anchor="t"/>
          <a:lstStyle/>
          <a:p>
            <a:pPr indent="0" marL="0">
              <a:buNone/>
            </a:pPr>
            <a:r>
              <a:rPr lang="en-US" sz="1300" dirty="0">
                <a:solidFill>
                  <a:srgbClr val="16233A"/>
                </a:solidFill>
                <a:latin typeface="Courier New" pitchFamily="34" charset="0"/>
                <a:ea typeface="Courier New" pitchFamily="34" charset="-122"/>
                <a:cs typeface="Courier New" pitchFamily="34" charset="-120"/>
              </a:rPr>
              <a:t>B = A</a:t>
            </a:r>
            <a:endParaRPr lang="en-US" sz="1300" dirty="0"/>
          </a:p>
        </p:txBody>
      </p:sp>
      <p:sp>
        <p:nvSpPr>
          <p:cNvPr id="7" name="Text 5"/>
          <p:cNvSpPr/>
          <p:nvPr/>
        </p:nvSpPr>
        <p:spPr>
          <a:xfrm>
            <a:off x="850392" y="2359152"/>
            <a:ext cx="2972714" cy="786384"/>
          </a:xfrm>
          <a:prstGeom prst="rect">
            <a:avLst/>
          </a:prstGeom>
          <a:noFill/>
          <a:ln/>
        </p:spPr>
        <p:txBody>
          <a:bodyPr wrap="square" lIns="0" tIns="0" rIns="0" bIns="0" rtlCol="0" anchor="t"/>
          <a:lstStyle/>
          <a:p>
            <a:pPr indent="0" marL="0">
              <a:lnSpc>
                <a:spcPct val="116000"/>
              </a:lnSpc>
              <a:buNone/>
            </a:pPr>
            <a:r>
              <a:rPr lang="en-US" sz="1200" dirty="0">
                <a:solidFill>
                  <a:srgbClr val="6B7A90"/>
                </a:solidFill>
                <a:latin typeface="Calibri" pitchFamily="34" charset="0"/>
                <a:ea typeface="Calibri" pitchFamily="34" charset="-122"/>
                <a:cs typeface="Calibri" pitchFamily="34" charset="-120"/>
              </a:rPr>
              <a:t>Un segundo nombre para el mismo objeto. Todo lo que hagas en B pasa en A.</a:t>
            </a:r>
            <a:endParaRPr lang="en-US" sz="1200" dirty="0"/>
          </a:p>
        </p:txBody>
      </p:sp>
      <p:sp>
        <p:nvSpPr>
          <p:cNvPr id="8" name="Shape 6"/>
          <p:cNvSpPr/>
          <p:nvPr/>
        </p:nvSpPr>
        <p:spPr>
          <a:xfrm>
            <a:off x="4353458" y="1444752"/>
            <a:ext cx="3484778" cy="1847088"/>
          </a:xfrm>
          <a:prstGeom prst="roundRect">
            <a:avLst>
              <a:gd name="adj" fmla="val 3960"/>
            </a:avLst>
          </a:prstGeom>
          <a:solidFill>
            <a:srgbClr val="F1F4F9"/>
          </a:solidFill>
          <a:ln w="12700">
            <a:solidFill>
              <a:srgbClr val="D9E1EB"/>
            </a:solidFill>
            <a:prstDash val="solid"/>
          </a:ln>
        </p:spPr>
      </p:sp>
      <p:sp>
        <p:nvSpPr>
          <p:cNvPr id="9" name="Text 7"/>
          <p:cNvSpPr/>
          <p:nvPr/>
        </p:nvSpPr>
        <p:spPr>
          <a:xfrm>
            <a:off x="4609490" y="1645920"/>
            <a:ext cx="2972714" cy="274320"/>
          </a:xfrm>
          <a:prstGeom prst="rect">
            <a:avLst/>
          </a:prstGeom>
          <a:noFill/>
          <a:ln/>
        </p:spPr>
        <p:txBody>
          <a:bodyPr wrap="square" lIns="0" tIns="0" rIns="0" bIns="0" rtlCol="0" anchor="t"/>
          <a:lstStyle/>
          <a:p>
            <a:pPr indent="0" marL="0">
              <a:buNone/>
            </a:pPr>
            <a:r>
              <a:rPr lang="en-US" sz="1500" b="1" dirty="0">
                <a:solidFill>
                  <a:srgbClr val="2E7D8F"/>
                </a:solidFill>
                <a:latin typeface="Cambria" pitchFamily="34" charset="0"/>
                <a:ea typeface="Cambria" pitchFamily="34" charset="-122"/>
                <a:cs typeface="Cambria" pitchFamily="34" charset="-120"/>
              </a:rPr>
              <a:t>Vista</a:t>
            </a:r>
            <a:endParaRPr lang="en-US" sz="1500" dirty="0"/>
          </a:p>
        </p:txBody>
      </p:sp>
      <p:sp>
        <p:nvSpPr>
          <p:cNvPr id="10" name="Text 8"/>
          <p:cNvSpPr/>
          <p:nvPr/>
        </p:nvSpPr>
        <p:spPr>
          <a:xfrm>
            <a:off x="4609490" y="1993392"/>
            <a:ext cx="2972714" cy="274320"/>
          </a:xfrm>
          <a:prstGeom prst="rect">
            <a:avLst/>
          </a:prstGeom>
          <a:noFill/>
          <a:ln/>
        </p:spPr>
        <p:txBody>
          <a:bodyPr wrap="square" lIns="0" tIns="0" rIns="0" bIns="0" rtlCol="0" anchor="t"/>
          <a:lstStyle/>
          <a:p>
            <a:pPr indent="0" marL="0">
              <a:buNone/>
            </a:pPr>
            <a:r>
              <a:rPr lang="en-US" sz="1300" dirty="0">
                <a:solidFill>
                  <a:srgbClr val="16233A"/>
                </a:solidFill>
                <a:latin typeface="Courier New" pitchFamily="34" charset="0"/>
                <a:ea typeface="Courier New" pitchFamily="34" charset="-122"/>
                <a:cs typeface="Courier New" pitchFamily="34" charset="-120"/>
              </a:rPr>
              <a:t>B = A[0, :]</a:t>
            </a:r>
            <a:endParaRPr lang="en-US" sz="1300" dirty="0"/>
          </a:p>
        </p:txBody>
      </p:sp>
      <p:sp>
        <p:nvSpPr>
          <p:cNvPr id="11" name="Text 9"/>
          <p:cNvSpPr/>
          <p:nvPr/>
        </p:nvSpPr>
        <p:spPr>
          <a:xfrm>
            <a:off x="4609490" y="2359152"/>
            <a:ext cx="2972714" cy="786384"/>
          </a:xfrm>
          <a:prstGeom prst="rect">
            <a:avLst/>
          </a:prstGeom>
          <a:noFill/>
          <a:ln/>
        </p:spPr>
        <p:txBody>
          <a:bodyPr wrap="square" lIns="0" tIns="0" rIns="0" bIns="0" rtlCol="0" anchor="t"/>
          <a:lstStyle/>
          <a:p>
            <a:pPr indent="0" marL="0">
              <a:lnSpc>
                <a:spcPct val="116000"/>
              </a:lnSpc>
              <a:buNone/>
            </a:pPr>
            <a:r>
              <a:rPr lang="en-US" sz="1200" dirty="0">
                <a:solidFill>
                  <a:srgbClr val="6B7A90"/>
                </a:solidFill>
                <a:latin typeface="Calibri" pitchFamily="34" charset="0"/>
                <a:ea typeface="Calibri" pitchFamily="34" charset="-122"/>
                <a:cs typeface="Calibri" pitchFamily="34" charset="-120"/>
              </a:rPr>
              <a:t>Un array nuevo que comparte los datos. Escribir en B modifica A. Todo slice es una vista.</a:t>
            </a:r>
            <a:endParaRPr lang="en-US" sz="1200" dirty="0"/>
          </a:p>
        </p:txBody>
      </p:sp>
      <p:sp>
        <p:nvSpPr>
          <p:cNvPr id="12" name="Shape 10"/>
          <p:cNvSpPr/>
          <p:nvPr/>
        </p:nvSpPr>
        <p:spPr>
          <a:xfrm>
            <a:off x="8112557" y="1444752"/>
            <a:ext cx="3484778" cy="1847088"/>
          </a:xfrm>
          <a:prstGeom prst="roundRect">
            <a:avLst>
              <a:gd name="adj" fmla="val 3960"/>
            </a:avLst>
          </a:prstGeom>
          <a:solidFill>
            <a:srgbClr val="F1F4F9"/>
          </a:solidFill>
          <a:ln w="12700">
            <a:solidFill>
              <a:srgbClr val="D9E1EB"/>
            </a:solidFill>
            <a:prstDash val="solid"/>
          </a:ln>
        </p:spPr>
      </p:sp>
      <p:sp>
        <p:nvSpPr>
          <p:cNvPr id="13" name="Text 11"/>
          <p:cNvSpPr/>
          <p:nvPr/>
        </p:nvSpPr>
        <p:spPr>
          <a:xfrm>
            <a:off x="8368589" y="1645920"/>
            <a:ext cx="2972714" cy="274320"/>
          </a:xfrm>
          <a:prstGeom prst="rect">
            <a:avLst/>
          </a:prstGeom>
          <a:noFill/>
          <a:ln/>
        </p:spPr>
        <p:txBody>
          <a:bodyPr wrap="square" lIns="0" tIns="0" rIns="0" bIns="0" rtlCol="0" anchor="t"/>
          <a:lstStyle/>
          <a:p>
            <a:pPr indent="0" marL="0">
              <a:buNone/>
            </a:pPr>
            <a:r>
              <a:rPr lang="en-US" sz="1500" b="1" dirty="0">
                <a:solidFill>
                  <a:srgbClr val="2F7D4F"/>
                </a:solidFill>
                <a:latin typeface="Cambria" pitchFamily="34" charset="0"/>
                <a:ea typeface="Cambria" pitchFamily="34" charset="-122"/>
                <a:cs typeface="Cambria" pitchFamily="34" charset="-120"/>
              </a:rPr>
              <a:t>Copia</a:t>
            </a:r>
            <a:endParaRPr lang="en-US" sz="1500" dirty="0"/>
          </a:p>
        </p:txBody>
      </p:sp>
      <p:sp>
        <p:nvSpPr>
          <p:cNvPr id="14" name="Text 12"/>
          <p:cNvSpPr/>
          <p:nvPr/>
        </p:nvSpPr>
        <p:spPr>
          <a:xfrm>
            <a:off x="8368589" y="1993392"/>
            <a:ext cx="2972714" cy="274320"/>
          </a:xfrm>
          <a:prstGeom prst="rect">
            <a:avLst/>
          </a:prstGeom>
          <a:noFill/>
          <a:ln/>
        </p:spPr>
        <p:txBody>
          <a:bodyPr wrap="square" lIns="0" tIns="0" rIns="0" bIns="0" rtlCol="0" anchor="t"/>
          <a:lstStyle/>
          <a:p>
            <a:pPr indent="0" marL="0">
              <a:buNone/>
            </a:pPr>
            <a:r>
              <a:rPr lang="en-US" sz="1300" dirty="0">
                <a:solidFill>
                  <a:srgbClr val="16233A"/>
                </a:solidFill>
                <a:latin typeface="Courier New" pitchFamily="34" charset="0"/>
                <a:ea typeface="Courier New" pitchFamily="34" charset="-122"/>
                <a:cs typeface="Courier New" pitchFamily="34" charset="-120"/>
              </a:rPr>
              <a:t>B = A.copy()</a:t>
            </a:r>
            <a:endParaRPr lang="en-US" sz="1300" dirty="0"/>
          </a:p>
        </p:txBody>
      </p:sp>
      <p:sp>
        <p:nvSpPr>
          <p:cNvPr id="15" name="Text 13"/>
          <p:cNvSpPr/>
          <p:nvPr/>
        </p:nvSpPr>
        <p:spPr>
          <a:xfrm>
            <a:off x="8368589" y="2359152"/>
            <a:ext cx="2972714" cy="786384"/>
          </a:xfrm>
          <a:prstGeom prst="rect">
            <a:avLst/>
          </a:prstGeom>
          <a:noFill/>
          <a:ln/>
        </p:spPr>
        <p:txBody>
          <a:bodyPr wrap="square" lIns="0" tIns="0" rIns="0" bIns="0" rtlCol="0" anchor="t"/>
          <a:lstStyle/>
          <a:p>
            <a:pPr indent="0" marL="0">
              <a:lnSpc>
                <a:spcPct val="116000"/>
              </a:lnSpc>
              <a:buNone/>
            </a:pPr>
            <a:r>
              <a:rPr lang="en-US" sz="1200" dirty="0">
                <a:solidFill>
                  <a:srgbClr val="6B7A90"/>
                </a:solidFill>
                <a:latin typeface="Calibri" pitchFamily="34" charset="0"/>
                <a:ea typeface="Calibri" pitchFamily="34" charset="-122"/>
                <a:cs typeface="Calibri" pitchFamily="34" charset="-120"/>
              </a:rPr>
              <a:t>Datos propios. Es la única de las tres que te deja tocar B sin tocar A.</a:t>
            </a:r>
            <a:endParaRPr lang="en-US" sz="1200" dirty="0"/>
          </a:p>
        </p:txBody>
      </p:sp>
      <p:sp>
        <p:nvSpPr>
          <p:cNvPr id="16" name="Shape 14"/>
          <p:cNvSpPr/>
          <p:nvPr/>
        </p:nvSpPr>
        <p:spPr>
          <a:xfrm>
            <a:off x="594360" y="3602736"/>
            <a:ext cx="11002975" cy="2267712"/>
          </a:xfrm>
          <a:prstGeom prst="roundRect">
            <a:avLst>
              <a:gd name="adj" fmla="val 3226"/>
            </a:avLst>
          </a:prstGeom>
          <a:solidFill>
            <a:srgbClr val="FAEDEB"/>
          </a:solidFill>
          <a:ln w="12700">
            <a:solidFill>
              <a:srgbClr val="EDCFCA"/>
            </a:solidFill>
            <a:prstDash val="solid"/>
          </a:ln>
        </p:spPr>
      </p:sp>
      <p:sp>
        <p:nvSpPr>
          <p:cNvPr id="17" name="Text 15"/>
          <p:cNvSpPr/>
          <p:nvPr/>
        </p:nvSpPr>
        <p:spPr>
          <a:xfrm>
            <a:off x="886968" y="3803904"/>
            <a:ext cx="10417759" cy="292608"/>
          </a:xfrm>
          <a:prstGeom prst="rect">
            <a:avLst/>
          </a:prstGeom>
          <a:noFill/>
          <a:ln/>
        </p:spPr>
        <p:txBody>
          <a:bodyPr wrap="square" lIns="0" tIns="0" rIns="0" bIns="0" rtlCol="0" anchor="t"/>
          <a:lstStyle/>
          <a:p>
            <a:pPr indent="0" marL="0">
              <a:buNone/>
            </a:pPr>
            <a:r>
              <a:rPr lang="en-US" sz="1500" b="1" dirty="0">
                <a:solidFill>
                  <a:srgbClr val="A8453A"/>
                </a:solidFill>
                <a:latin typeface="Cambria" pitchFamily="34" charset="0"/>
                <a:ea typeface="Cambria" pitchFamily="34" charset="-122"/>
                <a:cs typeface="Cambria" pitchFamily="34" charset="-120"/>
              </a:rPr>
              <a:t>Dónde te muerde: Ejercicio 9, intercambiarFilas in-place</a:t>
            </a:r>
            <a:endParaRPr lang="en-US" sz="1500" dirty="0"/>
          </a:p>
        </p:txBody>
      </p:sp>
      <p:sp>
        <p:nvSpPr>
          <p:cNvPr id="18" name="Shape 16"/>
          <p:cNvSpPr/>
          <p:nvPr/>
        </p:nvSpPr>
        <p:spPr>
          <a:xfrm>
            <a:off x="886968" y="4187952"/>
            <a:ext cx="5669280" cy="1025408"/>
          </a:xfrm>
          <a:prstGeom prst="roundRect">
            <a:avLst>
              <a:gd name="adj" fmla="val 5350"/>
            </a:avLst>
          </a:prstGeom>
          <a:solidFill>
            <a:srgbClr val="1B2436"/>
          </a:solidFill>
          <a:ln w="12700">
            <a:solidFill>
              <a:srgbClr val="1B2436"/>
            </a:solidFill>
            <a:prstDash val="solid"/>
          </a:ln>
        </p:spPr>
      </p:sp>
      <p:sp>
        <p:nvSpPr>
          <p:cNvPr id="19" name="Text 17"/>
          <p:cNvSpPr/>
          <p:nvPr/>
        </p:nvSpPr>
        <p:spPr>
          <a:xfrm>
            <a:off x="1033272" y="4325112"/>
            <a:ext cx="5376672" cy="751088"/>
          </a:xfrm>
          <a:prstGeom prst="rect">
            <a:avLst/>
          </a:prstGeom>
          <a:noFill/>
          <a:ln/>
        </p:spPr>
        <p:txBody>
          <a:bodyPr wrap="square" lIns="0" tIns="0" rIns="0" bIns="0" rtlCol="0" anchor="t"/>
          <a:lstStyle/>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tmp = A[i, :]        # esto es una VISTA</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A[i, :] = A[j, :]    # al escribir aca...</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A[j, :] = tmp        # ...tmp ya cambio</a:t>
            </a:r>
            <a:endParaRPr lang="en-US" sz="1100" dirty="0"/>
          </a:p>
        </p:txBody>
      </p:sp>
      <p:sp>
        <p:nvSpPr>
          <p:cNvPr id="20" name="Text 18"/>
          <p:cNvSpPr/>
          <p:nvPr/>
        </p:nvSpPr>
        <p:spPr>
          <a:xfrm>
            <a:off x="6675120" y="4169664"/>
            <a:ext cx="4919472" cy="1572768"/>
          </a:xfrm>
          <a:prstGeom prst="rect">
            <a:avLst/>
          </a:prstGeom>
          <a:noFill/>
          <a:ln/>
        </p:spPr>
        <p:txBody>
          <a:bodyPr wrap="square" lIns="0" tIns="0" rIns="0" bIns="0" rtlCol="0" anchor="t"/>
          <a:lstStyle/>
          <a:p>
            <a:pPr indent="0" marL="0">
              <a:lnSpc>
                <a:spcPct val="116000"/>
              </a:lnSpc>
              <a:buNone/>
            </a:pPr>
            <a:r>
              <a:rPr lang="en-US" sz="1200" dirty="0">
                <a:solidFill>
                  <a:srgbClr val="7A4A42"/>
                </a:solidFill>
                <a:latin typeface="Calibri" pitchFamily="34" charset="0"/>
                <a:ea typeface="Calibri" pitchFamily="34" charset="-122"/>
                <a:cs typeface="Calibri" pitchFamily="34" charset="-120"/>
              </a:rPr>
              <a:t>Resultado: las dos filas terminan iguales y la matriz queda mal, sin que salte ningún error. Vas a estar media hora buscando el problema en la lógica del intercambio cuando el problema es de memoria.</a:t>
            </a:r>
            <a:endParaRPr lang="en-US" sz="1200" dirty="0"/>
          </a:p>
          <a:p>
            <a:pPr indent="0" marL="0">
              <a:lnSpc>
                <a:spcPct val="116000"/>
              </a:lnSpc>
              <a:buNone/>
            </a:pPr>
            <a:endParaRPr lang="en-US" sz="1200" dirty="0"/>
          </a:p>
          <a:p>
            <a:pPr indent="0" marL="0">
              <a:lnSpc>
                <a:spcPct val="116000"/>
              </a:lnSpc>
              <a:buNone/>
            </a:pPr>
            <a:r>
              <a:rPr lang="en-US" sz="1200" dirty="0">
                <a:solidFill>
                  <a:srgbClr val="7A4A42"/>
                </a:solidFill>
                <a:latin typeface="Calibri" pitchFamily="34" charset="0"/>
                <a:ea typeface="Calibri" pitchFamily="34" charset="-122"/>
                <a:cs typeface="Calibri" pitchFamily="34" charset="-120"/>
              </a:rPr>
              <a:t>Pista, no solución: necesitás que tmp tenga datos propios, o hacer el intercambio elemento por elemento con un for. Las dos salidas son válidas; pensá cuál te deja el código más claro.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Broadcasting: operar sin escribir el for</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Numpy estira automáticamente las dimensiones que valen 1 para que las formas encajen.</a:t>
            </a:r>
            <a:endParaRPr lang="en-US" sz="1300" dirty="0"/>
          </a:p>
        </p:txBody>
      </p:sp>
      <p:sp>
        <p:nvSpPr>
          <p:cNvPr id="4" name="Shape 2"/>
          <p:cNvSpPr/>
          <p:nvPr/>
        </p:nvSpPr>
        <p:spPr>
          <a:xfrm>
            <a:off x="594360" y="1444752"/>
            <a:ext cx="5336896" cy="2277222"/>
          </a:xfrm>
          <a:prstGeom prst="roundRect">
            <a:avLst>
              <a:gd name="adj" fmla="val 2409"/>
            </a:avLst>
          </a:prstGeom>
          <a:solidFill>
            <a:srgbClr val="1B2436"/>
          </a:solidFill>
          <a:ln w="12700">
            <a:solidFill>
              <a:srgbClr val="1B2436"/>
            </a:solidFill>
            <a:prstDash val="solid"/>
          </a:ln>
        </p:spPr>
      </p:sp>
      <p:sp>
        <p:nvSpPr>
          <p:cNvPr id="5" name="Text 3"/>
          <p:cNvSpPr/>
          <p:nvPr/>
        </p:nvSpPr>
        <p:spPr>
          <a:xfrm>
            <a:off x="740664" y="1581912"/>
            <a:ext cx="5044288" cy="2002902"/>
          </a:xfrm>
          <a:prstGeom prst="rect">
            <a:avLst/>
          </a:prstGeom>
          <a:noFill/>
          <a:ln/>
        </p:spPr>
        <p:txBody>
          <a:bodyPr wrap="square" lIns="0" tIns="0" rIns="0" bIns="0" rtlCol="0" anchor="t"/>
          <a:lstStyle/>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v = np.array([1, 2, 3])</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v + 1        # [2 3 4]   el 1 se estira</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v * 2        # [2 4 6]</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v + v        # [2 4 6]   elemento a elemento</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A[i, :] = A[i, :] + s * A[j, :]</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una fila entera, sin recorrer columnas</a:t>
            </a:r>
            <a:endParaRPr lang="en-US" sz="1100" dirty="0"/>
          </a:p>
        </p:txBody>
      </p:sp>
      <p:sp>
        <p:nvSpPr>
          <p:cNvPr id="6" name="Shape 4"/>
          <p:cNvSpPr/>
          <p:nvPr/>
        </p:nvSpPr>
        <p:spPr>
          <a:xfrm>
            <a:off x="6260440" y="1444752"/>
            <a:ext cx="5336896" cy="2212848"/>
          </a:xfrm>
          <a:prstGeom prst="roundRect">
            <a:avLst>
              <a:gd name="adj" fmla="val 3306"/>
            </a:avLst>
          </a:prstGeom>
          <a:solidFill>
            <a:srgbClr val="F1F4F9"/>
          </a:solidFill>
          <a:ln w="12700">
            <a:solidFill>
              <a:srgbClr val="D9E1EB"/>
            </a:solidFill>
            <a:prstDash val="solid"/>
          </a:ln>
        </p:spPr>
      </p:sp>
      <p:sp>
        <p:nvSpPr>
          <p:cNvPr id="7" name="Text 5"/>
          <p:cNvSpPr/>
          <p:nvPr/>
        </p:nvSpPr>
        <p:spPr>
          <a:xfrm>
            <a:off x="6534760" y="1645920"/>
            <a:ext cx="4788256" cy="274320"/>
          </a:xfrm>
          <a:prstGeom prst="rect">
            <a:avLst/>
          </a:prstGeom>
          <a:noFill/>
          <a:ln/>
        </p:spPr>
        <p:txBody>
          <a:bodyPr wrap="square" lIns="0" tIns="0" rIns="0" bIns="0" rtlCol="0" anchor="t"/>
          <a:lstStyle/>
          <a:p>
            <a:pPr indent="0" marL="0">
              <a:buNone/>
            </a:pPr>
            <a:r>
              <a:rPr lang="en-US" sz="1500" b="1" dirty="0">
                <a:solidFill>
                  <a:srgbClr val="16233A"/>
                </a:solidFill>
                <a:latin typeface="Cambria" pitchFamily="34" charset="0"/>
                <a:ea typeface="Cambria" pitchFamily="34" charset="-122"/>
                <a:cs typeface="Cambria" pitchFamily="34" charset="-120"/>
              </a:rPr>
              <a:t>La regla, en una línea</a:t>
            </a:r>
            <a:endParaRPr lang="en-US" sz="1500" dirty="0"/>
          </a:p>
        </p:txBody>
      </p:sp>
      <p:sp>
        <p:nvSpPr>
          <p:cNvPr id="8" name="Text 6"/>
          <p:cNvSpPr/>
          <p:nvPr/>
        </p:nvSpPr>
        <p:spPr>
          <a:xfrm>
            <a:off x="6534760" y="2011680"/>
            <a:ext cx="4788256" cy="475488"/>
          </a:xfrm>
          <a:prstGeom prst="rect">
            <a:avLst/>
          </a:prstGeom>
          <a:noFill/>
          <a:ln/>
        </p:spPr>
        <p:txBody>
          <a:bodyPr wrap="square" lIns="0" tIns="0" rIns="0" bIns="0" rtlCol="0" anchor="t"/>
          <a:lstStyle/>
          <a:p>
            <a:pPr indent="0" marL="0">
              <a:lnSpc>
                <a:spcPct val="114000"/>
              </a:lnSpc>
              <a:buNone/>
            </a:pPr>
            <a:r>
              <a:rPr lang="en-US" sz="1250" dirty="0">
                <a:solidFill>
                  <a:srgbClr val="2B3648"/>
                </a:solidFill>
                <a:latin typeface="Calibri" pitchFamily="34" charset="0"/>
                <a:ea typeface="Calibri" pitchFamily="34" charset="-122"/>
                <a:cs typeface="Calibri" pitchFamily="34" charset="-120"/>
              </a:rPr>
              <a:t>Las formas se alinean desde la derecha. Donde una vale 1 (o falta), se repite.</a:t>
            </a:r>
            <a:endParaRPr lang="en-US" sz="1250" dirty="0"/>
          </a:p>
        </p:txBody>
      </p:sp>
      <p:sp>
        <p:nvSpPr>
          <p:cNvPr id="9" name="Text 7"/>
          <p:cNvSpPr/>
          <p:nvPr/>
        </p:nvSpPr>
        <p:spPr>
          <a:xfrm>
            <a:off x="6534760" y="2560320"/>
            <a:ext cx="1874520" cy="256032"/>
          </a:xfrm>
          <a:prstGeom prst="rect">
            <a:avLst/>
          </a:prstGeom>
          <a:noFill/>
          <a:ln/>
        </p:spPr>
        <p:txBody>
          <a:bodyPr wrap="square" lIns="0" tIns="0" rIns="0" bIns="0" rtlCol="0" anchor="t"/>
          <a:lstStyle/>
          <a:p>
            <a:pPr indent="0" marL="0">
              <a:buNone/>
            </a:pPr>
            <a:r>
              <a:rPr lang="en-US" sz="1150" dirty="0">
                <a:solidFill>
                  <a:srgbClr val="2E7D8F"/>
                </a:solidFill>
                <a:latin typeface="Courier New" pitchFamily="34" charset="0"/>
                <a:ea typeface="Courier New" pitchFamily="34" charset="-122"/>
                <a:cs typeface="Courier New" pitchFamily="34" charset="-120"/>
              </a:rPr>
              <a:t>(4,3)  +  escalar</a:t>
            </a:r>
            <a:endParaRPr lang="en-US" sz="1150" dirty="0"/>
          </a:p>
        </p:txBody>
      </p:sp>
      <p:sp>
        <p:nvSpPr>
          <p:cNvPr id="10" name="Text 8"/>
          <p:cNvSpPr/>
          <p:nvPr/>
        </p:nvSpPr>
        <p:spPr>
          <a:xfrm>
            <a:off x="8473288" y="2560320"/>
            <a:ext cx="2849728" cy="256032"/>
          </a:xfrm>
          <a:prstGeom prst="rect">
            <a:avLst/>
          </a:prstGeom>
          <a:noFill/>
          <a:ln/>
        </p:spPr>
        <p:txBody>
          <a:bodyPr wrap="square" lIns="0" tIns="0" rIns="0" bIns="0" rtlCol="0" anchor="t"/>
          <a:lstStyle/>
          <a:p>
            <a:pPr indent="0" marL="0">
              <a:buNone/>
            </a:pPr>
            <a:r>
              <a:rPr lang="en-US" sz="1150" dirty="0">
                <a:solidFill>
                  <a:srgbClr val="16233A"/>
                </a:solidFill>
                <a:latin typeface="Courier New" pitchFamily="34" charset="0"/>
                <a:ea typeface="Courier New" pitchFamily="34" charset="-122"/>
                <a:cs typeface="Courier New" pitchFamily="34" charset="-120"/>
              </a:rPr>
              <a:t>→  (4,3)</a:t>
            </a:r>
            <a:endParaRPr lang="en-US" sz="1150" dirty="0"/>
          </a:p>
        </p:txBody>
      </p:sp>
      <p:sp>
        <p:nvSpPr>
          <p:cNvPr id="11" name="Text 9"/>
          <p:cNvSpPr/>
          <p:nvPr/>
        </p:nvSpPr>
        <p:spPr>
          <a:xfrm>
            <a:off x="6534760" y="2907792"/>
            <a:ext cx="1874520" cy="256032"/>
          </a:xfrm>
          <a:prstGeom prst="rect">
            <a:avLst/>
          </a:prstGeom>
          <a:noFill/>
          <a:ln/>
        </p:spPr>
        <p:txBody>
          <a:bodyPr wrap="square" lIns="0" tIns="0" rIns="0" bIns="0" rtlCol="0" anchor="t"/>
          <a:lstStyle/>
          <a:p>
            <a:pPr indent="0" marL="0">
              <a:buNone/>
            </a:pPr>
            <a:r>
              <a:rPr lang="en-US" sz="1150" dirty="0">
                <a:solidFill>
                  <a:srgbClr val="2E7D8F"/>
                </a:solidFill>
                <a:latin typeface="Courier New" pitchFamily="34" charset="0"/>
                <a:ea typeface="Courier New" pitchFamily="34" charset="-122"/>
                <a:cs typeface="Courier New" pitchFamily="34" charset="-120"/>
              </a:rPr>
              <a:t>(4,3)  +  (3,)</a:t>
            </a:r>
            <a:endParaRPr lang="en-US" sz="1150" dirty="0"/>
          </a:p>
        </p:txBody>
      </p:sp>
      <p:sp>
        <p:nvSpPr>
          <p:cNvPr id="12" name="Text 10"/>
          <p:cNvSpPr/>
          <p:nvPr/>
        </p:nvSpPr>
        <p:spPr>
          <a:xfrm>
            <a:off x="8473288" y="2907792"/>
            <a:ext cx="2849728" cy="256032"/>
          </a:xfrm>
          <a:prstGeom prst="rect">
            <a:avLst/>
          </a:prstGeom>
          <a:noFill/>
          <a:ln/>
        </p:spPr>
        <p:txBody>
          <a:bodyPr wrap="square" lIns="0" tIns="0" rIns="0" bIns="0" rtlCol="0" anchor="t"/>
          <a:lstStyle/>
          <a:p>
            <a:pPr indent="0" marL="0">
              <a:buNone/>
            </a:pPr>
            <a:r>
              <a:rPr lang="en-US" sz="1150" dirty="0">
                <a:solidFill>
                  <a:srgbClr val="16233A"/>
                </a:solidFill>
                <a:latin typeface="Courier New" pitchFamily="34" charset="0"/>
                <a:ea typeface="Courier New" pitchFamily="34" charset="-122"/>
                <a:cs typeface="Courier New" pitchFamily="34" charset="-120"/>
              </a:rPr>
              <a:t>→  (4,3)  a cada fila</a:t>
            </a:r>
            <a:endParaRPr lang="en-US" sz="1150" dirty="0"/>
          </a:p>
        </p:txBody>
      </p:sp>
      <p:sp>
        <p:nvSpPr>
          <p:cNvPr id="13" name="Text 11"/>
          <p:cNvSpPr/>
          <p:nvPr/>
        </p:nvSpPr>
        <p:spPr>
          <a:xfrm>
            <a:off x="6534760" y="3255264"/>
            <a:ext cx="1874520" cy="256032"/>
          </a:xfrm>
          <a:prstGeom prst="rect">
            <a:avLst/>
          </a:prstGeom>
          <a:noFill/>
          <a:ln/>
        </p:spPr>
        <p:txBody>
          <a:bodyPr wrap="square" lIns="0" tIns="0" rIns="0" bIns="0" rtlCol="0" anchor="t"/>
          <a:lstStyle/>
          <a:p>
            <a:pPr indent="0" marL="0">
              <a:buNone/>
            </a:pPr>
            <a:r>
              <a:rPr lang="en-US" sz="1150" dirty="0">
                <a:solidFill>
                  <a:srgbClr val="2E7D8F"/>
                </a:solidFill>
                <a:latin typeface="Courier New" pitchFamily="34" charset="0"/>
                <a:ea typeface="Courier New" pitchFamily="34" charset="-122"/>
                <a:cs typeface="Courier New" pitchFamily="34" charset="-120"/>
              </a:rPr>
              <a:t>(4,1)  *  (3,)</a:t>
            </a:r>
            <a:endParaRPr lang="en-US" sz="1150" dirty="0"/>
          </a:p>
        </p:txBody>
      </p:sp>
      <p:sp>
        <p:nvSpPr>
          <p:cNvPr id="14" name="Text 12"/>
          <p:cNvSpPr/>
          <p:nvPr/>
        </p:nvSpPr>
        <p:spPr>
          <a:xfrm>
            <a:off x="8473288" y="3255264"/>
            <a:ext cx="2849728" cy="256032"/>
          </a:xfrm>
          <a:prstGeom prst="rect">
            <a:avLst/>
          </a:prstGeom>
          <a:noFill/>
          <a:ln/>
        </p:spPr>
        <p:txBody>
          <a:bodyPr wrap="square" lIns="0" tIns="0" rIns="0" bIns="0" rtlCol="0" anchor="t"/>
          <a:lstStyle/>
          <a:p>
            <a:pPr indent="0" marL="0">
              <a:buNone/>
            </a:pPr>
            <a:r>
              <a:rPr lang="en-US" sz="1150" dirty="0">
                <a:solidFill>
                  <a:srgbClr val="16233A"/>
                </a:solidFill>
                <a:latin typeface="Courier New" pitchFamily="34" charset="0"/>
                <a:ea typeface="Courier New" pitchFamily="34" charset="-122"/>
                <a:cs typeface="Courier New" pitchFamily="34" charset="-120"/>
              </a:rPr>
              <a:t>→  (4,3)  producto externo</a:t>
            </a:r>
            <a:endParaRPr lang="en-US" sz="1150" dirty="0"/>
          </a:p>
        </p:txBody>
      </p:sp>
      <p:sp>
        <p:nvSpPr>
          <p:cNvPr id="15" name="Shape 13"/>
          <p:cNvSpPr/>
          <p:nvPr/>
        </p:nvSpPr>
        <p:spPr>
          <a:xfrm>
            <a:off x="594360" y="3968496"/>
            <a:ext cx="11002975" cy="1810512"/>
          </a:xfrm>
          <a:prstGeom prst="roundRect">
            <a:avLst>
              <a:gd name="adj" fmla="val 4040"/>
            </a:avLst>
          </a:prstGeom>
          <a:solidFill>
            <a:srgbClr val="FCF2E0"/>
          </a:solidFill>
          <a:ln w="12700">
            <a:solidFill>
              <a:srgbClr val="F0DDB8"/>
            </a:solidFill>
            <a:prstDash val="solid"/>
          </a:ln>
        </p:spPr>
      </p:sp>
      <p:sp>
        <p:nvSpPr>
          <p:cNvPr id="16" name="Text 14"/>
          <p:cNvSpPr/>
          <p:nvPr/>
        </p:nvSpPr>
        <p:spPr>
          <a:xfrm>
            <a:off x="886968" y="4169664"/>
            <a:ext cx="10417759" cy="292608"/>
          </a:xfrm>
          <a:prstGeom prst="rect">
            <a:avLst/>
          </a:prstGeom>
          <a:noFill/>
          <a:ln/>
        </p:spPr>
        <p:txBody>
          <a:bodyPr wrap="square" lIns="0" tIns="0" rIns="0" bIns="0" rtlCol="0" anchor="t"/>
          <a:lstStyle/>
          <a:p>
            <a:pPr indent="0" marL="0">
              <a:buNone/>
            </a:pPr>
            <a:r>
              <a:rPr lang="en-US" sz="1500" b="1" dirty="0">
                <a:solidFill>
                  <a:srgbClr val="8A6318"/>
                </a:solidFill>
                <a:latin typeface="Cambria" pitchFamily="34" charset="0"/>
                <a:ea typeface="Cambria" pitchFamily="34" charset="-122"/>
                <a:cs typeface="Cambria" pitchFamily="34" charset="-120"/>
              </a:rPr>
              <a:t>El arma de doble filo</a:t>
            </a:r>
            <a:endParaRPr lang="en-US" sz="1500" dirty="0"/>
          </a:p>
        </p:txBody>
      </p:sp>
      <p:sp>
        <p:nvSpPr>
          <p:cNvPr id="17" name="Text 15"/>
          <p:cNvSpPr/>
          <p:nvPr/>
        </p:nvSpPr>
        <p:spPr>
          <a:xfrm>
            <a:off x="905256" y="4553712"/>
            <a:ext cx="10362895" cy="1042416"/>
          </a:xfrm>
          <a:prstGeom prst="rect">
            <a:avLst/>
          </a:prstGeom>
          <a:noFill/>
          <a:ln/>
        </p:spPr>
        <p:txBody>
          <a:bodyPr wrap="square" lIns="0" tIns="0" rIns="0" bIns="0" rtlCol="0" anchor="t"/>
          <a:lstStyle/>
          <a:p>
            <a:pPr indent="0" marL="0">
              <a:lnSpc>
                <a:spcPct val="118000"/>
              </a:lnSpc>
              <a:buNone/>
            </a:pPr>
            <a:r>
              <a:rPr lang="en-US" sz="1250" dirty="0">
                <a:solidFill>
                  <a:srgbClr val="6E5525"/>
                </a:solidFill>
                <a:latin typeface="Calibri" pitchFamily="34" charset="0"/>
                <a:ea typeface="Calibri" pitchFamily="34" charset="-122"/>
                <a:cs typeface="Calibri" pitchFamily="34" charset="-120"/>
              </a:rPr>
              <a:t>Esa tercera fila — (4,1) por (3,) dando una matriz (4,3) — es exactamente el truco que usa la función escalonar_filas que te dieron, y lo vemos en el próximo slide. Pero también es la razón por la que a veces tu código «anda» y devuelve una matriz de tamaño equivocado sin quejarse. Cuando algo te dé raro, imprimí los .shape antes de imprimir los valores: en nueve de cada diez casos el problema es una forma que no era la que pensabas.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Decodificando la línea más densa que te dieron</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Está en escalonar_filas y en row_echelon. Si la entendés, entendés la eliminación gaussiana vectorizada.</a:t>
            </a:r>
            <a:endParaRPr lang="en-US" sz="1300" dirty="0"/>
          </a:p>
        </p:txBody>
      </p:sp>
      <p:sp>
        <p:nvSpPr>
          <p:cNvPr id="4" name="Shape 2"/>
          <p:cNvSpPr/>
          <p:nvPr/>
        </p:nvSpPr>
        <p:spPr>
          <a:xfrm>
            <a:off x="594360" y="1444752"/>
            <a:ext cx="11002975" cy="731520"/>
          </a:xfrm>
          <a:prstGeom prst="roundRect">
            <a:avLst>
              <a:gd name="adj" fmla="val 10000"/>
            </a:avLst>
          </a:prstGeom>
          <a:solidFill>
            <a:srgbClr val="1B2436"/>
          </a:solidFill>
          <a:ln w="12700">
            <a:solidFill>
              <a:srgbClr val="1B2436"/>
            </a:solidFill>
            <a:prstDash val="solid"/>
          </a:ln>
        </p:spPr>
      </p:sp>
      <p:sp>
        <p:nvSpPr>
          <p:cNvPr id="5" name="Text 3"/>
          <p:cNvSpPr/>
          <p:nvPr/>
        </p:nvSpPr>
        <p:spPr>
          <a:xfrm>
            <a:off x="905256" y="1536192"/>
            <a:ext cx="10381183" cy="548640"/>
          </a:xfrm>
          <a:prstGeom prst="rect">
            <a:avLst/>
          </a:prstGeom>
          <a:noFill/>
          <a:ln/>
        </p:spPr>
        <p:txBody>
          <a:bodyPr wrap="square" lIns="0" tIns="0" rIns="0" bIns="0" rtlCol="0" anchor="ctr"/>
          <a:lstStyle/>
          <a:p>
            <a:pPr algn="ctr" indent="0" marL="0">
              <a:buNone/>
            </a:pPr>
            <a:r>
              <a:rPr lang="en-US" sz="1900" dirty="0">
                <a:solidFill>
                  <a:srgbClr val="E6ECF5"/>
                </a:solidFill>
                <a:latin typeface="Courier New" pitchFamily="34" charset="0"/>
                <a:ea typeface="Courier New" pitchFamily="34" charset="-122"/>
                <a:cs typeface="Courier New" pitchFamily="34" charset="-120"/>
              </a:rPr>
              <a:t>A[1:, :]  -=  (A[0, :] / A[0, 0])  *  A[1:, 0:1]</a:t>
            </a:r>
            <a:endParaRPr lang="en-US" sz="1900" dirty="0"/>
          </a:p>
        </p:txBody>
      </p:sp>
      <p:sp>
        <p:nvSpPr>
          <p:cNvPr id="6" name="Shape 4"/>
          <p:cNvSpPr/>
          <p:nvPr/>
        </p:nvSpPr>
        <p:spPr>
          <a:xfrm>
            <a:off x="630936" y="2542032"/>
            <a:ext cx="329184" cy="329184"/>
          </a:xfrm>
          <a:prstGeom prst="ellipse">
            <a:avLst/>
          </a:prstGeom>
          <a:solidFill>
            <a:srgbClr val="2E7D8F"/>
          </a:solidFill>
          <a:ln w="12700">
            <a:solidFill>
              <a:srgbClr val="2E7D8F"/>
            </a:solidFill>
            <a:prstDash val="solid"/>
          </a:ln>
        </p:spPr>
      </p:sp>
      <p:sp>
        <p:nvSpPr>
          <p:cNvPr id="7" name="Text 5"/>
          <p:cNvSpPr/>
          <p:nvPr/>
        </p:nvSpPr>
        <p:spPr>
          <a:xfrm>
            <a:off x="630936" y="2542032"/>
            <a:ext cx="329184" cy="329184"/>
          </a:xfrm>
          <a:prstGeom prst="rect">
            <a:avLst/>
          </a:prstGeom>
          <a:noFill/>
          <a:ln/>
        </p:spPr>
        <p:txBody>
          <a:bodyPr wrap="square" lIns="0" tIns="0" rIns="0" bIns="0" rtlCol="0" anchor="ctr"/>
          <a:lstStyle/>
          <a:p>
            <a:pPr algn="ctr" indent="0" marL="0">
              <a:buNone/>
            </a:pPr>
            <a:r>
              <a:rPr lang="en-US" sz="936" b="1" dirty="0">
                <a:solidFill>
                  <a:srgbClr val="FFFFFF"/>
                </a:solidFill>
                <a:latin typeface="Cambria" pitchFamily="34" charset="0"/>
                <a:ea typeface="Cambria" pitchFamily="34" charset="-122"/>
                <a:cs typeface="Cambria" pitchFamily="34" charset="-120"/>
              </a:rPr>
              <a:t>1</a:t>
            </a:r>
            <a:endParaRPr lang="en-US" sz="936" dirty="0"/>
          </a:p>
        </p:txBody>
      </p:sp>
      <p:sp>
        <p:nvSpPr>
          <p:cNvPr id="8" name="Text 6"/>
          <p:cNvSpPr/>
          <p:nvPr/>
        </p:nvSpPr>
        <p:spPr>
          <a:xfrm>
            <a:off x="1106424" y="2505456"/>
            <a:ext cx="2331720" cy="274320"/>
          </a:xfrm>
          <a:prstGeom prst="rect">
            <a:avLst/>
          </a:prstGeom>
          <a:noFill/>
          <a:ln/>
        </p:spPr>
        <p:txBody>
          <a:bodyPr wrap="square" lIns="0" tIns="0" rIns="0" bIns="0" rtlCol="0" anchor="t"/>
          <a:lstStyle/>
          <a:p>
            <a:pPr indent="0" marL="0">
              <a:buNone/>
            </a:pPr>
            <a:r>
              <a:rPr lang="en-US" sz="1250" b="1" dirty="0">
                <a:solidFill>
                  <a:srgbClr val="16233A"/>
                </a:solidFill>
                <a:latin typeface="Courier New" pitchFamily="34" charset="0"/>
                <a:ea typeface="Courier New" pitchFamily="34" charset="-122"/>
                <a:cs typeface="Courier New" pitchFamily="34" charset="-120"/>
              </a:rPr>
              <a:t>A[0, :] / A[0, 0]</a:t>
            </a:r>
            <a:endParaRPr lang="en-US" sz="1250" dirty="0"/>
          </a:p>
        </p:txBody>
      </p:sp>
      <p:sp>
        <p:nvSpPr>
          <p:cNvPr id="9" name="Text 7"/>
          <p:cNvSpPr/>
          <p:nvPr/>
        </p:nvSpPr>
        <p:spPr>
          <a:xfrm>
            <a:off x="3502152" y="2523744"/>
            <a:ext cx="1234440" cy="256032"/>
          </a:xfrm>
          <a:prstGeom prst="rect">
            <a:avLst/>
          </a:prstGeom>
          <a:noFill/>
          <a:ln/>
        </p:spPr>
        <p:txBody>
          <a:bodyPr wrap="square" lIns="0" tIns="0" rIns="0" bIns="0" rtlCol="0" anchor="t"/>
          <a:lstStyle/>
          <a:p>
            <a:pPr indent="0" marL="0">
              <a:buNone/>
            </a:pPr>
            <a:r>
              <a:rPr lang="en-US" sz="1150" dirty="0">
                <a:solidFill>
                  <a:srgbClr val="E39A2B"/>
                </a:solidFill>
                <a:latin typeface="Courier New" pitchFamily="34" charset="0"/>
                <a:ea typeface="Courier New" pitchFamily="34" charset="-122"/>
                <a:cs typeface="Courier New" pitchFamily="34" charset="-120"/>
              </a:rPr>
              <a:t>(c,)</a:t>
            </a:r>
            <a:endParaRPr lang="en-US" sz="1150" dirty="0"/>
          </a:p>
        </p:txBody>
      </p:sp>
      <p:sp>
        <p:nvSpPr>
          <p:cNvPr id="10" name="Text 8"/>
          <p:cNvSpPr/>
          <p:nvPr/>
        </p:nvSpPr>
        <p:spPr>
          <a:xfrm>
            <a:off x="4855464" y="2468880"/>
            <a:ext cx="6705295" cy="566928"/>
          </a:xfrm>
          <a:prstGeom prst="rect">
            <a:avLst/>
          </a:prstGeom>
          <a:noFill/>
          <a:ln/>
        </p:spPr>
        <p:txBody>
          <a:bodyPr wrap="square" lIns="0" tIns="0" rIns="0" bIns="0" rtlCol="0" anchor="t"/>
          <a:lstStyle/>
          <a:p>
            <a:pPr indent="0" marL="0">
              <a:lnSpc>
                <a:spcPct val="114000"/>
              </a:lnSpc>
              <a:buNone/>
            </a:pPr>
            <a:r>
              <a:rPr lang="en-US" sz="1200" dirty="0">
                <a:solidFill>
                  <a:srgbClr val="2B3648"/>
                </a:solidFill>
                <a:latin typeface="Calibri" pitchFamily="34" charset="0"/>
                <a:ea typeface="Calibri" pitchFamily="34" charset="-122"/>
                <a:cs typeface="Calibri" pitchFamily="34" charset="-120"/>
              </a:rPr>
              <a:t>La fila pivote, dividida por su primer elemento. Su primera posición ahora vale 1.</a:t>
            </a:r>
            <a:endParaRPr lang="en-US" sz="1200" dirty="0"/>
          </a:p>
        </p:txBody>
      </p:sp>
      <p:sp>
        <p:nvSpPr>
          <p:cNvPr id="11" name="Shape 9"/>
          <p:cNvSpPr/>
          <p:nvPr/>
        </p:nvSpPr>
        <p:spPr>
          <a:xfrm>
            <a:off x="630936" y="3255264"/>
            <a:ext cx="329184" cy="329184"/>
          </a:xfrm>
          <a:prstGeom prst="ellipse">
            <a:avLst/>
          </a:prstGeom>
          <a:solidFill>
            <a:srgbClr val="2E7D8F"/>
          </a:solidFill>
          <a:ln w="12700">
            <a:solidFill>
              <a:srgbClr val="2E7D8F"/>
            </a:solidFill>
            <a:prstDash val="solid"/>
          </a:ln>
        </p:spPr>
      </p:sp>
      <p:sp>
        <p:nvSpPr>
          <p:cNvPr id="12" name="Text 10"/>
          <p:cNvSpPr/>
          <p:nvPr/>
        </p:nvSpPr>
        <p:spPr>
          <a:xfrm>
            <a:off x="630936" y="3255264"/>
            <a:ext cx="329184" cy="329184"/>
          </a:xfrm>
          <a:prstGeom prst="rect">
            <a:avLst/>
          </a:prstGeom>
          <a:noFill/>
          <a:ln/>
        </p:spPr>
        <p:txBody>
          <a:bodyPr wrap="square" lIns="0" tIns="0" rIns="0" bIns="0" rtlCol="0" anchor="ctr"/>
          <a:lstStyle/>
          <a:p>
            <a:pPr algn="ctr" indent="0" marL="0">
              <a:buNone/>
            </a:pPr>
            <a:r>
              <a:rPr lang="en-US" sz="936" b="1" dirty="0">
                <a:solidFill>
                  <a:srgbClr val="FFFFFF"/>
                </a:solidFill>
                <a:latin typeface="Cambria" pitchFamily="34" charset="0"/>
                <a:ea typeface="Cambria" pitchFamily="34" charset="-122"/>
                <a:cs typeface="Cambria" pitchFamily="34" charset="-120"/>
              </a:rPr>
              <a:t>2</a:t>
            </a:r>
            <a:endParaRPr lang="en-US" sz="936" dirty="0"/>
          </a:p>
        </p:txBody>
      </p:sp>
      <p:sp>
        <p:nvSpPr>
          <p:cNvPr id="13" name="Text 11"/>
          <p:cNvSpPr/>
          <p:nvPr/>
        </p:nvSpPr>
        <p:spPr>
          <a:xfrm>
            <a:off x="1106424" y="3218688"/>
            <a:ext cx="2331720" cy="274320"/>
          </a:xfrm>
          <a:prstGeom prst="rect">
            <a:avLst/>
          </a:prstGeom>
          <a:noFill/>
          <a:ln/>
        </p:spPr>
        <p:txBody>
          <a:bodyPr wrap="square" lIns="0" tIns="0" rIns="0" bIns="0" rtlCol="0" anchor="t"/>
          <a:lstStyle/>
          <a:p>
            <a:pPr indent="0" marL="0">
              <a:buNone/>
            </a:pPr>
            <a:r>
              <a:rPr lang="en-US" sz="1250" b="1" dirty="0">
                <a:solidFill>
                  <a:srgbClr val="16233A"/>
                </a:solidFill>
                <a:latin typeface="Courier New" pitchFamily="34" charset="0"/>
                <a:ea typeface="Courier New" pitchFamily="34" charset="-122"/>
                <a:cs typeface="Courier New" pitchFamily="34" charset="-120"/>
              </a:rPr>
              <a:t>A[1:, 0:1]</a:t>
            </a:r>
            <a:endParaRPr lang="en-US" sz="1250" dirty="0"/>
          </a:p>
        </p:txBody>
      </p:sp>
      <p:sp>
        <p:nvSpPr>
          <p:cNvPr id="14" name="Text 12"/>
          <p:cNvSpPr/>
          <p:nvPr/>
        </p:nvSpPr>
        <p:spPr>
          <a:xfrm>
            <a:off x="3502152" y="3236976"/>
            <a:ext cx="1234440" cy="256032"/>
          </a:xfrm>
          <a:prstGeom prst="rect">
            <a:avLst/>
          </a:prstGeom>
          <a:noFill/>
          <a:ln/>
        </p:spPr>
        <p:txBody>
          <a:bodyPr wrap="square" lIns="0" tIns="0" rIns="0" bIns="0" rtlCol="0" anchor="t"/>
          <a:lstStyle/>
          <a:p>
            <a:pPr indent="0" marL="0">
              <a:buNone/>
            </a:pPr>
            <a:r>
              <a:rPr lang="en-US" sz="1150" dirty="0">
                <a:solidFill>
                  <a:srgbClr val="E39A2B"/>
                </a:solidFill>
                <a:latin typeface="Courier New" pitchFamily="34" charset="0"/>
                <a:ea typeface="Courier New" pitchFamily="34" charset="-122"/>
                <a:cs typeface="Courier New" pitchFamily="34" charset="-120"/>
              </a:rPr>
              <a:t>(f-1, 1)</a:t>
            </a:r>
            <a:endParaRPr lang="en-US" sz="1150" dirty="0"/>
          </a:p>
        </p:txBody>
      </p:sp>
      <p:sp>
        <p:nvSpPr>
          <p:cNvPr id="15" name="Text 13"/>
          <p:cNvSpPr/>
          <p:nvPr/>
        </p:nvSpPr>
        <p:spPr>
          <a:xfrm>
            <a:off x="4855464" y="3182112"/>
            <a:ext cx="6705295" cy="566928"/>
          </a:xfrm>
          <a:prstGeom prst="rect">
            <a:avLst/>
          </a:prstGeom>
          <a:noFill/>
          <a:ln/>
        </p:spPr>
        <p:txBody>
          <a:bodyPr wrap="square" lIns="0" tIns="0" rIns="0" bIns="0" rtlCol="0" anchor="t"/>
          <a:lstStyle/>
          <a:p>
            <a:pPr indent="0" marL="0">
              <a:lnSpc>
                <a:spcPct val="114000"/>
              </a:lnSpc>
              <a:buNone/>
            </a:pPr>
            <a:r>
              <a:rPr lang="en-US" sz="1200" dirty="0">
                <a:solidFill>
                  <a:srgbClr val="2B3648"/>
                </a:solidFill>
                <a:latin typeface="Calibri" pitchFamily="34" charset="0"/>
                <a:ea typeface="Calibri" pitchFamily="34" charset="-122"/>
                <a:cs typeface="Calibri" pitchFamily="34" charset="-120"/>
              </a:rPr>
              <a:t>La primera columna de todas las filas de abajo, en formato columna. Es el coeficiente que hay que eliminar en cada una.</a:t>
            </a:r>
            <a:endParaRPr lang="en-US" sz="1200" dirty="0"/>
          </a:p>
        </p:txBody>
      </p:sp>
      <p:sp>
        <p:nvSpPr>
          <p:cNvPr id="16" name="Shape 14"/>
          <p:cNvSpPr/>
          <p:nvPr/>
        </p:nvSpPr>
        <p:spPr>
          <a:xfrm>
            <a:off x="630936" y="3968496"/>
            <a:ext cx="329184" cy="329184"/>
          </a:xfrm>
          <a:prstGeom prst="ellipse">
            <a:avLst/>
          </a:prstGeom>
          <a:solidFill>
            <a:srgbClr val="2E7D8F"/>
          </a:solidFill>
          <a:ln w="12700">
            <a:solidFill>
              <a:srgbClr val="2E7D8F"/>
            </a:solidFill>
            <a:prstDash val="solid"/>
          </a:ln>
        </p:spPr>
      </p:sp>
      <p:sp>
        <p:nvSpPr>
          <p:cNvPr id="17" name="Text 15"/>
          <p:cNvSpPr/>
          <p:nvPr/>
        </p:nvSpPr>
        <p:spPr>
          <a:xfrm>
            <a:off x="630936" y="3968496"/>
            <a:ext cx="329184" cy="329184"/>
          </a:xfrm>
          <a:prstGeom prst="rect">
            <a:avLst/>
          </a:prstGeom>
          <a:noFill/>
          <a:ln/>
        </p:spPr>
        <p:txBody>
          <a:bodyPr wrap="square" lIns="0" tIns="0" rIns="0" bIns="0" rtlCol="0" anchor="ctr"/>
          <a:lstStyle/>
          <a:p>
            <a:pPr algn="ctr" indent="0" marL="0">
              <a:buNone/>
            </a:pPr>
            <a:r>
              <a:rPr lang="en-US" sz="936" b="1" dirty="0">
                <a:solidFill>
                  <a:srgbClr val="FFFFFF"/>
                </a:solidFill>
                <a:latin typeface="Cambria" pitchFamily="34" charset="0"/>
                <a:ea typeface="Cambria" pitchFamily="34" charset="-122"/>
                <a:cs typeface="Cambria" pitchFamily="34" charset="-120"/>
              </a:rPr>
              <a:t>3</a:t>
            </a:r>
            <a:endParaRPr lang="en-US" sz="936" dirty="0"/>
          </a:p>
        </p:txBody>
      </p:sp>
      <p:sp>
        <p:nvSpPr>
          <p:cNvPr id="18" name="Text 16"/>
          <p:cNvSpPr/>
          <p:nvPr/>
        </p:nvSpPr>
        <p:spPr>
          <a:xfrm>
            <a:off x="1106424" y="3931920"/>
            <a:ext cx="2331720" cy="274320"/>
          </a:xfrm>
          <a:prstGeom prst="rect">
            <a:avLst/>
          </a:prstGeom>
          <a:noFill/>
          <a:ln/>
        </p:spPr>
        <p:txBody>
          <a:bodyPr wrap="square" lIns="0" tIns="0" rIns="0" bIns="0" rtlCol="0" anchor="t"/>
          <a:lstStyle/>
          <a:p>
            <a:pPr indent="0" marL="0">
              <a:buNone/>
            </a:pPr>
            <a:r>
              <a:rPr lang="en-US" sz="1250" b="1" dirty="0">
                <a:solidFill>
                  <a:srgbClr val="16233A"/>
                </a:solidFill>
                <a:latin typeface="Courier New" pitchFamily="34" charset="0"/>
                <a:ea typeface="Courier New" pitchFamily="34" charset="-122"/>
                <a:cs typeface="Courier New" pitchFamily="34" charset="-120"/>
              </a:rPr>
              <a:t>(c,) * (f-1, 1)</a:t>
            </a:r>
            <a:endParaRPr lang="en-US" sz="1250" dirty="0"/>
          </a:p>
        </p:txBody>
      </p:sp>
      <p:sp>
        <p:nvSpPr>
          <p:cNvPr id="19" name="Text 17"/>
          <p:cNvSpPr/>
          <p:nvPr/>
        </p:nvSpPr>
        <p:spPr>
          <a:xfrm>
            <a:off x="3502152" y="3950208"/>
            <a:ext cx="1234440" cy="256032"/>
          </a:xfrm>
          <a:prstGeom prst="rect">
            <a:avLst/>
          </a:prstGeom>
          <a:noFill/>
          <a:ln/>
        </p:spPr>
        <p:txBody>
          <a:bodyPr wrap="square" lIns="0" tIns="0" rIns="0" bIns="0" rtlCol="0" anchor="t"/>
          <a:lstStyle/>
          <a:p>
            <a:pPr indent="0" marL="0">
              <a:buNone/>
            </a:pPr>
            <a:r>
              <a:rPr lang="en-US" sz="1150" dirty="0">
                <a:solidFill>
                  <a:srgbClr val="E39A2B"/>
                </a:solidFill>
                <a:latin typeface="Courier New" pitchFamily="34" charset="0"/>
                <a:ea typeface="Courier New" pitchFamily="34" charset="-122"/>
                <a:cs typeface="Courier New" pitchFamily="34" charset="-120"/>
              </a:rPr>
              <a:t>(f-1, c)</a:t>
            </a:r>
            <a:endParaRPr lang="en-US" sz="1150" dirty="0"/>
          </a:p>
        </p:txBody>
      </p:sp>
      <p:sp>
        <p:nvSpPr>
          <p:cNvPr id="20" name="Text 18"/>
          <p:cNvSpPr/>
          <p:nvPr/>
        </p:nvSpPr>
        <p:spPr>
          <a:xfrm>
            <a:off x="4855464" y="3895344"/>
            <a:ext cx="6705295" cy="566928"/>
          </a:xfrm>
          <a:prstGeom prst="rect">
            <a:avLst/>
          </a:prstGeom>
          <a:noFill/>
          <a:ln/>
        </p:spPr>
        <p:txBody>
          <a:bodyPr wrap="square" lIns="0" tIns="0" rIns="0" bIns="0" rtlCol="0" anchor="t"/>
          <a:lstStyle/>
          <a:p>
            <a:pPr indent="0" marL="0">
              <a:lnSpc>
                <a:spcPct val="114000"/>
              </a:lnSpc>
              <a:buNone/>
            </a:pPr>
            <a:r>
              <a:rPr lang="en-US" sz="1200" dirty="0">
                <a:solidFill>
                  <a:srgbClr val="2B3648"/>
                </a:solidFill>
                <a:latin typeface="Calibri" pitchFamily="34" charset="0"/>
                <a:ea typeface="Calibri" pitchFamily="34" charset="-122"/>
                <a:cs typeface="Calibri" pitchFamily="34" charset="-120"/>
              </a:rPr>
              <a:t>Broadcasting: se arma una matriz donde la fila k es la fila pivote escalada por el coeficiente de la fila k.</a:t>
            </a:r>
            <a:endParaRPr lang="en-US" sz="1200" dirty="0"/>
          </a:p>
        </p:txBody>
      </p:sp>
      <p:sp>
        <p:nvSpPr>
          <p:cNvPr id="21" name="Shape 19"/>
          <p:cNvSpPr/>
          <p:nvPr/>
        </p:nvSpPr>
        <p:spPr>
          <a:xfrm>
            <a:off x="630936" y="4681728"/>
            <a:ext cx="329184" cy="329184"/>
          </a:xfrm>
          <a:prstGeom prst="ellipse">
            <a:avLst/>
          </a:prstGeom>
          <a:solidFill>
            <a:srgbClr val="2E7D8F"/>
          </a:solidFill>
          <a:ln w="12700">
            <a:solidFill>
              <a:srgbClr val="2E7D8F"/>
            </a:solidFill>
            <a:prstDash val="solid"/>
          </a:ln>
        </p:spPr>
      </p:sp>
      <p:sp>
        <p:nvSpPr>
          <p:cNvPr id="22" name="Text 20"/>
          <p:cNvSpPr/>
          <p:nvPr/>
        </p:nvSpPr>
        <p:spPr>
          <a:xfrm>
            <a:off x="630936" y="4681728"/>
            <a:ext cx="329184" cy="329184"/>
          </a:xfrm>
          <a:prstGeom prst="rect">
            <a:avLst/>
          </a:prstGeom>
          <a:noFill/>
          <a:ln/>
        </p:spPr>
        <p:txBody>
          <a:bodyPr wrap="square" lIns="0" tIns="0" rIns="0" bIns="0" rtlCol="0" anchor="ctr"/>
          <a:lstStyle/>
          <a:p>
            <a:pPr algn="ctr" indent="0" marL="0">
              <a:buNone/>
            </a:pPr>
            <a:r>
              <a:rPr lang="en-US" sz="936" b="1" dirty="0">
                <a:solidFill>
                  <a:srgbClr val="FFFFFF"/>
                </a:solidFill>
                <a:latin typeface="Cambria" pitchFamily="34" charset="0"/>
                <a:ea typeface="Cambria" pitchFamily="34" charset="-122"/>
                <a:cs typeface="Cambria" pitchFamily="34" charset="-120"/>
              </a:rPr>
              <a:t>4</a:t>
            </a:r>
            <a:endParaRPr lang="en-US" sz="936" dirty="0"/>
          </a:p>
        </p:txBody>
      </p:sp>
      <p:sp>
        <p:nvSpPr>
          <p:cNvPr id="23" name="Text 21"/>
          <p:cNvSpPr/>
          <p:nvPr/>
        </p:nvSpPr>
        <p:spPr>
          <a:xfrm>
            <a:off x="1106424" y="4645152"/>
            <a:ext cx="2331720" cy="274320"/>
          </a:xfrm>
          <a:prstGeom prst="rect">
            <a:avLst/>
          </a:prstGeom>
          <a:noFill/>
          <a:ln/>
        </p:spPr>
        <p:txBody>
          <a:bodyPr wrap="square" lIns="0" tIns="0" rIns="0" bIns="0" rtlCol="0" anchor="t"/>
          <a:lstStyle/>
          <a:p>
            <a:pPr indent="0" marL="0">
              <a:buNone/>
            </a:pPr>
            <a:r>
              <a:rPr lang="en-US" sz="1250" b="1" dirty="0">
                <a:solidFill>
                  <a:srgbClr val="16233A"/>
                </a:solidFill>
                <a:latin typeface="Courier New" pitchFamily="34" charset="0"/>
                <a:ea typeface="Courier New" pitchFamily="34" charset="-122"/>
                <a:cs typeface="Courier New" pitchFamily="34" charset="-120"/>
              </a:rPr>
              <a:t>A[1:, :] -= ...</a:t>
            </a:r>
            <a:endParaRPr lang="en-US" sz="1250" dirty="0"/>
          </a:p>
        </p:txBody>
      </p:sp>
      <p:sp>
        <p:nvSpPr>
          <p:cNvPr id="24" name="Text 22"/>
          <p:cNvSpPr/>
          <p:nvPr/>
        </p:nvSpPr>
        <p:spPr>
          <a:xfrm>
            <a:off x="3502152" y="4663440"/>
            <a:ext cx="1234440" cy="256032"/>
          </a:xfrm>
          <a:prstGeom prst="rect">
            <a:avLst/>
          </a:prstGeom>
          <a:noFill/>
          <a:ln/>
        </p:spPr>
        <p:txBody>
          <a:bodyPr wrap="square" lIns="0" tIns="0" rIns="0" bIns="0" rtlCol="0" anchor="t"/>
          <a:lstStyle/>
          <a:p>
            <a:pPr indent="0" marL="0">
              <a:buNone/>
            </a:pPr>
            <a:r>
              <a:rPr lang="en-US" sz="1150" dirty="0">
                <a:solidFill>
                  <a:srgbClr val="E39A2B"/>
                </a:solidFill>
                <a:latin typeface="Courier New" pitchFamily="34" charset="0"/>
                <a:ea typeface="Courier New" pitchFamily="34" charset="-122"/>
                <a:cs typeface="Courier New" pitchFamily="34" charset="-120"/>
              </a:rPr>
              <a:t>in-place</a:t>
            </a:r>
            <a:endParaRPr lang="en-US" sz="1150" dirty="0"/>
          </a:p>
        </p:txBody>
      </p:sp>
      <p:sp>
        <p:nvSpPr>
          <p:cNvPr id="25" name="Text 23"/>
          <p:cNvSpPr/>
          <p:nvPr/>
        </p:nvSpPr>
        <p:spPr>
          <a:xfrm>
            <a:off x="4855464" y="4608576"/>
            <a:ext cx="6705295" cy="566928"/>
          </a:xfrm>
          <a:prstGeom prst="rect">
            <a:avLst/>
          </a:prstGeom>
          <a:noFill/>
          <a:ln/>
        </p:spPr>
        <p:txBody>
          <a:bodyPr wrap="square" lIns="0" tIns="0" rIns="0" bIns="0" rtlCol="0" anchor="t"/>
          <a:lstStyle/>
          <a:p>
            <a:pPr indent="0" marL="0">
              <a:lnSpc>
                <a:spcPct val="114000"/>
              </a:lnSpc>
              <a:buNone/>
            </a:pPr>
            <a:r>
              <a:rPr lang="en-US" sz="1200" dirty="0">
                <a:solidFill>
                  <a:srgbClr val="2B3648"/>
                </a:solidFill>
                <a:latin typeface="Calibri" pitchFamily="34" charset="0"/>
                <a:ea typeface="Calibri" pitchFamily="34" charset="-122"/>
                <a:cs typeface="Calibri" pitchFamily="34" charset="-120"/>
              </a:rPr>
              <a:t>Se restan todas juntas. Un solo renglón hace todas las eliminaciones de esa columna.</a:t>
            </a:r>
            <a:endParaRPr lang="en-US" sz="1200" dirty="0"/>
          </a:p>
        </p:txBody>
      </p:sp>
      <p:sp>
        <p:nvSpPr>
          <p:cNvPr id="26" name="Shape 24"/>
          <p:cNvSpPr/>
          <p:nvPr/>
        </p:nvSpPr>
        <p:spPr>
          <a:xfrm>
            <a:off x="594360" y="5303520"/>
            <a:ext cx="11002975" cy="658368"/>
          </a:xfrm>
          <a:prstGeom prst="roundRect">
            <a:avLst>
              <a:gd name="adj" fmla="val 11111"/>
            </a:avLst>
          </a:prstGeom>
          <a:solidFill>
            <a:srgbClr val="F1F4F9"/>
          </a:solidFill>
          <a:ln w="12700">
            <a:solidFill>
              <a:srgbClr val="D9E1EB"/>
            </a:solidFill>
            <a:prstDash val="solid"/>
          </a:ln>
        </p:spPr>
      </p:sp>
      <p:sp>
        <p:nvSpPr>
          <p:cNvPr id="27" name="Text 25"/>
          <p:cNvSpPr/>
          <p:nvPr/>
        </p:nvSpPr>
        <p:spPr>
          <a:xfrm>
            <a:off x="868680" y="5449824"/>
            <a:ext cx="10454335" cy="402336"/>
          </a:xfrm>
          <a:prstGeom prst="rect">
            <a:avLst/>
          </a:prstGeom>
          <a:noFill/>
          <a:ln/>
        </p:spPr>
        <p:txBody>
          <a:bodyPr wrap="square" lIns="0" tIns="0" rIns="0" bIns="0" rtlCol="0" anchor="t"/>
          <a:lstStyle/>
          <a:p>
            <a:pPr indent="0" marL="0">
              <a:buNone/>
            </a:pPr>
            <a:r>
              <a:rPr lang="en-US" sz="1200" dirty="0">
                <a:solidFill>
                  <a:srgbClr val="2B3648"/>
                </a:solidFill>
                <a:latin typeface="Calibri" pitchFamily="34" charset="0"/>
                <a:ea typeface="Calibri" pitchFamily="34" charset="-122"/>
                <a:cs typeface="Calibri" pitchFamily="34" charset="-120"/>
              </a:rPr>
              <a:t>¿Por qué 0:1 y no 0?   Porque A[1:, 0] tiene shape (f-1,) y el broadcasting lo alinearía por derecha contra las columnas. Con 0:1 forzás la forma columna (f-1, 1) y el estiramiento sale como querés.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Máscaras booleanas</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Filtrar sin recorrer. Potente, rápido — y de uso limitado en este labo en particular.</a:t>
            </a:r>
            <a:endParaRPr lang="en-US" sz="1300" dirty="0"/>
          </a:p>
        </p:txBody>
      </p:sp>
      <p:sp>
        <p:nvSpPr>
          <p:cNvPr id="4" name="Shape 2"/>
          <p:cNvSpPr/>
          <p:nvPr/>
        </p:nvSpPr>
        <p:spPr>
          <a:xfrm>
            <a:off x="594360" y="1444752"/>
            <a:ext cx="5336896" cy="2277222"/>
          </a:xfrm>
          <a:prstGeom prst="roundRect">
            <a:avLst>
              <a:gd name="adj" fmla="val 2409"/>
            </a:avLst>
          </a:prstGeom>
          <a:solidFill>
            <a:srgbClr val="1B2436"/>
          </a:solidFill>
          <a:ln w="12700">
            <a:solidFill>
              <a:srgbClr val="1B2436"/>
            </a:solidFill>
            <a:prstDash val="solid"/>
          </a:ln>
        </p:spPr>
      </p:sp>
      <p:sp>
        <p:nvSpPr>
          <p:cNvPr id="5" name="Text 3"/>
          <p:cNvSpPr/>
          <p:nvPr/>
        </p:nvSpPr>
        <p:spPr>
          <a:xfrm>
            <a:off x="740664" y="1581912"/>
            <a:ext cx="5044288" cy="2002902"/>
          </a:xfrm>
          <a:prstGeom prst="rect">
            <a:avLst/>
          </a:prstGeom>
          <a:noFill/>
          <a:ln/>
        </p:spPr>
        <p:txBody>
          <a:bodyPr wrap="square" lIns="0" tIns="0" rIns="0" bIns="0" rtlCol="0" anchor="t"/>
          <a:lstStyle/>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a = np.array([3, 60, 7, 90])</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a &gt; 50           # [False True False True]</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a[a &gt; 50]        # [60 90]</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el notebook L00 mide las dos formas:</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[x for x in a if x &gt; 50]   &lt;- lento</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a[a &gt; 50]                  &lt;- rapido</a:t>
            </a:r>
            <a:endParaRPr lang="en-US" sz="1100" dirty="0"/>
          </a:p>
        </p:txBody>
      </p:sp>
      <p:sp>
        <p:nvSpPr>
          <p:cNvPr id="6" name="Shape 4"/>
          <p:cNvSpPr/>
          <p:nvPr/>
        </p:nvSpPr>
        <p:spPr>
          <a:xfrm>
            <a:off x="6260440" y="1444752"/>
            <a:ext cx="5336896" cy="2212848"/>
          </a:xfrm>
          <a:prstGeom prst="roundRect">
            <a:avLst>
              <a:gd name="adj" fmla="val 3306"/>
            </a:avLst>
          </a:prstGeom>
          <a:solidFill>
            <a:srgbClr val="E8F1F3"/>
          </a:solidFill>
          <a:ln w="12700">
            <a:solidFill>
              <a:srgbClr val="CFE0E4"/>
            </a:solidFill>
            <a:prstDash val="solid"/>
          </a:ln>
        </p:spPr>
      </p:sp>
      <p:sp>
        <p:nvSpPr>
          <p:cNvPr id="7" name="Text 5"/>
          <p:cNvSpPr/>
          <p:nvPr/>
        </p:nvSpPr>
        <p:spPr>
          <a:xfrm>
            <a:off x="6534760" y="1645920"/>
            <a:ext cx="4788256" cy="274320"/>
          </a:xfrm>
          <a:prstGeom prst="rect">
            <a:avLst/>
          </a:prstGeom>
          <a:noFill/>
          <a:ln/>
        </p:spPr>
        <p:txBody>
          <a:bodyPr wrap="square" lIns="0" tIns="0" rIns="0" bIns="0" rtlCol="0" anchor="t"/>
          <a:lstStyle/>
          <a:p>
            <a:pPr indent="0" marL="0">
              <a:buNone/>
            </a:pPr>
            <a:r>
              <a:rPr lang="en-US" sz="1500" b="1" dirty="0">
                <a:solidFill>
                  <a:srgbClr val="2E7D8F"/>
                </a:solidFill>
                <a:latin typeface="Cambria" pitchFamily="34" charset="0"/>
                <a:ea typeface="Cambria" pitchFamily="34" charset="-122"/>
                <a:cs typeface="Cambria" pitchFamily="34" charset="-120"/>
              </a:rPr>
              <a:t>Qué está pasando</a:t>
            </a:r>
            <a:endParaRPr lang="en-US" sz="1500" dirty="0"/>
          </a:p>
        </p:txBody>
      </p:sp>
      <p:sp>
        <p:nvSpPr>
          <p:cNvPr id="8" name="Text 6"/>
          <p:cNvSpPr/>
          <p:nvPr/>
        </p:nvSpPr>
        <p:spPr>
          <a:xfrm>
            <a:off x="6534760" y="2011680"/>
            <a:ext cx="4788256" cy="1481328"/>
          </a:xfrm>
          <a:prstGeom prst="rect">
            <a:avLst/>
          </a:prstGeom>
          <a:noFill/>
          <a:ln/>
        </p:spPr>
        <p:txBody>
          <a:bodyPr wrap="square" lIns="0" tIns="0" rIns="0" bIns="0" rtlCol="0" anchor="t"/>
          <a:lstStyle/>
          <a:p>
            <a:pPr indent="0" marL="0">
              <a:lnSpc>
                <a:spcPct val="116000"/>
              </a:lnSpc>
              <a:buNone/>
            </a:pPr>
            <a:r>
              <a:rPr lang="en-US" sz="1250" dirty="0">
                <a:solidFill>
                  <a:srgbClr val="2B3648"/>
                </a:solidFill>
                <a:latin typeface="Calibri" pitchFamily="34" charset="0"/>
                <a:ea typeface="Calibri" pitchFamily="34" charset="-122"/>
                <a:cs typeface="Calibri" pitchFamily="34" charset="-120"/>
              </a:rPr>
              <a:t>La comparación no devuelve un booleano: devuelve un array de booleanos del mismo tamaño. Usarlo como índice selecciona las posiciones que dieron True.</a:t>
            </a:r>
            <a:endParaRPr lang="en-US" sz="1250" dirty="0"/>
          </a:p>
          <a:p>
            <a:pPr indent="0" marL="0">
              <a:lnSpc>
                <a:spcPct val="116000"/>
              </a:lnSpc>
              <a:buNone/>
            </a:pPr>
            <a:endParaRPr lang="en-US" sz="1250" dirty="0"/>
          </a:p>
          <a:p>
            <a:pPr indent="0" marL="0">
              <a:lnSpc>
                <a:spcPct val="116000"/>
              </a:lnSpc>
              <a:buNone/>
            </a:pPr>
            <a:r>
              <a:rPr lang="en-US" sz="1250" dirty="0">
                <a:solidFill>
                  <a:srgbClr val="2B3648"/>
                </a:solidFill>
                <a:latin typeface="Calibri" pitchFamily="34" charset="0"/>
                <a:ea typeface="Calibri" pitchFamily="34" charset="-122"/>
                <a:cs typeface="Calibri" pitchFamily="34" charset="-120"/>
              </a:rPr>
              <a:t>El notebook lo cronometra con %timeit y la máscara gana por un orden de magnitud, porque el recorrido ocurre en C y no en Python.</a:t>
            </a:r>
            <a:endParaRPr lang="en-US" sz="1250" dirty="0"/>
          </a:p>
        </p:txBody>
      </p:sp>
      <p:sp>
        <p:nvSpPr>
          <p:cNvPr id="9" name="Shape 7"/>
          <p:cNvSpPr/>
          <p:nvPr/>
        </p:nvSpPr>
        <p:spPr>
          <a:xfrm>
            <a:off x="594360" y="3968496"/>
            <a:ext cx="11002975" cy="1810512"/>
          </a:xfrm>
          <a:prstGeom prst="roundRect">
            <a:avLst>
              <a:gd name="adj" fmla="val 4040"/>
            </a:avLst>
          </a:prstGeom>
          <a:solidFill>
            <a:srgbClr val="FCF2E0"/>
          </a:solidFill>
          <a:ln w="12700">
            <a:solidFill>
              <a:srgbClr val="F0DDB8"/>
            </a:solidFill>
            <a:prstDash val="solid"/>
          </a:ln>
        </p:spPr>
      </p:sp>
      <p:sp>
        <p:nvSpPr>
          <p:cNvPr id="10" name="Text 8"/>
          <p:cNvSpPr/>
          <p:nvPr/>
        </p:nvSpPr>
        <p:spPr>
          <a:xfrm>
            <a:off x="886968" y="4169664"/>
            <a:ext cx="10417759" cy="292608"/>
          </a:xfrm>
          <a:prstGeom prst="rect">
            <a:avLst/>
          </a:prstGeom>
          <a:noFill/>
          <a:ln/>
        </p:spPr>
        <p:txBody>
          <a:bodyPr wrap="square" lIns="0" tIns="0" rIns="0" bIns="0" rtlCol="0" anchor="t"/>
          <a:lstStyle/>
          <a:p>
            <a:pPr indent="0" marL="0">
              <a:buNone/>
            </a:pPr>
            <a:r>
              <a:rPr lang="en-US" sz="1500" b="1" dirty="0">
                <a:solidFill>
                  <a:srgbClr val="8A6318"/>
                </a:solidFill>
                <a:latin typeface="Cambria" pitchFamily="34" charset="0"/>
                <a:ea typeface="Cambria" pitchFamily="34" charset="-122"/>
                <a:cs typeface="Cambria" pitchFamily="34" charset="-120"/>
              </a:rPr>
              <a:t>Dónde sí las vas a poder usar</a:t>
            </a:r>
            <a:endParaRPr lang="en-US" sz="1500" dirty="0"/>
          </a:p>
        </p:txBody>
      </p:sp>
      <p:sp>
        <p:nvSpPr>
          <p:cNvPr id="11" name="Text 9"/>
          <p:cNvSpPr/>
          <p:nvPr/>
        </p:nvSpPr>
        <p:spPr>
          <a:xfrm>
            <a:off x="905256" y="4553712"/>
            <a:ext cx="10362895" cy="109728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250" dirty="0">
                <a:solidFill>
                  <a:srgbClr val="2B3648"/>
                </a:solidFill>
                <a:latin typeface="Calibri" pitchFamily="34" charset="0"/>
                <a:ea typeface="Calibri" pitchFamily="34" charset="-122"/>
                <a:cs typeface="Calibri" pitchFamily="34" charset="-120"/>
              </a:rPr>
              <a:t>En tus tests: para inspeccionar resultados y armar casos rápido, sin restricciones.</a:t>
            </a:r>
            <a:endParaRPr lang="en-US" sz="1250" dirty="0"/>
          </a:p>
          <a:p>
            <a:pPr marL="342900" indent="-342900">
              <a:lnSpc>
                <a:spcPct val="105000"/>
              </a:lnSpc>
              <a:spcAft>
                <a:spcPts val="400"/>
              </a:spcAft>
              <a:buSzPct val="100000"/>
              <a:buChar char="•"/>
            </a:pPr>
            <a:r>
              <a:rPr lang="en-US" sz="1250" dirty="0">
                <a:solidFill>
                  <a:srgbClr val="2B3648"/>
                </a:solidFill>
                <a:latin typeface="Calibri" pitchFamily="34" charset="0"/>
                <a:ea typeface="Calibri" pitchFamily="34" charset="-122"/>
                <a:cs typeface="Calibri" pitchFamily="34" charset="-120"/>
              </a:rPr>
              <a:t>En ejercicio21_P1.py (traza, suma en módulo, positivos vs negativos): ese archivo es de la Práctica 1, no del Labo 1. La restricción del enunciado del labo no le aplica.</a:t>
            </a:r>
            <a:endParaRPr lang="en-US" sz="1250" dirty="0"/>
          </a:p>
          <a:p>
            <a:pPr marL="342900" indent="-342900">
              <a:lnSpc>
                <a:spcPct val="105000"/>
              </a:lnSpc>
              <a:spcAft>
                <a:spcPts val="400"/>
              </a:spcAft>
              <a:buSzPct val="100000"/>
              <a:buChar char="•"/>
            </a:pPr>
            <a:r>
              <a:rPr lang="en-US" sz="1250" dirty="0">
                <a:solidFill>
                  <a:srgbClr val="2B3648"/>
                </a:solidFill>
                <a:latin typeface="Calibri" pitchFamily="34" charset="0"/>
                <a:ea typeface="Calibri" pitchFamily="34" charset="-122"/>
                <a:cs typeface="Calibri" pitchFamily="34" charset="-120"/>
              </a:rPr>
              <a:t>En librerias.py, poco: contar cuántos cumplen normalmente pide np.sum, que no está permitida. Podés convertir la máscara a lista y contar con Python, pero a esa altura el for explícito es más honesto y más legible.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Mapa del notebook L00: qué mirar y qué saltear</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L00-NB-Numpy_y_matrices_dl.ipynb tiene 137 celdas. Estas son las que te cambian el resultado.</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94360" y="1444752"/>
          <a:ext cx="11002975" cy="914400"/>
        </p:xfrm>
        <a:graphic>
          <a:graphicData uri="http://schemas.openxmlformats.org/drawingml/2006/table">
            <a:tbl>
              <a:tblPr/>
              <a:tblGrid>
                <a:gridCol w="3520440"/>
                <a:gridCol w="6108192"/>
                <a:gridCol w="137160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Sección del notebook</a:t>
                      </a:r>
                      <a:endParaRPr lang="en-US" sz="11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1623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Para qué te sirve</a:t>
                      </a:r>
                      <a:endParaRPr lang="en-US" sz="11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1623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Veredicto</a:t>
                      </a:r>
                      <a:endParaRPr lang="en-US" sz="11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16233A"/>
                    </a:solidFill>
                  </a:tcPr>
                </a:tc>
              </a:tr>
              <a:tr h="347472">
                <a:tc>
                  <a:txBody>
                    <a:bodyPr/>
                    <a:lstStyle/>
                    <a:p>
                      <a:pPr indent="0" marL="0">
                        <a:buNone/>
                      </a:pPr>
                      <a:r>
                        <a:rPr lang="en-US" sz="1050" b="1" dirty="0">
                          <a:solidFill>
                            <a:srgbClr val="16233A"/>
                          </a:solidFill>
                          <a:latin typeface="Calibri" pitchFamily="34" charset="0"/>
                          <a:ea typeface="Calibri" pitchFamily="34" charset="-122"/>
                          <a:cs typeface="Calibri" pitchFamily="34" charset="-120"/>
                        </a:rPr>
                        <a:t>Arrays: shape, ndim, size, dtype</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c>
                  <a:txBody>
                    <a:bodyPr/>
                    <a:lstStyle/>
                    <a:p>
                      <a:pPr indent="0" marL="0">
                        <a:buNone/>
                      </a:pPr>
                      <a:r>
                        <a:rPr lang="en-US" sz="1050" dirty="0">
                          <a:solidFill>
                            <a:srgbClr val="2B3648"/>
                          </a:solidFill>
                          <a:latin typeface="Calibri" pitchFamily="34" charset="0"/>
                          <a:ea typeface="Calibri" pitchFamily="34" charset="-122"/>
                          <a:cs typeface="Calibri" pitchFamily="34" charset="-120"/>
                        </a:rPr>
                        <a:t>El vocabulario mínimo. shape además está permitida.</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F7D4F"/>
                          </a:solidFill>
                          <a:latin typeface="Calibri" pitchFamily="34" charset="0"/>
                          <a:ea typeface="Calibri" pitchFamily="34" charset="-122"/>
                          <a:cs typeface="Calibri" pitchFamily="34" charset="-120"/>
                        </a:rPr>
                        <a:t>ESENCIAL</a:t>
                      </a:r>
                      <a:endParaRPr lang="en-US" sz="100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r>
              <a:tr h="347472">
                <a:tc>
                  <a:txBody>
                    <a:bodyPr/>
                    <a:lstStyle/>
                    <a:p>
                      <a:pPr indent="0" marL="0">
                        <a:buNone/>
                      </a:pPr>
                      <a:r>
                        <a:rPr lang="en-US" sz="1050" b="1" dirty="0">
                          <a:solidFill>
                            <a:srgbClr val="16233A"/>
                          </a:solidFill>
                          <a:latin typeface="Calibri" pitchFamily="34" charset="0"/>
                          <a:ea typeface="Calibri" pitchFamily="34" charset="-122"/>
                          <a:cs typeface="Calibri" pitchFamily="34" charset="-120"/>
                        </a:rPr>
                        <a:t>Indexado y slicing de matrices</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c>
                  <a:txBody>
                    <a:bodyPr/>
                    <a:lstStyle/>
                    <a:p>
                      <a:pPr indent="0" marL="0">
                        <a:buNone/>
                      </a:pPr>
                      <a:r>
                        <a:rPr lang="en-US" sz="1050" dirty="0">
                          <a:solidFill>
                            <a:srgbClr val="2B3648"/>
                          </a:solidFill>
                          <a:latin typeface="Calibri" pitchFamily="34" charset="0"/>
                          <a:ea typeface="Calibri" pitchFamily="34" charset="-122"/>
                          <a:cs typeface="Calibri" pitchFamily="34" charset="-120"/>
                        </a:rPr>
                        <a:t>La herramienta con la que se escribe casi todo el labo.</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F7D4F"/>
                          </a:solidFill>
                          <a:latin typeface="Calibri" pitchFamily="34" charset="0"/>
                          <a:ea typeface="Calibri" pitchFamily="34" charset="-122"/>
                          <a:cs typeface="Calibri" pitchFamily="34" charset="-120"/>
                        </a:rPr>
                        <a:t>ESENCIAL</a:t>
                      </a:r>
                      <a:endParaRPr lang="en-US" sz="100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6233A"/>
                          </a:solidFill>
                          <a:latin typeface="Calibri" pitchFamily="34" charset="0"/>
                          <a:ea typeface="Calibri" pitchFamily="34" charset="-122"/>
                          <a:cs typeface="Calibri" pitchFamily="34" charset="-120"/>
                        </a:rPr>
                        <a:t>Referencia / vista / copia</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c>
                  <a:txBody>
                    <a:bodyPr/>
                    <a:lstStyle/>
                    <a:p>
                      <a:pPr indent="0" marL="0">
                        <a:buNone/>
                      </a:pPr>
                      <a:r>
                        <a:rPr lang="en-US" sz="1050" dirty="0">
                          <a:solidFill>
                            <a:srgbClr val="2B3648"/>
                          </a:solidFill>
                          <a:latin typeface="Calibri" pitchFamily="34" charset="0"/>
                          <a:ea typeface="Calibri" pitchFamily="34" charset="-122"/>
                          <a:cs typeface="Calibri" pitchFamily="34" charset="-120"/>
                        </a:rPr>
                        <a:t>Explica el bug del Ejercicio 9 antes de que lo tengas.</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F7D4F"/>
                          </a:solidFill>
                          <a:latin typeface="Calibri" pitchFamily="34" charset="0"/>
                          <a:ea typeface="Calibri" pitchFamily="34" charset="-122"/>
                          <a:cs typeface="Calibri" pitchFamily="34" charset="-120"/>
                        </a:rPr>
                        <a:t>ESENCIAL</a:t>
                      </a:r>
                      <a:endParaRPr lang="en-US" sz="100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r>
              <a:tr h="347472">
                <a:tc>
                  <a:txBody>
                    <a:bodyPr/>
                    <a:lstStyle/>
                    <a:p>
                      <a:pPr indent="0" marL="0">
                        <a:buNone/>
                      </a:pPr>
                      <a:r>
                        <a:rPr lang="en-US" sz="1050" b="1" dirty="0">
                          <a:solidFill>
                            <a:srgbClr val="16233A"/>
                          </a:solidFill>
                          <a:latin typeface="Calibri" pitchFamily="34" charset="0"/>
                          <a:ea typeface="Calibri" pitchFamily="34" charset="-122"/>
                          <a:cs typeface="Calibri" pitchFamily="34" charset="-120"/>
                        </a:rPr>
                        <a:t>Operadores y broadcasting</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c>
                  <a:txBody>
                    <a:bodyPr/>
                    <a:lstStyle/>
                    <a:p>
                      <a:pPr indent="0" marL="0">
                        <a:buNone/>
                      </a:pPr>
                      <a:r>
                        <a:rPr lang="en-US" sz="1050" dirty="0">
                          <a:solidFill>
                            <a:srgbClr val="2B3648"/>
                          </a:solidFill>
                          <a:latin typeface="Calibri" pitchFamily="34" charset="0"/>
                          <a:ea typeface="Calibri" pitchFamily="34" charset="-122"/>
                          <a:cs typeface="Calibri" pitchFamily="34" charset="-120"/>
                        </a:rPr>
                        <a:t>Operar filas enteras sin bucle interno.</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F7D4F"/>
                          </a:solidFill>
                          <a:latin typeface="Calibri" pitchFamily="34" charset="0"/>
                          <a:ea typeface="Calibri" pitchFamily="34" charset="-122"/>
                          <a:cs typeface="Calibri" pitchFamily="34" charset="-120"/>
                        </a:rPr>
                        <a:t>ESENCIAL</a:t>
                      </a:r>
                      <a:endParaRPr lang="en-US" sz="100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6233A"/>
                          </a:solidFill>
                          <a:latin typeface="Calibri" pitchFamily="34" charset="0"/>
                          <a:ea typeface="Calibri" pitchFamily="34" charset="-122"/>
                          <a:cs typeface="Calibri" pitchFamily="34" charset="-120"/>
                        </a:rPr>
                        <a:t>row_echelon y los tiempos</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c>
                  <a:txBody>
                    <a:bodyPr/>
                    <a:lstStyle/>
                    <a:p>
                      <a:pPr indent="0" marL="0">
                        <a:buNone/>
                      </a:pPr>
                      <a:r>
                        <a:rPr lang="en-US" sz="1050" dirty="0">
                          <a:solidFill>
                            <a:srgbClr val="2B3648"/>
                          </a:solidFill>
                          <a:latin typeface="Calibri" pitchFamily="34" charset="0"/>
                          <a:ea typeface="Calibri" pitchFamily="34" charset="-122"/>
                          <a:cs typeface="Calibri" pitchFamily="34" charset="-120"/>
                        </a:rPr>
                        <a:t>Es la base directa del Ejercicio 18. Leelo entero.</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F7D4F"/>
                          </a:solidFill>
                          <a:latin typeface="Calibri" pitchFamily="34" charset="0"/>
                          <a:ea typeface="Calibri" pitchFamily="34" charset="-122"/>
                          <a:cs typeface="Calibri" pitchFamily="34" charset="-120"/>
                        </a:rPr>
                        <a:t>ESENCIAL</a:t>
                      </a:r>
                      <a:endParaRPr lang="en-US" sz="100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r>
              <a:tr h="347472">
                <a:tc>
                  <a:txBody>
                    <a:bodyPr/>
                    <a:lstStyle/>
                    <a:p>
                      <a:pPr indent="0" marL="0">
                        <a:buNone/>
                      </a:pPr>
                      <a:r>
                        <a:rPr lang="en-US" sz="1050" b="1" dirty="0">
                          <a:solidFill>
                            <a:srgbClr val="16233A"/>
                          </a:solidFill>
                          <a:latin typeface="Calibri" pitchFamily="34" charset="0"/>
                          <a:ea typeface="Calibri" pitchFamily="34" charset="-122"/>
                          <a:cs typeface="Calibri" pitchFamily="34" charset="-120"/>
                        </a:rPr>
                        <a:t>Máscaras booleanas y %timeit</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c>
                  <a:txBody>
                    <a:bodyPr/>
                    <a:lstStyle/>
                    <a:p>
                      <a:pPr indent="0" marL="0">
                        <a:buNone/>
                      </a:pPr>
                      <a:r>
                        <a:rPr lang="en-US" sz="1050" dirty="0">
                          <a:solidFill>
                            <a:srgbClr val="2B3648"/>
                          </a:solidFill>
                          <a:latin typeface="Calibri" pitchFamily="34" charset="0"/>
                          <a:ea typeface="Calibri" pitchFamily="34" charset="-122"/>
                          <a:cs typeface="Calibri" pitchFamily="34" charset="-120"/>
                        </a:rPr>
                        <a:t>Buen concepto; en el labo lo vas a usar sobre todo en tests.</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8F"/>
                          </a:solidFill>
                          <a:latin typeface="Calibri" pitchFamily="34" charset="0"/>
                          <a:ea typeface="Calibri" pitchFamily="34" charset="-122"/>
                          <a:cs typeface="Calibri" pitchFamily="34" charset="-120"/>
                        </a:rPr>
                        <a:t>MUY ÚTIL</a:t>
                      </a:r>
                      <a:endParaRPr lang="en-US" sz="100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6233A"/>
                          </a:solidFill>
                          <a:latin typeface="Calibri" pitchFamily="34" charset="0"/>
                          <a:ea typeface="Calibri" pitchFamily="34" charset="-122"/>
                          <a:cs typeface="Calibri" pitchFamily="34" charset="-120"/>
                        </a:rPr>
                        <a:t>arange, linspace, ones, random</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c>
                  <a:txBody>
                    <a:bodyPr/>
                    <a:lstStyle/>
                    <a:p>
                      <a:pPr indent="0" marL="0">
                        <a:buNone/>
                      </a:pPr>
                      <a:r>
                        <a:rPr lang="en-US" sz="1050" dirty="0">
                          <a:solidFill>
                            <a:srgbClr val="2B3648"/>
                          </a:solidFill>
                          <a:latin typeface="Calibri" pitchFamily="34" charset="0"/>
                          <a:ea typeface="Calibri" pitchFamily="34" charset="-122"/>
                          <a:cs typeface="Calibri" pitchFamily="34" charset="-120"/>
                        </a:rPr>
                        <a:t>Para generar casos de prueba, nunca dentro de librerias.py.</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E39A2B"/>
                          </a:solidFill>
                          <a:latin typeface="Calibri" pitchFamily="34" charset="0"/>
                          <a:ea typeface="Calibri" pitchFamily="34" charset="-122"/>
                          <a:cs typeface="Calibri" pitchFamily="34" charset="-120"/>
                        </a:rPr>
                        <a:t>SOLO TESTS</a:t>
                      </a:r>
                      <a:endParaRPr lang="en-US" sz="100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r>
              <a:tr h="347472">
                <a:tc>
                  <a:txBody>
                    <a:bodyPr/>
                    <a:lstStyle/>
                    <a:p>
                      <a:pPr indent="0" marL="0">
                        <a:buNone/>
                      </a:pPr>
                      <a:r>
                        <a:rPr lang="en-US" sz="1050" b="1" dirty="0">
                          <a:solidFill>
                            <a:srgbClr val="16233A"/>
                          </a:solidFill>
                          <a:latin typeface="Calibri" pitchFamily="34" charset="0"/>
                          <a:ea typeface="Calibri" pitchFamily="34" charset="-122"/>
                          <a:cs typeface="Calibri" pitchFamily="34" charset="-120"/>
                        </a:rPr>
                        <a:t>eye, diag, vander</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c>
                  <a:txBody>
                    <a:bodyPr/>
                    <a:lstStyle/>
                    <a:p>
                      <a:pPr indent="0" marL="0">
                        <a:buNone/>
                      </a:pPr>
                      <a:r>
                        <a:rPr lang="en-US" sz="1050" dirty="0">
                          <a:solidFill>
                            <a:srgbClr val="2B3648"/>
                          </a:solidFill>
                          <a:latin typeface="Calibri" pitchFamily="34" charset="0"/>
                          <a:ea typeface="Calibri" pitchFamily="34" charset="-122"/>
                          <a:cs typeface="Calibri" pitchFamily="34" charset="-120"/>
                        </a:rPr>
                        <a:t>Son literalmente los Ejercicios 4 y 13 ya resueltos. Mirá qué devuelven para testear, no las llames.</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A8453A"/>
                          </a:solidFill>
                          <a:latin typeface="Calibri" pitchFamily="34" charset="0"/>
                          <a:ea typeface="Calibri" pitchFamily="34" charset="-122"/>
                          <a:cs typeface="Calibri" pitchFamily="34" charset="-120"/>
                        </a:rPr>
                        <a:t>NO USAR</a:t>
                      </a:r>
                      <a:endParaRPr lang="en-US" sz="100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6233A"/>
                          </a:solidFill>
                          <a:latin typeface="Calibri" pitchFamily="34" charset="0"/>
                          <a:ea typeface="Calibri" pitchFamily="34" charset="-122"/>
                          <a:cs typeface="Calibri" pitchFamily="34" charset="-120"/>
                        </a:rPr>
                        <a:t>dot, outer, matmul, @</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c>
                  <a:txBody>
                    <a:bodyPr/>
                    <a:lstStyle/>
                    <a:p>
                      <a:pPr indent="0" marL="0">
                        <a:buNone/>
                      </a:pPr>
                      <a:r>
                        <a:rPr lang="en-US" sz="1050" dirty="0">
                          <a:solidFill>
                            <a:srgbClr val="2B3648"/>
                          </a:solidFill>
                          <a:latin typeface="Calibri" pitchFamily="34" charset="0"/>
                          <a:ea typeface="Calibri" pitchFamily="34" charset="-122"/>
                          <a:cs typeface="Calibri" pitchFamily="34" charset="-120"/>
                        </a:rPr>
                        <a:t>Es el Ejercicio 8 ya resuelto. Sirve para verificar tu resultado, no para producirlo.</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A8453A"/>
                          </a:solidFill>
                          <a:latin typeface="Calibri" pitchFamily="34" charset="0"/>
                          <a:ea typeface="Calibri" pitchFamily="34" charset="-122"/>
                          <a:cs typeface="Calibri" pitchFamily="34" charset="-120"/>
                        </a:rPr>
                        <a:t>NO USAR</a:t>
                      </a:r>
                      <a:endParaRPr lang="en-US" sz="100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r>
              <a:tr h="347472">
                <a:tc>
                  <a:txBody>
                    <a:bodyPr/>
                    <a:lstStyle/>
                    <a:p>
                      <a:pPr indent="0" marL="0">
                        <a:buNone/>
                      </a:pPr>
                      <a:r>
                        <a:rPr lang="en-US" sz="1050" b="1" dirty="0">
                          <a:solidFill>
                            <a:srgbClr val="16233A"/>
                          </a:solidFill>
                          <a:latin typeface="Calibri" pitchFamily="34" charset="0"/>
                          <a:ea typeface="Calibri" pitchFamily="34" charset="-122"/>
                          <a:cs typeface="Calibri" pitchFamily="34" charset="-120"/>
                        </a:rPr>
                        <a:t>sum, diff, cumsum</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c>
                  <a:txBody>
                    <a:bodyPr/>
                    <a:lstStyle/>
                    <a:p>
                      <a:pPr indent="0" marL="0">
                        <a:buNone/>
                      </a:pPr>
                      <a:r>
                        <a:rPr lang="en-US" sz="1050" dirty="0">
                          <a:solidFill>
                            <a:srgbClr val="2B3648"/>
                          </a:solidFill>
                          <a:latin typeface="Calibri" pitchFamily="34" charset="0"/>
                          <a:ea typeface="Calibri" pitchFamily="34" charset="-122"/>
                          <a:cs typeface="Calibri" pitchFamily="34" charset="-120"/>
                        </a:rPr>
                        <a:t>Te dicen qué tenés que programar a mano. Prohibidas, pero buenas como referencia.</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A8453A"/>
                          </a:solidFill>
                          <a:latin typeface="Calibri" pitchFamily="34" charset="0"/>
                          <a:ea typeface="Calibri" pitchFamily="34" charset="-122"/>
                          <a:cs typeface="Calibri" pitchFamily="34" charset="-120"/>
                        </a:rPr>
                        <a:t>NO USAR</a:t>
                      </a:r>
                      <a:endParaRPr lang="en-US" sz="100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6233A"/>
                          </a:solidFill>
                          <a:latin typeface="Calibri" pitchFamily="34" charset="0"/>
                          <a:ea typeface="Calibri" pitchFamily="34" charset="-122"/>
                          <a:cs typeface="Calibri" pitchFamily="34" charset="-120"/>
                        </a:rPr>
                        <a:t>reshape, resize, ravel, T</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c>
                  <a:txBody>
                    <a:bodyPr/>
                    <a:lstStyle/>
                    <a:p>
                      <a:pPr indent="0" marL="0">
                        <a:buNone/>
                      </a:pPr>
                      <a:r>
                        <a:rPr lang="en-US" sz="1050" dirty="0">
                          <a:solidFill>
                            <a:srgbClr val="2B3648"/>
                          </a:solidFill>
                          <a:latin typeface="Calibri" pitchFamily="34" charset="0"/>
                          <a:ea typeface="Calibri" pitchFamily="34" charset="-122"/>
                          <a:cs typeface="Calibri" pitchFamily="34" charset="-120"/>
                        </a:rPr>
                        <a:t>Conceptualmente útil. Ojo: T resuelve el Ejercicio 6.</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6B7A90"/>
                          </a:solidFill>
                          <a:latin typeface="Calibri" pitchFamily="34" charset="0"/>
                          <a:ea typeface="Calibri" pitchFamily="34" charset="-122"/>
                          <a:cs typeface="Calibri" pitchFamily="34" charset="-120"/>
                        </a:rPr>
                        <a:t>MIRAR</a:t>
                      </a:r>
                      <a:endParaRPr lang="en-US" sz="100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7F9FC"/>
                    </a:solidFill>
                  </a:tcPr>
                </a:tc>
              </a:tr>
              <a:tr h="347472">
                <a:tc>
                  <a:txBody>
                    <a:bodyPr/>
                    <a:lstStyle/>
                    <a:p>
                      <a:pPr indent="0" marL="0">
                        <a:buNone/>
                      </a:pPr>
                      <a:r>
                        <a:rPr lang="en-US" sz="1050" b="1" dirty="0">
                          <a:solidFill>
                            <a:srgbClr val="16233A"/>
                          </a:solidFill>
                          <a:latin typeface="Calibri" pitchFamily="34" charset="0"/>
                          <a:ea typeface="Calibri" pitchFamily="34" charset="-122"/>
                          <a:cs typeface="Calibri" pitchFamily="34" charset="-120"/>
                        </a:rPr>
                        <a:t>linalg: inv, det, solve</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c>
                  <a:txBody>
                    <a:bodyPr/>
                    <a:lstStyle/>
                    <a:p>
                      <a:pPr indent="0" marL="0">
                        <a:buNone/>
                      </a:pPr>
                      <a:r>
                        <a:rPr lang="en-US" sz="1050" dirty="0">
                          <a:solidFill>
                            <a:srgbClr val="2B3648"/>
                          </a:solidFill>
                          <a:latin typeface="Calibri" pitchFamily="34" charset="0"/>
                          <a:ea typeface="Calibri" pitchFamily="34" charset="-122"/>
                          <a:cs typeface="Calibri" pitchFamily="34" charset="-120"/>
                        </a:rPr>
                        <a:t>Temas de más adelante en la materia. No los necesitás para este labo.</a:t>
                      </a:r>
                      <a:endParaRPr lang="en-US" sz="105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6B7A90"/>
                          </a:solidFill>
                          <a:latin typeface="Calibri" pitchFamily="34" charset="0"/>
                          <a:ea typeface="Calibri" pitchFamily="34" charset="-122"/>
                          <a:cs typeface="Calibri" pitchFamily="34" charset="-120"/>
                        </a:rPr>
                        <a:t>MIRAR</a:t>
                      </a:r>
                      <a:endParaRPr lang="en-US" sz="1000" dirty="0">
                        <a:latin typeface="Calibri" charset="0"/>
                        <a:ea typeface="Calibri" charset="0"/>
                        <a:cs typeface="Calibri" charset="0"/>
                      </a:endParaRPr>
                    </a:p>
                  </a:txBody>
                  <a:tcPr marL="91440" marR="91440" marT="45720" marB="45720" anchor="ctr">
                    <a:lnL w="12700" cap="flat" cmpd="sng" algn="ctr">
                      <a:solidFill>
                        <a:srgbClr val="D9E1EB"/>
                      </a:solidFill>
                      <a:prstDash val="solid"/>
                      <a:round/>
                      <a:headEnd type="none" w="med" len="med"/>
                      <a:tailEnd type="none" w="med" len="med"/>
                    </a:lnL>
                    <a:lnR w="12700" cap="flat" cmpd="sng" algn="ctr">
                      <a:solidFill>
                        <a:srgbClr val="D9E1EB"/>
                      </a:solidFill>
                      <a:prstDash val="solid"/>
                      <a:round/>
                      <a:headEnd type="none" w="med" len="med"/>
                      <a:tailEnd type="none" w="med" len="med"/>
                    </a:lnR>
                    <a:lnT w="12700" cap="flat" cmpd="sng" algn="ctr">
                      <a:solidFill>
                        <a:srgbClr val="D9E1EB"/>
                      </a:solidFill>
                      <a:prstDash val="solid"/>
                      <a:round/>
                      <a:headEnd type="none" w="med" len="med"/>
                      <a:tailEnd type="none" w="med" len="med"/>
                    </a:lnT>
                    <a:lnB w="12700" cap="flat" cmpd="sng" algn="ctr">
                      <a:solidFill>
                        <a:srgbClr val="D9E1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523"/>
        </a:solidFill>
      </p:bgPr>
    </p:bg>
    <p:spTree>
      <p:nvGrpSpPr>
        <p:cNvPr id="1" name=""/>
        <p:cNvGrpSpPr/>
        <p:nvPr/>
      </p:nvGrpSpPr>
      <p:grpSpPr>
        <a:xfrm>
          <a:off x="0" y="0"/>
          <a:ext cx="0" cy="0"/>
          <a:chOff x="0" y="0"/>
          <a:chExt cx="0" cy="0"/>
        </a:xfrm>
      </p:grpSpPr>
      <p:sp>
        <p:nvSpPr>
          <p:cNvPr id="2" name="Text 0"/>
          <p:cNvSpPr/>
          <p:nvPr/>
        </p:nvSpPr>
        <p:spPr>
          <a:xfrm>
            <a:off x="594360" y="1783080"/>
            <a:ext cx="1371600" cy="1371600"/>
          </a:xfrm>
          <a:prstGeom prst="rect">
            <a:avLst/>
          </a:prstGeom>
          <a:noFill/>
          <a:ln/>
        </p:spPr>
        <p:txBody>
          <a:bodyPr wrap="square" lIns="0" tIns="0" rIns="0" bIns="0" rtlCol="0" anchor="ctr"/>
          <a:lstStyle/>
          <a:p>
            <a:pPr indent="0" marL="0">
              <a:buNone/>
            </a:pPr>
            <a:r>
              <a:rPr lang="en-US" sz="8600" b="1" dirty="0">
                <a:solidFill>
                  <a:srgbClr val="E39A2B"/>
                </a:solidFill>
                <a:latin typeface="Cambria" pitchFamily="34" charset="0"/>
                <a:ea typeface="Cambria" pitchFamily="34" charset="-122"/>
                <a:cs typeface="Cambria" pitchFamily="34" charset="-120"/>
              </a:rPr>
              <a:t>3</a:t>
            </a:r>
            <a:endParaRPr lang="en-US" sz="8600" dirty="0"/>
          </a:p>
        </p:txBody>
      </p:sp>
      <p:sp>
        <p:nvSpPr>
          <p:cNvPr id="3" name="Text 1"/>
          <p:cNvSpPr/>
          <p:nvPr/>
        </p:nvSpPr>
        <p:spPr>
          <a:xfrm>
            <a:off x="1920240" y="1874520"/>
            <a:ext cx="749808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Seis patrones</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de código</a:t>
            </a:r>
            <a:endParaRPr lang="en-US" sz="3600" dirty="0"/>
          </a:p>
        </p:txBody>
      </p:sp>
      <p:sp>
        <p:nvSpPr>
          <p:cNvPr id="4" name="Text 2"/>
          <p:cNvSpPr/>
          <p:nvPr/>
        </p:nvSpPr>
        <p:spPr>
          <a:xfrm>
            <a:off x="1947672" y="3108960"/>
            <a:ext cx="7863840" cy="731520"/>
          </a:xfrm>
          <a:prstGeom prst="rect">
            <a:avLst/>
          </a:prstGeom>
          <a:noFill/>
          <a:ln/>
        </p:spPr>
        <p:txBody>
          <a:bodyPr wrap="square" lIns="0" tIns="0" rIns="0" bIns="0" rtlCol="0" anchor="t"/>
          <a:lstStyle/>
          <a:p>
            <a:pPr indent="0" marL="0">
              <a:buNone/>
            </a:pPr>
            <a:r>
              <a:rPr lang="en-US" sz="1500" dirty="0">
                <a:solidFill>
                  <a:srgbClr val="C8D3E4"/>
                </a:solidFill>
                <a:latin typeface="Calibri" pitchFamily="34" charset="0"/>
                <a:ea typeface="Calibri" pitchFamily="34" charset="-122"/>
                <a:cs typeface="Calibri" pitchFamily="34" charset="-120"/>
              </a:rPr>
              <a:t>Seis moldes que, combinados, cubren los dieciocho ejercicios del enunciado.</a:t>
            </a:r>
            <a:endParaRPr lang="en-US" sz="1500" dirty="0"/>
          </a:p>
        </p:txBody>
      </p:sp>
      <p:sp>
        <p:nvSpPr>
          <p:cNvPr id="5" name="Shape 3"/>
          <p:cNvSpPr/>
          <p:nvPr/>
        </p:nvSpPr>
        <p:spPr>
          <a:xfrm>
            <a:off x="9646920" y="2103120"/>
            <a:ext cx="384048" cy="384048"/>
          </a:xfrm>
          <a:prstGeom prst="rect">
            <a:avLst/>
          </a:prstGeom>
          <a:solidFill>
            <a:srgbClr val="E39A2B"/>
          </a:solidFill>
          <a:ln w="12700">
            <a:solidFill>
              <a:srgbClr val="E39A2B"/>
            </a:solidFill>
            <a:prstDash val="solid"/>
          </a:ln>
        </p:spPr>
      </p:sp>
      <p:sp>
        <p:nvSpPr>
          <p:cNvPr id="6" name="Shape 4"/>
          <p:cNvSpPr/>
          <p:nvPr/>
        </p:nvSpPr>
        <p:spPr>
          <a:xfrm>
            <a:off x="10122408" y="2103120"/>
            <a:ext cx="384048" cy="384048"/>
          </a:xfrm>
          <a:prstGeom prst="rect">
            <a:avLst/>
          </a:prstGeom>
          <a:solidFill>
            <a:srgbClr val="1E2C46"/>
          </a:solidFill>
          <a:ln w="12700">
            <a:solidFill>
              <a:srgbClr val="1E2C46"/>
            </a:solidFill>
            <a:prstDash val="solid"/>
          </a:ln>
        </p:spPr>
      </p:sp>
      <p:sp>
        <p:nvSpPr>
          <p:cNvPr id="7" name="Shape 5"/>
          <p:cNvSpPr/>
          <p:nvPr/>
        </p:nvSpPr>
        <p:spPr>
          <a:xfrm>
            <a:off x="10597896" y="2103120"/>
            <a:ext cx="384048" cy="384048"/>
          </a:xfrm>
          <a:prstGeom prst="rect">
            <a:avLst/>
          </a:prstGeom>
          <a:solidFill>
            <a:srgbClr val="1E2C46"/>
          </a:solidFill>
          <a:ln w="12700">
            <a:solidFill>
              <a:srgbClr val="1E2C46"/>
            </a:solidFill>
            <a:prstDash val="solid"/>
          </a:ln>
        </p:spPr>
      </p:sp>
      <p:sp>
        <p:nvSpPr>
          <p:cNvPr id="8" name="Shape 6"/>
          <p:cNvSpPr/>
          <p:nvPr/>
        </p:nvSpPr>
        <p:spPr>
          <a:xfrm>
            <a:off x="11073384" y="2103120"/>
            <a:ext cx="384048" cy="384048"/>
          </a:xfrm>
          <a:prstGeom prst="rect">
            <a:avLst/>
          </a:prstGeom>
          <a:solidFill>
            <a:srgbClr val="1E2C46"/>
          </a:solidFill>
          <a:ln w="12700">
            <a:solidFill>
              <a:srgbClr val="1E2C46"/>
            </a:solidFill>
            <a:prstDash val="solid"/>
          </a:ln>
        </p:spPr>
      </p:sp>
      <p:sp>
        <p:nvSpPr>
          <p:cNvPr id="9" name="Shape 7"/>
          <p:cNvSpPr/>
          <p:nvPr/>
        </p:nvSpPr>
        <p:spPr>
          <a:xfrm>
            <a:off x="9646920" y="2578608"/>
            <a:ext cx="384048" cy="384048"/>
          </a:xfrm>
          <a:prstGeom prst="rect">
            <a:avLst/>
          </a:prstGeom>
          <a:solidFill>
            <a:srgbClr val="1E2C46"/>
          </a:solidFill>
          <a:ln w="12700">
            <a:solidFill>
              <a:srgbClr val="1E2C46"/>
            </a:solidFill>
            <a:prstDash val="solid"/>
          </a:ln>
        </p:spPr>
      </p:sp>
      <p:sp>
        <p:nvSpPr>
          <p:cNvPr id="10" name="Shape 8"/>
          <p:cNvSpPr/>
          <p:nvPr/>
        </p:nvSpPr>
        <p:spPr>
          <a:xfrm>
            <a:off x="10122408" y="2578608"/>
            <a:ext cx="384048" cy="384048"/>
          </a:xfrm>
          <a:prstGeom prst="rect">
            <a:avLst/>
          </a:prstGeom>
          <a:solidFill>
            <a:srgbClr val="E39A2B"/>
          </a:solidFill>
          <a:ln w="12700">
            <a:solidFill>
              <a:srgbClr val="E39A2B"/>
            </a:solidFill>
            <a:prstDash val="solid"/>
          </a:ln>
        </p:spPr>
      </p:sp>
      <p:sp>
        <p:nvSpPr>
          <p:cNvPr id="11" name="Shape 9"/>
          <p:cNvSpPr/>
          <p:nvPr/>
        </p:nvSpPr>
        <p:spPr>
          <a:xfrm>
            <a:off x="10597896" y="2578608"/>
            <a:ext cx="384048" cy="384048"/>
          </a:xfrm>
          <a:prstGeom prst="rect">
            <a:avLst/>
          </a:prstGeom>
          <a:solidFill>
            <a:srgbClr val="1E2C46"/>
          </a:solidFill>
          <a:ln w="12700">
            <a:solidFill>
              <a:srgbClr val="1E2C46"/>
            </a:solidFill>
            <a:prstDash val="solid"/>
          </a:ln>
        </p:spPr>
      </p:sp>
      <p:sp>
        <p:nvSpPr>
          <p:cNvPr id="12" name="Shape 10"/>
          <p:cNvSpPr/>
          <p:nvPr/>
        </p:nvSpPr>
        <p:spPr>
          <a:xfrm>
            <a:off x="11073384" y="2578608"/>
            <a:ext cx="384048" cy="384048"/>
          </a:xfrm>
          <a:prstGeom prst="rect">
            <a:avLst/>
          </a:prstGeom>
          <a:solidFill>
            <a:srgbClr val="1E2C46"/>
          </a:solidFill>
          <a:ln w="12700">
            <a:solidFill>
              <a:srgbClr val="1E2C46"/>
            </a:solidFill>
            <a:prstDash val="solid"/>
          </a:ln>
        </p:spPr>
      </p:sp>
      <p:sp>
        <p:nvSpPr>
          <p:cNvPr id="13" name="Shape 11"/>
          <p:cNvSpPr/>
          <p:nvPr/>
        </p:nvSpPr>
        <p:spPr>
          <a:xfrm>
            <a:off x="9646920" y="3054096"/>
            <a:ext cx="384048" cy="384048"/>
          </a:xfrm>
          <a:prstGeom prst="rect">
            <a:avLst/>
          </a:prstGeom>
          <a:solidFill>
            <a:srgbClr val="1E2C46"/>
          </a:solidFill>
          <a:ln w="12700">
            <a:solidFill>
              <a:srgbClr val="1E2C46"/>
            </a:solidFill>
            <a:prstDash val="solid"/>
          </a:ln>
        </p:spPr>
      </p:sp>
      <p:sp>
        <p:nvSpPr>
          <p:cNvPr id="14" name="Shape 12"/>
          <p:cNvSpPr/>
          <p:nvPr/>
        </p:nvSpPr>
        <p:spPr>
          <a:xfrm>
            <a:off x="10122408" y="3054096"/>
            <a:ext cx="384048" cy="384048"/>
          </a:xfrm>
          <a:prstGeom prst="rect">
            <a:avLst/>
          </a:prstGeom>
          <a:solidFill>
            <a:srgbClr val="1E2C46"/>
          </a:solidFill>
          <a:ln w="12700">
            <a:solidFill>
              <a:srgbClr val="1E2C46"/>
            </a:solidFill>
            <a:prstDash val="solid"/>
          </a:ln>
        </p:spPr>
      </p:sp>
      <p:sp>
        <p:nvSpPr>
          <p:cNvPr id="15" name="Shape 13"/>
          <p:cNvSpPr/>
          <p:nvPr/>
        </p:nvSpPr>
        <p:spPr>
          <a:xfrm>
            <a:off x="10597896" y="3054096"/>
            <a:ext cx="384048" cy="384048"/>
          </a:xfrm>
          <a:prstGeom prst="rect">
            <a:avLst/>
          </a:prstGeom>
          <a:solidFill>
            <a:srgbClr val="E39A2B"/>
          </a:solidFill>
          <a:ln w="12700">
            <a:solidFill>
              <a:srgbClr val="E39A2B"/>
            </a:solidFill>
            <a:prstDash val="solid"/>
          </a:ln>
        </p:spPr>
      </p:sp>
      <p:sp>
        <p:nvSpPr>
          <p:cNvPr id="16" name="Shape 14"/>
          <p:cNvSpPr/>
          <p:nvPr/>
        </p:nvSpPr>
        <p:spPr>
          <a:xfrm>
            <a:off x="11073384" y="3054096"/>
            <a:ext cx="384048" cy="384048"/>
          </a:xfrm>
          <a:prstGeom prst="rect">
            <a:avLst/>
          </a:prstGeom>
          <a:solidFill>
            <a:srgbClr val="1E2C46"/>
          </a:solidFill>
          <a:ln w="12700">
            <a:solidFill>
              <a:srgbClr val="1E2C46"/>
            </a:solidFill>
            <a:prstDash val="solid"/>
          </a:ln>
        </p:spPr>
      </p:sp>
      <p:sp>
        <p:nvSpPr>
          <p:cNvPr id="17" name="Shape 15"/>
          <p:cNvSpPr/>
          <p:nvPr/>
        </p:nvSpPr>
        <p:spPr>
          <a:xfrm>
            <a:off x="9646920" y="3529584"/>
            <a:ext cx="384048" cy="384048"/>
          </a:xfrm>
          <a:prstGeom prst="rect">
            <a:avLst/>
          </a:prstGeom>
          <a:solidFill>
            <a:srgbClr val="1E2C46"/>
          </a:solidFill>
          <a:ln w="12700">
            <a:solidFill>
              <a:srgbClr val="1E2C46"/>
            </a:solidFill>
            <a:prstDash val="solid"/>
          </a:ln>
        </p:spPr>
      </p:sp>
      <p:sp>
        <p:nvSpPr>
          <p:cNvPr id="18" name="Shape 16"/>
          <p:cNvSpPr/>
          <p:nvPr/>
        </p:nvSpPr>
        <p:spPr>
          <a:xfrm>
            <a:off x="10122408" y="3529584"/>
            <a:ext cx="384048" cy="384048"/>
          </a:xfrm>
          <a:prstGeom prst="rect">
            <a:avLst/>
          </a:prstGeom>
          <a:solidFill>
            <a:srgbClr val="1E2C46"/>
          </a:solidFill>
          <a:ln w="12700">
            <a:solidFill>
              <a:srgbClr val="1E2C46"/>
            </a:solidFill>
            <a:prstDash val="solid"/>
          </a:ln>
        </p:spPr>
      </p:sp>
      <p:sp>
        <p:nvSpPr>
          <p:cNvPr id="19" name="Shape 17"/>
          <p:cNvSpPr/>
          <p:nvPr/>
        </p:nvSpPr>
        <p:spPr>
          <a:xfrm>
            <a:off x="10597896" y="3529584"/>
            <a:ext cx="384048" cy="384048"/>
          </a:xfrm>
          <a:prstGeom prst="rect">
            <a:avLst/>
          </a:prstGeom>
          <a:solidFill>
            <a:srgbClr val="1E2C46"/>
          </a:solidFill>
          <a:ln w="12700">
            <a:solidFill>
              <a:srgbClr val="1E2C46"/>
            </a:solidFill>
            <a:prstDash val="solid"/>
          </a:ln>
        </p:spPr>
      </p:sp>
      <p:sp>
        <p:nvSpPr>
          <p:cNvPr id="20" name="Shape 18"/>
          <p:cNvSpPr/>
          <p:nvPr/>
        </p:nvSpPr>
        <p:spPr>
          <a:xfrm>
            <a:off x="11073384" y="3529584"/>
            <a:ext cx="384048" cy="384048"/>
          </a:xfrm>
          <a:prstGeom prst="rect">
            <a:avLst/>
          </a:prstGeom>
          <a:solidFill>
            <a:srgbClr val="E39A2B"/>
          </a:solidFill>
          <a:ln w="12700">
            <a:solidFill>
              <a:srgbClr val="E39A2B"/>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Patrón A — Construir una matriz nueva</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Cuando la función devuelve una matriz que antes no existía. El molde más usado del labo.</a:t>
            </a:r>
            <a:endParaRPr lang="en-US" sz="1300" dirty="0"/>
          </a:p>
        </p:txBody>
      </p:sp>
      <p:sp>
        <p:nvSpPr>
          <p:cNvPr id="4" name="Shape 2"/>
          <p:cNvSpPr/>
          <p:nvPr/>
        </p:nvSpPr>
        <p:spPr>
          <a:xfrm>
            <a:off x="594360" y="1444752"/>
            <a:ext cx="5318608" cy="3529035"/>
          </a:xfrm>
          <a:prstGeom prst="roundRect">
            <a:avLst>
              <a:gd name="adj" fmla="val 1555"/>
            </a:avLst>
          </a:prstGeom>
          <a:solidFill>
            <a:srgbClr val="1B2436"/>
          </a:solidFill>
          <a:ln w="12700">
            <a:solidFill>
              <a:srgbClr val="1B2436"/>
            </a:solidFill>
            <a:prstDash val="solid"/>
          </a:ln>
        </p:spPr>
      </p:sp>
      <p:sp>
        <p:nvSpPr>
          <p:cNvPr id="5" name="Text 3"/>
          <p:cNvSpPr/>
          <p:nvPr/>
        </p:nvSpPr>
        <p:spPr>
          <a:xfrm>
            <a:off x="740664" y="1581912"/>
            <a:ext cx="5026000" cy="3254715"/>
          </a:xfrm>
          <a:prstGeom prst="rect">
            <a:avLst/>
          </a:prstGeom>
          <a:noFill/>
          <a:ln/>
        </p:spPr>
        <p:txBody>
          <a:bodyPr wrap="square" lIns="0" tIns="0" rIns="0" bIns="0" rtlCol="0" anchor="t"/>
          <a:lstStyle/>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ejemplo neutro: tabla de multiplicar</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def tabla(n, m):</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filas = []</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for i in range(n):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fila = []</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for j in range(m):</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fila.append((i + 1) * (j + 1))</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filas.append(fila)</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return np.array(filas)</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la version corta, si te sentis comodo:</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np.array([[(i+1)*(j+1) for j in range(m)]</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for i in range(n)])</a:t>
            </a:r>
            <a:endParaRPr lang="en-US" sz="1100" dirty="0"/>
          </a:p>
        </p:txBody>
      </p:sp>
      <p:sp>
        <p:nvSpPr>
          <p:cNvPr id="6" name="Shape 4"/>
          <p:cNvSpPr/>
          <p:nvPr/>
        </p:nvSpPr>
        <p:spPr>
          <a:xfrm>
            <a:off x="6278728" y="1444752"/>
            <a:ext cx="5318608" cy="2432304"/>
          </a:xfrm>
          <a:prstGeom prst="roundRect">
            <a:avLst>
              <a:gd name="adj" fmla="val 3008"/>
            </a:avLst>
          </a:prstGeom>
          <a:solidFill>
            <a:srgbClr val="FAEDEB"/>
          </a:solidFill>
          <a:ln w="12700">
            <a:solidFill>
              <a:srgbClr val="EDCFCA"/>
            </a:solidFill>
            <a:prstDash val="solid"/>
          </a:ln>
        </p:spPr>
      </p:sp>
      <p:sp>
        <p:nvSpPr>
          <p:cNvPr id="7" name="Text 5"/>
          <p:cNvSpPr/>
          <p:nvPr/>
        </p:nvSpPr>
        <p:spPr>
          <a:xfrm>
            <a:off x="6553048" y="1645920"/>
            <a:ext cx="4769968" cy="292608"/>
          </a:xfrm>
          <a:prstGeom prst="rect">
            <a:avLst/>
          </a:prstGeom>
          <a:noFill/>
          <a:ln/>
        </p:spPr>
        <p:txBody>
          <a:bodyPr wrap="square" lIns="0" tIns="0" rIns="0" bIns="0" rtlCol="0" anchor="t"/>
          <a:lstStyle/>
          <a:p>
            <a:pPr indent="0" marL="0">
              <a:buNone/>
            </a:pPr>
            <a:r>
              <a:rPr lang="en-US" sz="1500" b="1" dirty="0">
                <a:solidFill>
                  <a:srgbClr val="A8453A"/>
                </a:solidFill>
                <a:latin typeface="Cambria" pitchFamily="34" charset="0"/>
                <a:ea typeface="Cambria" pitchFamily="34" charset="-122"/>
                <a:cs typeface="Cambria" pitchFamily="34" charset="-120"/>
              </a:rPr>
              <a:t>La trampa</a:t>
            </a:r>
            <a:endParaRPr lang="en-US" sz="1500" dirty="0"/>
          </a:p>
        </p:txBody>
      </p:sp>
      <p:sp>
        <p:nvSpPr>
          <p:cNvPr id="8" name="Text 6"/>
          <p:cNvSpPr/>
          <p:nvPr/>
        </p:nvSpPr>
        <p:spPr>
          <a:xfrm>
            <a:off x="6553048" y="2048256"/>
            <a:ext cx="4769968" cy="1682496"/>
          </a:xfrm>
          <a:prstGeom prst="rect">
            <a:avLst/>
          </a:prstGeom>
          <a:noFill/>
          <a:ln/>
        </p:spPr>
        <p:txBody>
          <a:bodyPr wrap="square" lIns="0" tIns="0" rIns="0" bIns="0" rtlCol="0" anchor="t"/>
          <a:lstStyle/>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Armá con listas de Python y llamá a np.array una sola vez, al final. Así esquivás np.zeros por completo.</a:t>
            </a:r>
            <a:endParaRPr lang="en-US" sz="1250" dirty="0"/>
          </a:p>
          <a:p>
            <a:pPr indent="0" marL="0">
              <a:lnSpc>
                <a:spcPct val="118000"/>
              </a:lnSpc>
              <a:buNone/>
            </a:pPr>
            <a:endParaRPr lang="en-US" sz="1250" dirty="0"/>
          </a:p>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Y nunca uses [[0]*m]*n para inicializar: eso guarda n referencias a la MISMA lista, y modificar una fila te modifica todas. Es el bug de Python que más tiempo hace perder.</a:t>
            </a:r>
            <a:endParaRPr lang="en-US" sz="1250" dirty="0"/>
          </a:p>
        </p:txBody>
      </p:sp>
      <p:sp>
        <p:nvSpPr>
          <p:cNvPr id="9" name="Text 7"/>
          <p:cNvSpPr/>
          <p:nvPr/>
        </p:nvSpPr>
        <p:spPr>
          <a:xfrm>
            <a:off x="6278728" y="4151376"/>
            <a:ext cx="5318608" cy="274320"/>
          </a:xfrm>
          <a:prstGeom prst="rect">
            <a:avLst/>
          </a:prstGeom>
          <a:noFill/>
          <a:ln/>
        </p:spPr>
        <p:txBody>
          <a:bodyPr wrap="square" lIns="0" tIns="0" rIns="0" bIns="0" rtlCol="0" anchor="t"/>
          <a:lstStyle/>
          <a:p>
            <a:pPr indent="0" marL="0">
              <a:buNone/>
            </a:pPr>
            <a:r>
              <a:rPr lang="en-US" sz="1300" b="1" dirty="0">
                <a:solidFill>
                  <a:srgbClr val="16233A"/>
                </a:solidFill>
                <a:latin typeface="Cambria" pitchFamily="34" charset="0"/>
                <a:ea typeface="Cambria" pitchFamily="34" charset="-122"/>
                <a:cs typeface="Cambria" pitchFamily="34" charset="-120"/>
              </a:rPr>
              <a:t>Dónde aparece en el enunciado</a:t>
            </a:r>
            <a:endParaRPr lang="en-US" sz="1300" dirty="0"/>
          </a:p>
        </p:txBody>
      </p:sp>
      <p:sp>
        <p:nvSpPr>
          <p:cNvPr id="10" name="Shape 8"/>
          <p:cNvSpPr/>
          <p:nvPr/>
        </p:nvSpPr>
        <p:spPr>
          <a:xfrm>
            <a:off x="6278728" y="4498848"/>
            <a:ext cx="486461" cy="274320"/>
          </a:xfrm>
          <a:prstGeom prst="roundRect">
            <a:avLst>
              <a:gd name="adj" fmla="val 40000"/>
            </a:avLst>
          </a:prstGeom>
          <a:solidFill>
            <a:srgbClr val="E8F1F3"/>
          </a:solidFill>
          <a:ln w="12700">
            <a:solidFill>
              <a:srgbClr val="E8F1F3"/>
            </a:solidFill>
            <a:prstDash val="solid"/>
          </a:ln>
        </p:spPr>
      </p:sp>
      <p:sp>
        <p:nvSpPr>
          <p:cNvPr id="11" name="Text 9"/>
          <p:cNvSpPr/>
          <p:nvPr/>
        </p:nvSpPr>
        <p:spPr>
          <a:xfrm>
            <a:off x="6278728"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2</a:t>
            </a:r>
            <a:endParaRPr lang="en-US" sz="1050" dirty="0"/>
          </a:p>
        </p:txBody>
      </p:sp>
      <p:sp>
        <p:nvSpPr>
          <p:cNvPr id="12" name="Shape 10"/>
          <p:cNvSpPr/>
          <p:nvPr/>
        </p:nvSpPr>
        <p:spPr>
          <a:xfrm>
            <a:off x="6865772" y="4498848"/>
            <a:ext cx="486461" cy="274320"/>
          </a:xfrm>
          <a:prstGeom prst="roundRect">
            <a:avLst>
              <a:gd name="adj" fmla="val 40000"/>
            </a:avLst>
          </a:prstGeom>
          <a:solidFill>
            <a:srgbClr val="E8F1F3"/>
          </a:solidFill>
          <a:ln w="12700">
            <a:solidFill>
              <a:srgbClr val="E8F1F3"/>
            </a:solidFill>
            <a:prstDash val="solid"/>
          </a:ln>
        </p:spPr>
      </p:sp>
      <p:sp>
        <p:nvSpPr>
          <p:cNvPr id="13" name="Text 11"/>
          <p:cNvSpPr/>
          <p:nvPr/>
        </p:nvSpPr>
        <p:spPr>
          <a:xfrm>
            <a:off x="6865772"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3</a:t>
            </a:r>
            <a:endParaRPr lang="en-US" sz="1050" dirty="0"/>
          </a:p>
        </p:txBody>
      </p:sp>
      <p:sp>
        <p:nvSpPr>
          <p:cNvPr id="14" name="Shape 12"/>
          <p:cNvSpPr/>
          <p:nvPr/>
        </p:nvSpPr>
        <p:spPr>
          <a:xfrm>
            <a:off x="7452817" y="4498848"/>
            <a:ext cx="486461" cy="274320"/>
          </a:xfrm>
          <a:prstGeom prst="roundRect">
            <a:avLst>
              <a:gd name="adj" fmla="val 40000"/>
            </a:avLst>
          </a:prstGeom>
          <a:solidFill>
            <a:srgbClr val="E8F1F3"/>
          </a:solidFill>
          <a:ln w="12700">
            <a:solidFill>
              <a:srgbClr val="E8F1F3"/>
            </a:solidFill>
            <a:prstDash val="solid"/>
          </a:ln>
        </p:spPr>
      </p:sp>
      <p:sp>
        <p:nvSpPr>
          <p:cNvPr id="15" name="Text 13"/>
          <p:cNvSpPr/>
          <p:nvPr/>
        </p:nvSpPr>
        <p:spPr>
          <a:xfrm>
            <a:off x="7452817"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4</a:t>
            </a:r>
            <a:endParaRPr lang="en-US" sz="1050" dirty="0"/>
          </a:p>
        </p:txBody>
      </p:sp>
      <p:sp>
        <p:nvSpPr>
          <p:cNvPr id="16" name="Shape 14"/>
          <p:cNvSpPr/>
          <p:nvPr/>
        </p:nvSpPr>
        <p:spPr>
          <a:xfrm>
            <a:off x="8039862" y="4498848"/>
            <a:ext cx="486461" cy="274320"/>
          </a:xfrm>
          <a:prstGeom prst="roundRect">
            <a:avLst>
              <a:gd name="adj" fmla="val 40000"/>
            </a:avLst>
          </a:prstGeom>
          <a:solidFill>
            <a:srgbClr val="E8F1F3"/>
          </a:solidFill>
          <a:ln w="12700">
            <a:solidFill>
              <a:srgbClr val="E8F1F3"/>
            </a:solidFill>
            <a:prstDash val="solid"/>
          </a:ln>
        </p:spPr>
      </p:sp>
      <p:sp>
        <p:nvSpPr>
          <p:cNvPr id="17" name="Text 15"/>
          <p:cNvSpPr/>
          <p:nvPr/>
        </p:nvSpPr>
        <p:spPr>
          <a:xfrm>
            <a:off x="8039862"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6</a:t>
            </a:r>
            <a:endParaRPr lang="en-US" sz="1050" dirty="0"/>
          </a:p>
        </p:txBody>
      </p:sp>
      <p:sp>
        <p:nvSpPr>
          <p:cNvPr id="18" name="Shape 16"/>
          <p:cNvSpPr/>
          <p:nvPr/>
        </p:nvSpPr>
        <p:spPr>
          <a:xfrm>
            <a:off x="8626907" y="4498848"/>
            <a:ext cx="562356" cy="274320"/>
          </a:xfrm>
          <a:prstGeom prst="roundRect">
            <a:avLst>
              <a:gd name="adj" fmla="val 40000"/>
            </a:avLst>
          </a:prstGeom>
          <a:solidFill>
            <a:srgbClr val="E8F1F3"/>
          </a:solidFill>
          <a:ln w="12700">
            <a:solidFill>
              <a:srgbClr val="E8F1F3"/>
            </a:solidFill>
            <a:prstDash val="solid"/>
          </a:ln>
        </p:spPr>
      </p:sp>
      <p:sp>
        <p:nvSpPr>
          <p:cNvPr id="19" name="Text 17"/>
          <p:cNvSpPr/>
          <p:nvPr/>
        </p:nvSpPr>
        <p:spPr>
          <a:xfrm>
            <a:off x="8626907"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12</a:t>
            </a:r>
            <a:endParaRPr lang="en-US" sz="1050" dirty="0"/>
          </a:p>
        </p:txBody>
      </p:sp>
      <p:sp>
        <p:nvSpPr>
          <p:cNvPr id="20" name="Shape 18"/>
          <p:cNvSpPr/>
          <p:nvPr/>
        </p:nvSpPr>
        <p:spPr>
          <a:xfrm>
            <a:off x="9289847" y="4498848"/>
            <a:ext cx="562356" cy="274320"/>
          </a:xfrm>
          <a:prstGeom prst="roundRect">
            <a:avLst>
              <a:gd name="adj" fmla="val 40000"/>
            </a:avLst>
          </a:prstGeom>
          <a:solidFill>
            <a:srgbClr val="E8F1F3"/>
          </a:solidFill>
          <a:ln w="12700">
            <a:solidFill>
              <a:srgbClr val="E8F1F3"/>
            </a:solidFill>
            <a:prstDash val="solid"/>
          </a:ln>
        </p:spPr>
      </p:sp>
      <p:sp>
        <p:nvSpPr>
          <p:cNvPr id="21" name="Text 19"/>
          <p:cNvSpPr/>
          <p:nvPr/>
        </p:nvSpPr>
        <p:spPr>
          <a:xfrm>
            <a:off x="9289847"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13</a:t>
            </a:r>
            <a:endParaRPr lang="en-US" sz="1050" dirty="0"/>
          </a:p>
        </p:txBody>
      </p:sp>
      <p:sp>
        <p:nvSpPr>
          <p:cNvPr id="22" name="Shape 20"/>
          <p:cNvSpPr/>
          <p:nvPr/>
        </p:nvSpPr>
        <p:spPr>
          <a:xfrm>
            <a:off x="9952787" y="4498848"/>
            <a:ext cx="562356" cy="274320"/>
          </a:xfrm>
          <a:prstGeom prst="roundRect">
            <a:avLst>
              <a:gd name="adj" fmla="val 40000"/>
            </a:avLst>
          </a:prstGeom>
          <a:solidFill>
            <a:srgbClr val="E8F1F3"/>
          </a:solidFill>
          <a:ln w="12700">
            <a:solidFill>
              <a:srgbClr val="E8F1F3"/>
            </a:solidFill>
            <a:prstDash val="solid"/>
          </a:ln>
        </p:spPr>
      </p:sp>
      <p:sp>
        <p:nvSpPr>
          <p:cNvPr id="23" name="Text 21"/>
          <p:cNvSpPr/>
          <p:nvPr/>
        </p:nvSpPr>
        <p:spPr>
          <a:xfrm>
            <a:off x="9952787"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15</a:t>
            </a:r>
            <a:endParaRPr lang="en-US" sz="1050" dirty="0"/>
          </a:p>
        </p:txBody>
      </p:sp>
      <p:sp>
        <p:nvSpPr>
          <p:cNvPr id="24" name="Shape 22"/>
          <p:cNvSpPr/>
          <p:nvPr/>
        </p:nvSpPr>
        <p:spPr>
          <a:xfrm>
            <a:off x="10615727" y="4498848"/>
            <a:ext cx="562356" cy="274320"/>
          </a:xfrm>
          <a:prstGeom prst="roundRect">
            <a:avLst>
              <a:gd name="adj" fmla="val 40000"/>
            </a:avLst>
          </a:prstGeom>
          <a:solidFill>
            <a:srgbClr val="E8F1F3"/>
          </a:solidFill>
          <a:ln w="12700">
            <a:solidFill>
              <a:srgbClr val="E8F1F3"/>
            </a:solidFill>
            <a:prstDash val="solid"/>
          </a:ln>
        </p:spPr>
      </p:sp>
      <p:sp>
        <p:nvSpPr>
          <p:cNvPr id="25" name="Text 23"/>
          <p:cNvSpPr/>
          <p:nvPr/>
        </p:nvSpPr>
        <p:spPr>
          <a:xfrm>
            <a:off x="10615727"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16</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Patrón B — Recorrer solo una parte de la matriz</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Cuando la operación aplica a una región: la diagonal, lo de arriba, lo de abajo.</a:t>
            </a:r>
            <a:endParaRPr lang="en-US" sz="1300" dirty="0"/>
          </a:p>
        </p:txBody>
      </p:sp>
      <p:sp>
        <p:nvSpPr>
          <p:cNvPr id="4" name="Shape 2"/>
          <p:cNvSpPr/>
          <p:nvPr/>
        </p:nvSpPr>
        <p:spPr>
          <a:xfrm>
            <a:off x="594360" y="1444752"/>
            <a:ext cx="5318608" cy="3278673"/>
          </a:xfrm>
          <a:prstGeom prst="roundRect">
            <a:avLst>
              <a:gd name="adj" fmla="val 1673"/>
            </a:avLst>
          </a:prstGeom>
          <a:solidFill>
            <a:srgbClr val="1B2436"/>
          </a:solidFill>
          <a:ln w="12700">
            <a:solidFill>
              <a:srgbClr val="1B2436"/>
            </a:solidFill>
            <a:prstDash val="solid"/>
          </a:ln>
        </p:spPr>
      </p:sp>
      <p:sp>
        <p:nvSpPr>
          <p:cNvPr id="5" name="Text 3"/>
          <p:cNvSpPr/>
          <p:nvPr/>
        </p:nvSpPr>
        <p:spPr>
          <a:xfrm>
            <a:off x="740664" y="1581912"/>
            <a:ext cx="5026000" cy="3004353"/>
          </a:xfrm>
          <a:prstGeom prst="rect">
            <a:avLst/>
          </a:prstGeom>
          <a:noFill/>
          <a:ln/>
        </p:spPr>
        <p:txBody>
          <a:bodyPr wrap="square" lIns="0" tIns="0" rIns="0" bIns="0" rtlCol="0" anchor="t"/>
          <a:lstStyle/>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for i in range(n):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for j in range(i + 1, 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   # estrictamente ARRIBA</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for i in range(n):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for j in range(i):</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   # estrictamente ABAJO</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for i in range(n):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   # con j = i: la DIAGONAL</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la clave: el rango interno depende de i</a:t>
            </a:r>
            <a:endParaRPr lang="en-US" sz="1100" dirty="0"/>
          </a:p>
        </p:txBody>
      </p:sp>
      <p:sp>
        <p:nvSpPr>
          <p:cNvPr id="6" name="Shape 4"/>
          <p:cNvSpPr/>
          <p:nvPr/>
        </p:nvSpPr>
        <p:spPr>
          <a:xfrm>
            <a:off x="6278728" y="1444752"/>
            <a:ext cx="5318608" cy="2432304"/>
          </a:xfrm>
          <a:prstGeom prst="roundRect">
            <a:avLst>
              <a:gd name="adj" fmla="val 3008"/>
            </a:avLst>
          </a:prstGeom>
          <a:solidFill>
            <a:srgbClr val="FAEDEB"/>
          </a:solidFill>
          <a:ln w="12700">
            <a:solidFill>
              <a:srgbClr val="EDCFCA"/>
            </a:solidFill>
            <a:prstDash val="solid"/>
          </a:ln>
        </p:spPr>
      </p:sp>
      <p:sp>
        <p:nvSpPr>
          <p:cNvPr id="7" name="Text 5"/>
          <p:cNvSpPr/>
          <p:nvPr/>
        </p:nvSpPr>
        <p:spPr>
          <a:xfrm>
            <a:off x="6553048" y="1645920"/>
            <a:ext cx="4769968" cy="292608"/>
          </a:xfrm>
          <a:prstGeom prst="rect">
            <a:avLst/>
          </a:prstGeom>
          <a:noFill/>
          <a:ln/>
        </p:spPr>
        <p:txBody>
          <a:bodyPr wrap="square" lIns="0" tIns="0" rIns="0" bIns="0" rtlCol="0" anchor="t"/>
          <a:lstStyle/>
          <a:p>
            <a:pPr indent="0" marL="0">
              <a:buNone/>
            </a:pPr>
            <a:r>
              <a:rPr lang="en-US" sz="1500" b="1" dirty="0">
                <a:solidFill>
                  <a:srgbClr val="A8453A"/>
                </a:solidFill>
                <a:latin typeface="Cambria" pitchFamily="34" charset="0"/>
                <a:ea typeface="Cambria" pitchFamily="34" charset="-122"/>
                <a:cs typeface="Cambria" pitchFamily="34" charset="-120"/>
              </a:rPr>
              <a:t>La trampa</a:t>
            </a:r>
            <a:endParaRPr lang="en-US" sz="1500" dirty="0"/>
          </a:p>
        </p:txBody>
      </p:sp>
      <p:sp>
        <p:nvSpPr>
          <p:cNvPr id="8" name="Text 6"/>
          <p:cNvSpPr/>
          <p:nvPr/>
        </p:nvSpPr>
        <p:spPr>
          <a:xfrm>
            <a:off x="6553048" y="2048256"/>
            <a:ext cx="4769968" cy="1682496"/>
          </a:xfrm>
          <a:prstGeom prst="rect">
            <a:avLst/>
          </a:prstGeom>
          <a:noFill/>
          <a:ln/>
        </p:spPr>
        <p:txBody>
          <a:bodyPr wrap="square" lIns="0" tIns="0" rIns="0" bIns="0" rtlCol="0" anchor="t"/>
          <a:lstStyle/>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El enunciado de los Ejercicios 2 y 3 dice «sin su diagonal». Leelo dos veces y decidí qué pasa con las posiciones donde i = j: ¿van en cero, o no van?</a:t>
            </a:r>
            <a:endParaRPr lang="en-US" sz="1250" dirty="0"/>
          </a:p>
          <a:p>
            <a:pPr indent="0" marL="0">
              <a:lnSpc>
                <a:spcPct val="118000"/>
              </a:lnSpc>
              <a:buNone/>
            </a:pPr>
            <a:endParaRPr lang="en-US" sz="1250" dirty="0"/>
          </a:p>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De eso depende que el test cruzado triangSup + triangInf + diagonal reconstruya A exactamente. Si te da distinto, el problema casi siempre está acá.</a:t>
            </a:r>
            <a:endParaRPr lang="en-US" sz="1250" dirty="0"/>
          </a:p>
        </p:txBody>
      </p:sp>
      <p:sp>
        <p:nvSpPr>
          <p:cNvPr id="9" name="Text 7"/>
          <p:cNvSpPr/>
          <p:nvPr/>
        </p:nvSpPr>
        <p:spPr>
          <a:xfrm>
            <a:off x="6278728" y="4151376"/>
            <a:ext cx="5318608" cy="274320"/>
          </a:xfrm>
          <a:prstGeom prst="rect">
            <a:avLst/>
          </a:prstGeom>
          <a:noFill/>
          <a:ln/>
        </p:spPr>
        <p:txBody>
          <a:bodyPr wrap="square" lIns="0" tIns="0" rIns="0" bIns="0" rtlCol="0" anchor="t"/>
          <a:lstStyle/>
          <a:p>
            <a:pPr indent="0" marL="0">
              <a:buNone/>
            </a:pPr>
            <a:r>
              <a:rPr lang="en-US" sz="1300" b="1" dirty="0">
                <a:solidFill>
                  <a:srgbClr val="16233A"/>
                </a:solidFill>
                <a:latin typeface="Cambria" pitchFamily="34" charset="0"/>
                <a:ea typeface="Cambria" pitchFamily="34" charset="-122"/>
                <a:cs typeface="Cambria" pitchFamily="34" charset="-120"/>
              </a:rPr>
              <a:t>Dónde aparece en el enunciado</a:t>
            </a:r>
            <a:endParaRPr lang="en-US" sz="1300" dirty="0"/>
          </a:p>
        </p:txBody>
      </p:sp>
      <p:sp>
        <p:nvSpPr>
          <p:cNvPr id="10" name="Shape 8"/>
          <p:cNvSpPr/>
          <p:nvPr/>
        </p:nvSpPr>
        <p:spPr>
          <a:xfrm>
            <a:off x="6278728" y="4498848"/>
            <a:ext cx="486461" cy="274320"/>
          </a:xfrm>
          <a:prstGeom prst="roundRect">
            <a:avLst>
              <a:gd name="adj" fmla="val 40000"/>
            </a:avLst>
          </a:prstGeom>
          <a:solidFill>
            <a:srgbClr val="E8F1F3"/>
          </a:solidFill>
          <a:ln w="12700">
            <a:solidFill>
              <a:srgbClr val="E8F1F3"/>
            </a:solidFill>
            <a:prstDash val="solid"/>
          </a:ln>
        </p:spPr>
      </p:sp>
      <p:sp>
        <p:nvSpPr>
          <p:cNvPr id="11" name="Text 9"/>
          <p:cNvSpPr/>
          <p:nvPr/>
        </p:nvSpPr>
        <p:spPr>
          <a:xfrm>
            <a:off x="6278728"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2</a:t>
            </a:r>
            <a:endParaRPr lang="en-US" sz="1050" dirty="0"/>
          </a:p>
        </p:txBody>
      </p:sp>
      <p:sp>
        <p:nvSpPr>
          <p:cNvPr id="12" name="Shape 10"/>
          <p:cNvSpPr/>
          <p:nvPr/>
        </p:nvSpPr>
        <p:spPr>
          <a:xfrm>
            <a:off x="6865772" y="4498848"/>
            <a:ext cx="486461" cy="274320"/>
          </a:xfrm>
          <a:prstGeom prst="roundRect">
            <a:avLst>
              <a:gd name="adj" fmla="val 40000"/>
            </a:avLst>
          </a:prstGeom>
          <a:solidFill>
            <a:srgbClr val="E8F1F3"/>
          </a:solidFill>
          <a:ln w="12700">
            <a:solidFill>
              <a:srgbClr val="E8F1F3"/>
            </a:solidFill>
            <a:prstDash val="solid"/>
          </a:ln>
        </p:spPr>
      </p:sp>
      <p:sp>
        <p:nvSpPr>
          <p:cNvPr id="13" name="Text 11"/>
          <p:cNvSpPr/>
          <p:nvPr/>
        </p:nvSpPr>
        <p:spPr>
          <a:xfrm>
            <a:off x="6865772"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3</a:t>
            </a:r>
            <a:endParaRPr lang="en-US" sz="1050" dirty="0"/>
          </a:p>
        </p:txBody>
      </p:sp>
      <p:sp>
        <p:nvSpPr>
          <p:cNvPr id="14" name="Shape 12"/>
          <p:cNvSpPr/>
          <p:nvPr/>
        </p:nvSpPr>
        <p:spPr>
          <a:xfrm>
            <a:off x="7452817" y="4498848"/>
            <a:ext cx="486461" cy="274320"/>
          </a:xfrm>
          <a:prstGeom prst="roundRect">
            <a:avLst>
              <a:gd name="adj" fmla="val 40000"/>
            </a:avLst>
          </a:prstGeom>
          <a:solidFill>
            <a:srgbClr val="E8F1F3"/>
          </a:solidFill>
          <a:ln w="12700">
            <a:solidFill>
              <a:srgbClr val="E8F1F3"/>
            </a:solidFill>
            <a:prstDash val="solid"/>
          </a:ln>
        </p:spPr>
      </p:sp>
      <p:sp>
        <p:nvSpPr>
          <p:cNvPr id="15" name="Text 13"/>
          <p:cNvSpPr/>
          <p:nvPr/>
        </p:nvSpPr>
        <p:spPr>
          <a:xfrm>
            <a:off x="7452817"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4</a:t>
            </a:r>
            <a:endParaRPr lang="en-US" sz="1050" dirty="0"/>
          </a:p>
        </p:txBody>
      </p:sp>
      <p:sp>
        <p:nvSpPr>
          <p:cNvPr id="16" name="Shape 14"/>
          <p:cNvSpPr/>
          <p:nvPr/>
        </p:nvSpPr>
        <p:spPr>
          <a:xfrm>
            <a:off x="8039862" y="4498848"/>
            <a:ext cx="486461" cy="274320"/>
          </a:xfrm>
          <a:prstGeom prst="roundRect">
            <a:avLst>
              <a:gd name="adj" fmla="val 40000"/>
            </a:avLst>
          </a:prstGeom>
          <a:solidFill>
            <a:srgbClr val="E8F1F3"/>
          </a:solidFill>
          <a:ln w="12700">
            <a:solidFill>
              <a:srgbClr val="E8F1F3"/>
            </a:solidFill>
            <a:prstDash val="solid"/>
          </a:ln>
        </p:spPr>
      </p:sp>
      <p:sp>
        <p:nvSpPr>
          <p:cNvPr id="17" name="Text 15"/>
          <p:cNvSpPr/>
          <p:nvPr/>
        </p:nvSpPr>
        <p:spPr>
          <a:xfrm>
            <a:off x="8039862"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5</a:t>
            </a:r>
            <a:endParaRPr lang="en-US" sz="1050" dirty="0"/>
          </a:p>
        </p:txBody>
      </p:sp>
      <p:sp>
        <p:nvSpPr>
          <p:cNvPr id="18" name="Shape 16"/>
          <p:cNvSpPr/>
          <p:nvPr/>
        </p:nvSpPr>
        <p:spPr>
          <a:xfrm>
            <a:off x="8626907" y="4498848"/>
            <a:ext cx="562356" cy="274320"/>
          </a:xfrm>
          <a:prstGeom prst="roundRect">
            <a:avLst>
              <a:gd name="adj" fmla="val 40000"/>
            </a:avLst>
          </a:prstGeom>
          <a:solidFill>
            <a:srgbClr val="E8F1F3"/>
          </a:solidFill>
          <a:ln w="12700">
            <a:solidFill>
              <a:srgbClr val="E8F1F3"/>
            </a:solidFill>
            <a:prstDash val="solid"/>
          </a:ln>
        </p:spPr>
      </p:sp>
      <p:sp>
        <p:nvSpPr>
          <p:cNvPr id="19" name="Text 17"/>
          <p:cNvSpPr/>
          <p:nvPr/>
        </p:nvSpPr>
        <p:spPr>
          <a:xfrm>
            <a:off x="8626907"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Patrón C — Devolver un booleano</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Cuando la función responde sí o no. Recorrés buscando un contraejemplo.</a:t>
            </a:r>
            <a:endParaRPr lang="en-US" sz="1300" dirty="0"/>
          </a:p>
        </p:txBody>
      </p:sp>
      <p:sp>
        <p:nvSpPr>
          <p:cNvPr id="4" name="Shape 2"/>
          <p:cNvSpPr/>
          <p:nvPr/>
        </p:nvSpPr>
        <p:spPr>
          <a:xfrm>
            <a:off x="594360" y="1444752"/>
            <a:ext cx="5318608" cy="4029761"/>
          </a:xfrm>
          <a:prstGeom prst="roundRect">
            <a:avLst>
              <a:gd name="adj" fmla="val 1361"/>
            </a:avLst>
          </a:prstGeom>
          <a:solidFill>
            <a:srgbClr val="1B2436"/>
          </a:solidFill>
          <a:ln w="12700">
            <a:solidFill>
              <a:srgbClr val="1B2436"/>
            </a:solidFill>
            <a:prstDash val="solid"/>
          </a:ln>
        </p:spPr>
      </p:sp>
      <p:sp>
        <p:nvSpPr>
          <p:cNvPr id="5" name="Text 3"/>
          <p:cNvSpPr/>
          <p:nvPr/>
        </p:nvSpPr>
        <p:spPr>
          <a:xfrm>
            <a:off x="740664" y="1581912"/>
            <a:ext cx="5026000" cy="3755441"/>
          </a:xfrm>
          <a:prstGeom prst="rect">
            <a:avLst/>
          </a:prstGeom>
          <a:noFill/>
          <a:ln/>
        </p:spPr>
        <p:txBody>
          <a:bodyPr wrap="square" lIns="0" tIns="0" rIns="0" bIns="0" rtlCol="0" anchor="t"/>
          <a:lstStyle/>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def todos_pares(v):</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for x in v:</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if x % 2 != 0:</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return False   # contraejemplo</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return True            # nunca fallo</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ANTIPATRON: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def todos_pares_mal(v):</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resp = True</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for x in v:</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if x % 2 != 0:</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resp = False</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else:</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resp = True    # pisa lo anterior</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return resp            # decide el ULTIMO</a:t>
            </a:r>
            <a:endParaRPr lang="en-US" sz="1100" dirty="0"/>
          </a:p>
        </p:txBody>
      </p:sp>
      <p:sp>
        <p:nvSpPr>
          <p:cNvPr id="6" name="Shape 4"/>
          <p:cNvSpPr/>
          <p:nvPr/>
        </p:nvSpPr>
        <p:spPr>
          <a:xfrm>
            <a:off x="6278728" y="1444752"/>
            <a:ext cx="5318608" cy="2432304"/>
          </a:xfrm>
          <a:prstGeom prst="roundRect">
            <a:avLst>
              <a:gd name="adj" fmla="val 3008"/>
            </a:avLst>
          </a:prstGeom>
          <a:solidFill>
            <a:srgbClr val="FAEDEB"/>
          </a:solidFill>
          <a:ln w="12700">
            <a:solidFill>
              <a:srgbClr val="EDCFCA"/>
            </a:solidFill>
            <a:prstDash val="solid"/>
          </a:ln>
        </p:spPr>
      </p:sp>
      <p:sp>
        <p:nvSpPr>
          <p:cNvPr id="7" name="Text 5"/>
          <p:cNvSpPr/>
          <p:nvPr/>
        </p:nvSpPr>
        <p:spPr>
          <a:xfrm>
            <a:off x="6553048" y="1645920"/>
            <a:ext cx="4769968" cy="292608"/>
          </a:xfrm>
          <a:prstGeom prst="rect">
            <a:avLst/>
          </a:prstGeom>
          <a:noFill/>
          <a:ln/>
        </p:spPr>
        <p:txBody>
          <a:bodyPr wrap="square" lIns="0" tIns="0" rIns="0" bIns="0" rtlCol="0" anchor="t"/>
          <a:lstStyle/>
          <a:p>
            <a:pPr indent="0" marL="0">
              <a:buNone/>
            </a:pPr>
            <a:r>
              <a:rPr lang="en-US" sz="1500" b="1" dirty="0">
                <a:solidFill>
                  <a:srgbClr val="A8453A"/>
                </a:solidFill>
                <a:latin typeface="Cambria" pitchFamily="34" charset="0"/>
                <a:ea typeface="Cambria" pitchFamily="34" charset="-122"/>
                <a:cs typeface="Cambria" pitchFamily="34" charset="-120"/>
              </a:rPr>
              <a:t>La trampa</a:t>
            </a:r>
            <a:endParaRPr lang="en-US" sz="1500" dirty="0"/>
          </a:p>
        </p:txBody>
      </p:sp>
      <p:sp>
        <p:nvSpPr>
          <p:cNvPr id="8" name="Text 6"/>
          <p:cNvSpPr/>
          <p:nvPr/>
        </p:nvSpPr>
        <p:spPr>
          <a:xfrm>
            <a:off x="6553048" y="2048256"/>
            <a:ext cx="4769968" cy="1682496"/>
          </a:xfrm>
          <a:prstGeom prst="rect">
            <a:avLst/>
          </a:prstGeom>
          <a:noFill/>
          <a:ln/>
        </p:spPr>
        <p:txBody>
          <a:bodyPr wrap="square" lIns="0" tIns="0" rIns="0" bIns="0" rtlCol="0" anchor="t"/>
          <a:lstStyle/>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El antipatrón de la izquierda parece razonable y está mal: el último elemento borra todo lo que averiguaste antes. Salí apenas encontrás el contraejemplo.</a:t>
            </a:r>
            <a:endParaRPr lang="en-US" sz="1250" dirty="0"/>
          </a:p>
          <a:p>
            <a:pPr indent="0" marL="0">
              <a:lnSpc>
                <a:spcPct val="118000"/>
              </a:lnSpc>
              <a:buNone/>
            </a:pPr>
            <a:endParaRPr lang="en-US" sz="1250" dirty="0"/>
          </a:p>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Detalle del template que te dieron: ejercicio21_P1.py inicializa las respuestas en np.inf justamente para que reviente si te olvidás de asignar. Es una red de seguridad, no un valor útil.</a:t>
            </a:r>
            <a:endParaRPr lang="en-US" sz="1250" dirty="0"/>
          </a:p>
        </p:txBody>
      </p:sp>
      <p:sp>
        <p:nvSpPr>
          <p:cNvPr id="9" name="Text 7"/>
          <p:cNvSpPr/>
          <p:nvPr/>
        </p:nvSpPr>
        <p:spPr>
          <a:xfrm>
            <a:off x="6278728" y="4151376"/>
            <a:ext cx="5318608" cy="274320"/>
          </a:xfrm>
          <a:prstGeom prst="rect">
            <a:avLst/>
          </a:prstGeom>
          <a:noFill/>
          <a:ln/>
        </p:spPr>
        <p:txBody>
          <a:bodyPr wrap="square" lIns="0" tIns="0" rIns="0" bIns="0" rtlCol="0" anchor="t"/>
          <a:lstStyle/>
          <a:p>
            <a:pPr indent="0" marL="0">
              <a:buNone/>
            </a:pPr>
            <a:r>
              <a:rPr lang="en-US" sz="1300" b="1" dirty="0">
                <a:solidFill>
                  <a:srgbClr val="16233A"/>
                </a:solidFill>
                <a:latin typeface="Cambria" pitchFamily="34" charset="0"/>
                <a:ea typeface="Cambria" pitchFamily="34" charset="-122"/>
                <a:cs typeface="Cambria" pitchFamily="34" charset="-120"/>
              </a:rPr>
              <a:t>Dónde aparece en el enunciado</a:t>
            </a:r>
            <a:endParaRPr lang="en-US" sz="1300" dirty="0"/>
          </a:p>
        </p:txBody>
      </p:sp>
      <p:sp>
        <p:nvSpPr>
          <p:cNvPr id="10" name="Shape 8"/>
          <p:cNvSpPr/>
          <p:nvPr/>
        </p:nvSpPr>
        <p:spPr>
          <a:xfrm>
            <a:off x="6278728" y="4498848"/>
            <a:ext cx="486461" cy="274320"/>
          </a:xfrm>
          <a:prstGeom prst="roundRect">
            <a:avLst>
              <a:gd name="adj" fmla="val 40000"/>
            </a:avLst>
          </a:prstGeom>
          <a:solidFill>
            <a:srgbClr val="E8F1F3"/>
          </a:solidFill>
          <a:ln w="12700">
            <a:solidFill>
              <a:srgbClr val="E8F1F3"/>
            </a:solidFill>
            <a:prstDash val="solid"/>
          </a:ln>
        </p:spPr>
      </p:sp>
      <p:sp>
        <p:nvSpPr>
          <p:cNvPr id="11" name="Text 9"/>
          <p:cNvSpPr/>
          <p:nvPr/>
        </p:nvSpPr>
        <p:spPr>
          <a:xfrm>
            <a:off x="6278728"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a:t>
            </a:r>
            <a:endParaRPr lang="en-US" sz="1050" dirty="0"/>
          </a:p>
        </p:txBody>
      </p:sp>
      <p:sp>
        <p:nvSpPr>
          <p:cNvPr id="12" name="Shape 10"/>
          <p:cNvSpPr/>
          <p:nvPr/>
        </p:nvSpPr>
        <p:spPr>
          <a:xfrm>
            <a:off x="6865772" y="4498848"/>
            <a:ext cx="486461" cy="274320"/>
          </a:xfrm>
          <a:prstGeom prst="roundRect">
            <a:avLst>
              <a:gd name="adj" fmla="val 40000"/>
            </a:avLst>
          </a:prstGeom>
          <a:solidFill>
            <a:srgbClr val="E8F1F3"/>
          </a:solidFill>
          <a:ln w="12700">
            <a:solidFill>
              <a:srgbClr val="E8F1F3"/>
            </a:solidFill>
            <a:prstDash val="solid"/>
          </a:ln>
        </p:spPr>
      </p:sp>
      <p:sp>
        <p:nvSpPr>
          <p:cNvPr id="13" name="Text 11"/>
          <p:cNvSpPr/>
          <p:nvPr/>
        </p:nvSpPr>
        <p:spPr>
          <a:xfrm>
            <a:off x="6865772"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7</a:t>
            </a:r>
            <a:endParaRPr lang="en-US" sz="1050" dirty="0"/>
          </a:p>
        </p:txBody>
      </p:sp>
      <p:sp>
        <p:nvSpPr>
          <p:cNvPr id="14" name="Shape 12"/>
          <p:cNvSpPr/>
          <p:nvPr/>
        </p:nvSpPr>
        <p:spPr>
          <a:xfrm>
            <a:off x="7452817" y="4498848"/>
            <a:ext cx="562356" cy="274320"/>
          </a:xfrm>
          <a:prstGeom prst="roundRect">
            <a:avLst>
              <a:gd name="adj" fmla="val 40000"/>
            </a:avLst>
          </a:prstGeom>
          <a:solidFill>
            <a:srgbClr val="E8F1F3"/>
          </a:solidFill>
          <a:ln w="12700">
            <a:solidFill>
              <a:srgbClr val="E8F1F3"/>
            </a:solidFill>
            <a:prstDash val="solid"/>
          </a:ln>
        </p:spPr>
      </p:sp>
      <p:sp>
        <p:nvSpPr>
          <p:cNvPr id="15" name="Text 13"/>
          <p:cNvSpPr/>
          <p:nvPr/>
        </p:nvSpPr>
        <p:spPr>
          <a:xfrm>
            <a:off x="7452817"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11</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Patrón D — Modificar in-place vs devolver una copia</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El enunciado lo pide explícitamente en dos ejercicios, y significa algo muy concreto.</a:t>
            </a:r>
            <a:endParaRPr lang="en-US" sz="1300" dirty="0"/>
          </a:p>
        </p:txBody>
      </p:sp>
      <p:sp>
        <p:nvSpPr>
          <p:cNvPr id="4" name="Shape 2"/>
          <p:cNvSpPr/>
          <p:nvPr/>
        </p:nvSpPr>
        <p:spPr>
          <a:xfrm>
            <a:off x="594360" y="1444752"/>
            <a:ext cx="5318608" cy="3278673"/>
          </a:xfrm>
          <a:prstGeom prst="roundRect">
            <a:avLst>
              <a:gd name="adj" fmla="val 1673"/>
            </a:avLst>
          </a:prstGeom>
          <a:solidFill>
            <a:srgbClr val="1B2436"/>
          </a:solidFill>
          <a:ln w="12700">
            <a:solidFill>
              <a:srgbClr val="1B2436"/>
            </a:solidFill>
            <a:prstDash val="solid"/>
          </a:ln>
        </p:spPr>
      </p:sp>
      <p:sp>
        <p:nvSpPr>
          <p:cNvPr id="5" name="Text 3"/>
          <p:cNvSpPr/>
          <p:nvPr/>
        </p:nvSpPr>
        <p:spPr>
          <a:xfrm>
            <a:off x="740664" y="1581912"/>
            <a:ext cx="5026000" cy="3004353"/>
          </a:xfrm>
          <a:prstGeom prst="rect">
            <a:avLst/>
          </a:prstGeom>
          <a:noFill/>
          <a:ln/>
        </p:spPr>
        <p:txBody>
          <a:bodyPr wrap="square" lIns="0" tIns="0" rIns="0" bIns="0" rtlCol="0" anchor="t"/>
          <a:lstStyle/>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def si_modifica(A):</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A[0, 0] = 99      # toca el array</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A[1, :] = A[2, :] # tambien</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def NO_modifica(A):</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A = A + 1         # nombre local nuevo</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A = np.array(...) # idem: el de afuera</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 no se entera</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el test de un in-place mira la MUTACION,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no el valor de retorno:</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f(A);  assert A[i, j] == esperado</a:t>
            </a:r>
            <a:endParaRPr lang="en-US" sz="1100" dirty="0"/>
          </a:p>
        </p:txBody>
      </p:sp>
      <p:sp>
        <p:nvSpPr>
          <p:cNvPr id="6" name="Shape 4"/>
          <p:cNvSpPr/>
          <p:nvPr/>
        </p:nvSpPr>
        <p:spPr>
          <a:xfrm>
            <a:off x="6278728" y="1444752"/>
            <a:ext cx="5318608" cy="2432304"/>
          </a:xfrm>
          <a:prstGeom prst="roundRect">
            <a:avLst>
              <a:gd name="adj" fmla="val 3008"/>
            </a:avLst>
          </a:prstGeom>
          <a:solidFill>
            <a:srgbClr val="FAEDEB"/>
          </a:solidFill>
          <a:ln w="12700">
            <a:solidFill>
              <a:srgbClr val="EDCFCA"/>
            </a:solidFill>
            <a:prstDash val="solid"/>
          </a:ln>
        </p:spPr>
      </p:sp>
      <p:sp>
        <p:nvSpPr>
          <p:cNvPr id="7" name="Text 5"/>
          <p:cNvSpPr/>
          <p:nvPr/>
        </p:nvSpPr>
        <p:spPr>
          <a:xfrm>
            <a:off x="6553048" y="1645920"/>
            <a:ext cx="4769968" cy="292608"/>
          </a:xfrm>
          <a:prstGeom prst="rect">
            <a:avLst/>
          </a:prstGeom>
          <a:noFill/>
          <a:ln/>
        </p:spPr>
        <p:txBody>
          <a:bodyPr wrap="square" lIns="0" tIns="0" rIns="0" bIns="0" rtlCol="0" anchor="t"/>
          <a:lstStyle/>
          <a:p>
            <a:pPr indent="0" marL="0">
              <a:buNone/>
            </a:pPr>
            <a:r>
              <a:rPr lang="en-US" sz="1500" b="1" dirty="0">
                <a:solidFill>
                  <a:srgbClr val="A8453A"/>
                </a:solidFill>
                <a:latin typeface="Cambria" pitchFamily="34" charset="0"/>
                <a:ea typeface="Cambria" pitchFamily="34" charset="-122"/>
                <a:cs typeface="Cambria" pitchFamily="34" charset="-120"/>
              </a:rPr>
              <a:t>La trampa</a:t>
            </a:r>
            <a:endParaRPr lang="en-US" sz="1500" dirty="0"/>
          </a:p>
        </p:txBody>
      </p:sp>
      <p:sp>
        <p:nvSpPr>
          <p:cNvPr id="8" name="Text 6"/>
          <p:cNvSpPr/>
          <p:nvPr/>
        </p:nvSpPr>
        <p:spPr>
          <a:xfrm>
            <a:off x="6553048" y="2048256"/>
            <a:ext cx="4769968" cy="1682496"/>
          </a:xfrm>
          <a:prstGeom prst="rect">
            <a:avLst/>
          </a:prstGeom>
          <a:noFill/>
          <a:ln/>
        </p:spPr>
        <p:txBody>
          <a:bodyPr wrap="square" lIns="0" tIns="0" rIns="0" bIns="0" rtlCol="0" anchor="t"/>
          <a:lstStyle/>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Asignarle algo al parámetro A adentro de la función no modifica el array de quien la llamó: solo reapunta el nombre local. Para modificar de verdad tenés que escribir en posiciones: A[i, j] = ... o A[i, :] = ...</a:t>
            </a:r>
            <a:endParaRPr lang="en-US" sz="1250" dirty="0"/>
          </a:p>
          <a:p>
            <a:pPr indent="0" marL="0">
              <a:lnSpc>
                <a:spcPct val="118000"/>
              </a:lnSpc>
              <a:buNone/>
            </a:pPr>
            <a:endParaRPr lang="en-US" sz="1250" dirty="0"/>
          </a:p>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Y acordate del slide de vistas: en el Ejercicio 9 el problema no es la lógica del intercambio, es de dónde salen los datos de tu variable temporal.</a:t>
            </a:r>
            <a:endParaRPr lang="en-US" sz="1250" dirty="0"/>
          </a:p>
        </p:txBody>
      </p:sp>
      <p:sp>
        <p:nvSpPr>
          <p:cNvPr id="9" name="Text 7"/>
          <p:cNvSpPr/>
          <p:nvPr/>
        </p:nvSpPr>
        <p:spPr>
          <a:xfrm>
            <a:off x="6278728" y="4151376"/>
            <a:ext cx="5318608" cy="274320"/>
          </a:xfrm>
          <a:prstGeom prst="rect">
            <a:avLst/>
          </a:prstGeom>
          <a:noFill/>
          <a:ln/>
        </p:spPr>
        <p:txBody>
          <a:bodyPr wrap="square" lIns="0" tIns="0" rIns="0" bIns="0" rtlCol="0" anchor="t"/>
          <a:lstStyle/>
          <a:p>
            <a:pPr indent="0" marL="0">
              <a:buNone/>
            </a:pPr>
            <a:r>
              <a:rPr lang="en-US" sz="1300" b="1" dirty="0">
                <a:solidFill>
                  <a:srgbClr val="16233A"/>
                </a:solidFill>
                <a:latin typeface="Cambria" pitchFamily="34" charset="0"/>
                <a:ea typeface="Cambria" pitchFamily="34" charset="-122"/>
                <a:cs typeface="Cambria" pitchFamily="34" charset="-120"/>
              </a:rPr>
              <a:t>Dónde aparece en el enunciado</a:t>
            </a:r>
            <a:endParaRPr lang="en-US" sz="1300" dirty="0"/>
          </a:p>
        </p:txBody>
      </p:sp>
      <p:sp>
        <p:nvSpPr>
          <p:cNvPr id="10" name="Shape 8"/>
          <p:cNvSpPr/>
          <p:nvPr/>
        </p:nvSpPr>
        <p:spPr>
          <a:xfrm>
            <a:off x="6278728" y="4498848"/>
            <a:ext cx="486461" cy="274320"/>
          </a:xfrm>
          <a:prstGeom prst="roundRect">
            <a:avLst>
              <a:gd name="adj" fmla="val 40000"/>
            </a:avLst>
          </a:prstGeom>
          <a:solidFill>
            <a:srgbClr val="E8F1F3"/>
          </a:solidFill>
          <a:ln w="12700">
            <a:solidFill>
              <a:srgbClr val="E8F1F3"/>
            </a:solidFill>
            <a:prstDash val="solid"/>
          </a:ln>
        </p:spPr>
      </p:sp>
      <p:sp>
        <p:nvSpPr>
          <p:cNvPr id="11" name="Text 9"/>
          <p:cNvSpPr/>
          <p:nvPr/>
        </p:nvSpPr>
        <p:spPr>
          <a:xfrm>
            <a:off x="6278728"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9</a:t>
            </a:r>
            <a:endParaRPr lang="en-US" sz="1050" dirty="0"/>
          </a:p>
        </p:txBody>
      </p:sp>
      <p:sp>
        <p:nvSpPr>
          <p:cNvPr id="12" name="Shape 10"/>
          <p:cNvSpPr/>
          <p:nvPr/>
        </p:nvSpPr>
        <p:spPr>
          <a:xfrm>
            <a:off x="6865772" y="4498848"/>
            <a:ext cx="562356" cy="274320"/>
          </a:xfrm>
          <a:prstGeom prst="roundRect">
            <a:avLst>
              <a:gd name="adj" fmla="val 40000"/>
            </a:avLst>
          </a:prstGeom>
          <a:solidFill>
            <a:srgbClr val="E8F1F3"/>
          </a:solidFill>
          <a:ln w="12700">
            <a:solidFill>
              <a:srgbClr val="E8F1F3"/>
            </a:solidFill>
            <a:prstDash val="solid"/>
          </a:ln>
        </p:spPr>
      </p:sp>
      <p:sp>
        <p:nvSpPr>
          <p:cNvPr id="13" name="Text 11"/>
          <p:cNvSpPr/>
          <p:nvPr/>
        </p:nvSpPr>
        <p:spPr>
          <a:xfrm>
            <a:off x="6865772"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10</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Patrón E — Acumular</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Sumas, productos y conteos. El molde más simple, y el que más se repite.</a:t>
            </a:r>
            <a:endParaRPr lang="en-US" sz="1300" dirty="0"/>
          </a:p>
        </p:txBody>
      </p:sp>
      <p:sp>
        <p:nvSpPr>
          <p:cNvPr id="4" name="Shape 2"/>
          <p:cNvSpPr/>
          <p:nvPr/>
        </p:nvSpPr>
        <p:spPr>
          <a:xfrm>
            <a:off x="594360" y="1444752"/>
            <a:ext cx="5318608" cy="3529035"/>
          </a:xfrm>
          <a:prstGeom prst="roundRect">
            <a:avLst>
              <a:gd name="adj" fmla="val 1555"/>
            </a:avLst>
          </a:prstGeom>
          <a:solidFill>
            <a:srgbClr val="1B2436"/>
          </a:solidFill>
          <a:ln w="12700">
            <a:solidFill>
              <a:srgbClr val="1B2436"/>
            </a:solidFill>
            <a:prstDash val="solid"/>
          </a:ln>
        </p:spPr>
      </p:sp>
      <p:sp>
        <p:nvSpPr>
          <p:cNvPr id="5" name="Text 3"/>
          <p:cNvSpPr/>
          <p:nvPr/>
        </p:nvSpPr>
        <p:spPr>
          <a:xfrm>
            <a:off x="740664" y="1581912"/>
            <a:ext cx="5026000" cy="3254715"/>
          </a:xfrm>
          <a:prstGeom prst="rect">
            <a:avLst/>
          </a:prstGeom>
          <a:noFill/>
          <a:ln/>
        </p:spPr>
        <p:txBody>
          <a:bodyPr wrap="square" lIns="0" tIns="0" rIns="0" bIns="0" rtlCol="0" anchor="t"/>
          <a:lstStyle/>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acc = 0            # 0 para sumas</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for i in range(n):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acc += algo(i)</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return acc</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prod = 1           # 1 para productos</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for i in range(n):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prod *= algo(i)</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suma de una fila, sin np.sum:</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s = 0</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for j in range(m):</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s += A[i, j]</a:t>
            </a:r>
            <a:endParaRPr lang="en-US" sz="1100" dirty="0"/>
          </a:p>
        </p:txBody>
      </p:sp>
      <p:sp>
        <p:nvSpPr>
          <p:cNvPr id="6" name="Shape 4"/>
          <p:cNvSpPr/>
          <p:nvPr/>
        </p:nvSpPr>
        <p:spPr>
          <a:xfrm>
            <a:off x="6278728" y="1444752"/>
            <a:ext cx="5318608" cy="2432304"/>
          </a:xfrm>
          <a:prstGeom prst="roundRect">
            <a:avLst>
              <a:gd name="adj" fmla="val 3008"/>
            </a:avLst>
          </a:prstGeom>
          <a:solidFill>
            <a:srgbClr val="FAEDEB"/>
          </a:solidFill>
          <a:ln w="12700">
            <a:solidFill>
              <a:srgbClr val="EDCFCA"/>
            </a:solidFill>
            <a:prstDash val="solid"/>
          </a:ln>
        </p:spPr>
      </p:sp>
      <p:sp>
        <p:nvSpPr>
          <p:cNvPr id="7" name="Text 5"/>
          <p:cNvSpPr/>
          <p:nvPr/>
        </p:nvSpPr>
        <p:spPr>
          <a:xfrm>
            <a:off x="6553048" y="1645920"/>
            <a:ext cx="4769968" cy="292608"/>
          </a:xfrm>
          <a:prstGeom prst="rect">
            <a:avLst/>
          </a:prstGeom>
          <a:noFill/>
          <a:ln/>
        </p:spPr>
        <p:txBody>
          <a:bodyPr wrap="square" lIns="0" tIns="0" rIns="0" bIns="0" rtlCol="0" anchor="t"/>
          <a:lstStyle/>
          <a:p>
            <a:pPr indent="0" marL="0">
              <a:buNone/>
            </a:pPr>
            <a:r>
              <a:rPr lang="en-US" sz="1500" b="1" dirty="0">
                <a:solidFill>
                  <a:srgbClr val="A8453A"/>
                </a:solidFill>
                <a:latin typeface="Cambria" pitchFamily="34" charset="0"/>
                <a:ea typeface="Cambria" pitchFamily="34" charset="-122"/>
                <a:cs typeface="Cambria" pitchFamily="34" charset="-120"/>
              </a:rPr>
              <a:t>La trampa</a:t>
            </a:r>
            <a:endParaRPr lang="en-US" sz="1500" dirty="0"/>
          </a:p>
        </p:txBody>
      </p:sp>
      <p:sp>
        <p:nvSpPr>
          <p:cNvPr id="8" name="Text 6"/>
          <p:cNvSpPr/>
          <p:nvPr/>
        </p:nvSpPr>
        <p:spPr>
          <a:xfrm>
            <a:off x="6553048" y="2048256"/>
            <a:ext cx="4769968" cy="1682496"/>
          </a:xfrm>
          <a:prstGeom prst="rect">
            <a:avLst/>
          </a:prstGeom>
          <a:noFill/>
          <a:ln/>
        </p:spPr>
        <p:txBody>
          <a:bodyPr wrap="square" lIns="0" tIns="0" rIns="0" bIns="0" rtlCol="0" anchor="t"/>
          <a:lstStyle/>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El tipo del acumulador manda. Si arrancás en 0 (entero) y vas sumando floats, Python resuelve bien; pero si el acumulador es un elemento de un array de enteros, te trunca.</a:t>
            </a:r>
            <a:endParaRPr lang="en-US" sz="1250" dirty="0"/>
          </a:p>
          <a:p>
            <a:pPr indent="0" marL="0">
              <a:lnSpc>
                <a:spcPct val="118000"/>
              </a:lnSpc>
              <a:buNone/>
            </a:pPr>
            <a:endParaRPr lang="en-US" sz="1250" dirty="0"/>
          </a:p>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Cuando el resultado puede tener decimales, inicializá en 0.0. Cuesta un carácter y te ahorra un test que falla por 0.9999999.</a:t>
            </a:r>
            <a:endParaRPr lang="en-US" sz="1250" dirty="0"/>
          </a:p>
        </p:txBody>
      </p:sp>
      <p:sp>
        <p:nvSpPr>
          <p:cNvPr id="9" name="Text 7"/>
          <p:cNvSpPr/>
          <p:nvPr/>
        </p:nvSpPr>
        <p:spPr>
          <a:xfrm>
            <a:off x="6278728" y="4151376"/>
            <a:ext cx="5318608" cy="274320"/>
          </a:xfrm>
          <a:prstGeom prst="rect">
            <a:avLst/>
          </a:prstGeom>
          <a:noFill/>
          <a:ln/>
        </p:spPr>
        <p:txBody>
          <a:bodyPr wrap="square" lIns="0" tIns="0" rIns="0" bIns="0" rtlCol="0" anchor="t"/>
          <a:lstStyle/>
          <a:p>
            <a:pPr indent="0" marL="0">
              <a:buNone/>
            </a:pPr>
            <a:r>
              <a:rPr lang="en-US" sz="1300" b="1" dirty="0">
                <a:solidFill>
                  <a:srgbClr val="16233A"/>
                </a:solidFill>
                <a:latin typeface="Cambria" pitchFamily="34" charset="0"/>
                <a:ea typeface="Cambria" pitchFamily="34" charset="-122"/>
                <a:cs typeface="Cambria" pitchFamily="34" charset="-120"/>
              </a:rPr>
              <a:t>Dónde aparece en el enunciado</a:t>
            </a:r>
            <a:endParaRPr lang="en-US" sz="1300" dirty="0"/>
          </a:p>
        </p:txBody>
      </p:sp>
      <p:sp>
        <p:nvSpPr>
          <p:cNvPr id="10" name="Shape 8"/>
          <p:cNvSpPr/>
          <p:nvPr/>
        </p:nvSpPr>
        <p:spPr>
          <a:xfrm>
            <a:off x="6278728" y="4498848"/>
            <a:ext cx="486461" cy="274320"/>
          </a:xfrm>
          <a:prstGeom prst="roundRect">
            <a:avLst>
              <a:gd name="adj" fmla="val 40000"/>
            </a:avLst>
          </a:prstGeom>
          <a:solidFill>
            <a:srgbClr val="E8F1F3"/>
          </a:solidFill>
          <a:ln w="12700">
            <a:solidFill>
              <a:srgbClr val="E8F1F3"/>
            </a:solidFill>
            <a:prstDash val="solid"/>
          </a:ln>
        </p:spPr>
      </p:sp>
      <p:sp>
        <p:nvSpPr>
          <p:cNvPr id="11" name="Text 9"/>
          <p:cNvSpPr/>
          <p:nvPr/>
        </p:nvSpPr>
        <p:spPr>
          <a:xfrm>
            <a:off x="6278728"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5</a:t>
            </a:r>
            <a:endParaRPr lang="en-US" sz="1050" dirty="0"/>
          </a:p>
        </p:txBody>
      </p:sp>
      <p:sp>
        <p:nvSpPr>
          <p:cNvPr id="12" name="Shape 10"/>
          <p:cNvSpPr/>
          <p:nvPr/>
        </p:nvSpPr>
        <p:spPr>
          <a:xfrm>
            <a:off x="6865772" y="4498848"/>
            <a:ext cx="486461" cy="274320"/>
          </a:xfrm>
          <a:prstGeom prst="roundRect">
            <a:avLst>
              <a:gd name="adj" fmla="val 40000"/>
            </a:avLst>
          </a:prstGeom>
          <a:solidFill>
            <a:srgbClr val="E8F1F3"/>
          </a:solidFill>
          <a:ln w="12700">
            <a:solidFill>
              <a:srgbClr val="E8F1F3"/>
            </a:solidFill>
            <a:prstDash val="solid"/>
          </a:ln>
        </p:spPr>
      </p:sp>
      <p:sp>
        <p:nvSpPr>
          <p:cNvPr id="13" name="Text 11"/>
          <p:cNvSpPr/>
          <p:nvPr/>
        </p:nvSpPr>
        <p:spPr>
          <a:xfrm>
            <a:off x="6865772" y="4498848"/>
            <a:ext cx="486461"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8</a:t>
            </a:r>
            <a:endParaRPr lang="en-US" sz="1050" dirty="0"/>
          </a:p>
        </p:txBody>
      </p:sp>
      <p:sp>
        <p:nvSpPr>
          <p:cNvPr id="14" name="Shape 12"/>
          <p:cNvSpPr/>
          <p:nvPr/>
        </p:nvSpPr>
        <p:spPr>
          <a:xfrm>
            <a:off x="7452817" y="4498848"/>
            <a:ext cx="562356" cy="274320"/>
          </a:xfrm>
          <a:prstGeom prst="roundRect">
            <a:avLst>
              <a:gd name="adj" fmla="val 40000"/>
            </a:avLst>
          </a:prstGeom>
          <a:solidFill>
            <a:srgbClr val="E8F1F3"/>
          </a:solidFill>
          <a:ln w="12700">
            <a:solidFill>
              <a:srgbClr val="E8F1F3"/>
            </a:solidFill>
            <a:prstDash val="solid"/>
          </a:ln>
        </p:spPr>
      </p:sp>
      <p:sp>
        <p:nvSpPr>
          <p:cNvPr id="15" name="Text 13"/>
          <p:cNvSpPr/>
          <p:nvPr/>
        </p:nvSpPr>
        <p:spPr>
          <a:xfrm>
            <a:off x="7452817"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11</a:t>
            </a:r>
            <a:endParaRPr lang="en-US" sz="1050" dirty="0"/>
          </a:p>
        </p:txBody>
      </p:sp>
      <p:sp>
        <p:nvSpPr>
          <p:cNvPr id="16" name="Shape 14"/>
          <p:cNvSpPr/>
          <p:nvPr/>
        </p:nvSpPr>
        <p:spPr>
          <a:xfrm>
            <a:off x="8115757" y="4498848"/>
            <a:ext cx="562356" cy="274320"/>
          </a:xfrm>
          <a:prstGeom prst="roundRect">
            <a:avLst>
              <a:gd name="adj" fmla="val 40000"/>
            </a:avLst>
          </a:prstGeom>
          <a:solidFill>
            <a:srgbClr val="E8F1F3"/>
          </a:solidFill>
          <a:ln w="12700">
            <a:solidFill>
              <a:srgbClr val="E8F1F3"/>
            </a:solidFill>
            <a:prstDash val="solid"/>
          </a:ln>
        </p:spPr>
      </p:sp>
      <p:sp>
        <p:nvSpPr>
          <p:cNvPr id="17" name="Text 15"/>
          <p:cNvSpPr/>
          <p:nvPr/>
        </p:nvSpPr>
        <p:spPr>
          <a:xfrm>
            <a:off x="8115757"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17</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Patrón F — Fórmula del índice, o recurrencia</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Las matrices generadas del enunciado se dividen en dos familias, y se atacan distinto.</a:t>
            </a:r>
            <a:endParaRPr lang="en-US" sz="1300" dirty="0"/>
          </a:p>
        </p:txBody>
      </p:sp>
      <p:sp>
        <p:nvSpPr>
          <p:cNvPr id="4" name="Shape 2"/>
          <p:cNvSpPr/>
          <p:nvPr/>
        </p:nvSpPr>
        <p:spPr>
          <a:xfrm>
            <a:off x="594360" y="1444752"/>
            <a:ext cx="5318608" cy="3779398"/>
          </a:xfrm>
          <a:prstGeom prst="roundRect">
            <a:avLst>
              <a:gd name="adj" fmla="val 1452"/>
            </a:avLst>
          </a:prstGeom>
          <a:solidFill>
            <a:srgbClr val="1B2436"/>
          </a:solidFill>
          <a:ln w="12700">
            <a:solidFill>
              <a:srgbClr val="1B2436"/>
            </a:solidFill>
            <a:prstDash val="solid"/>
          </a:ln>
        </p:spPr>
      </p:sp>
      <p:sp>
        <p:nvSpPr>
          <p:cNvPr id="5" name="Text 3"/>
          <p:cNvSpPr/>
          <p:nvPr/>
        </p:nvSpPr>
        <p:spPr>
          <a:xfrm>
            <a:off x="740664" y="1581912"/>
            <a:ext cx="5026000" cy="3505078"/>
          </a:xfrm>
          <a:prstGeom prst="rect">
            <a:avLst/>
          </a:prstGeom>
          <a:noFill/>
          <a:ln/>
        </p:spPr>
        <p:txBody>
          <a:bodyPr wrap="square" lIns="0" tIns="0" rIns="0" bIns="0" rtlCol="0" anchor="t"/>
          <a:lstStyle/>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(a) FORMULA: a_ij depende solo de i y j</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for i in range(n):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for j in range(n):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fila.append( f(i, j) )</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(b) RECURRENCIA: cada paso usa el anterior</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actual = semilla</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for k in range(n):</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guardar(actual)</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actual = siguiente(actual)</a:t>
            </a:r>
            <a:endParaRPr lang="en-US" sz="1100" dirty="0"/>
          </a:p>
          <a:p>
            <a:pPr indent="0" marL="0">
              <a:lnSpc>
                <a:spcPct val="110000"/>
              </a:lnSpc>
              <a:buNone/>
            </a:pP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regla: si podes escribir a_ij como formula</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cerrada, usa (a). Es mas corto y mas facil</a:t>
            </a:r>
            <a:endParaRPr lang="en-US" sz="1100" dirty="0"/>
          </a:p>
          <a:p>
            <a:pPr indent="0" marL="0">
              <a:lnSpc>
                <a:spcPct val="110000"/>
              </a:lnSpc>
              <a:buNone/>
            </a:pPr>
            <a:r>
              <a:rPr lang="en-US" sz="1100" dirty="0">
                <a:solidFill>
                  <a:srgbClr val="E6ECF5"/>
                </a:solidFill>
                <a:latin typeface="Courier New" pitchFamily="34" charset="0"/>
                <a:ea typeface="Courier New" pitchFamily="34" charset="-122"/>
                <a:cs typeface="Courier New" pitchFamily="34" charset="-120"/>
              </a:rPr>
              <a:t># de testear celda por celda.</a:t>
            </a:r>
            <a:endParaRPr lang="en-US" sz="1100" dirty="0"/>
          </a:p>
        </p:txBody>
      </p:sp>
      <p:sp>
        <p:nvSpPr>
          <p:cNvPr id="6" name="Shape 4"/>
          <p:cNvSpPr/>
          <p:nvPr/>
        </p:nvSpPr>
        <p:spPr>
          <a:xfrm>
            <a:off x="6278728" y="1444752"/>
            <a:ext cx="5318608" cy="2432304"/>
          </a:xfrm>
          <a:prstGeom prst="roundRect">
            <a:avLst>
              <a:gd name="adj" fmla="val 3008"/>
            </a:avLst>
          </a:prstGeom>
          <a:solidFill>
            <a:srgbClr val="FAEDEB"/>
          </a:solidFill>
          <a:ln w="12700">
            <a:solidFill>
              <a:srgbClr val="EDCFCA"/>
            </a:solidFill>
            <a:prstDash val="solid"/>
          </a:ln>
        </p:spPr>
      </p:sp>
      <p:sp>
        <p:nvSpPr>
          <p:cNvPr id="7" name="Text 5"/>
          <p:cNvSpPr/>
          <p:nvPr/>
        </p:nvSpPr>
        <p:spPr>
          <a:xfrm>
            <a:off x="6553048" y="1645920"/>
            <a:ext cx="4769968" cy="292608"/>
          </a:xfrm>
          <a:prstGeom prst="rect">
            <a:avLst/>
          </a:prstGeom>
          <a:noFill/>
          <a:ln/>
        </p:spPr>
        <p:txBody>
          <a:bodyPr wrap="square" lIns="0" tIns="0" rIns="0" bIns="0" rtlCol="0" anchor="t"/>
          <a:lstStyle/>
          <a:p>
            <a:pPr indent="0" marL="0">
              <a:buNone/>
            </a:pPr>
            <a:r>
              <a:rPr lang="en-US" sz="1500" b="1" dirty="0">
                <a:solidFill>
                  <a:srgbClr val="A8453A"/>
                </a:solidFill>
                <a:latin typeface="Cambria" pitchFamily="34" charset="0"/>
                <a:ea typeface="Cambria" pitchFamily="34" charset="-122"/>
                <a:cs typeface="Cambria" pitchFamily="34" charset="-120"/>
              </a:rPr>
              <a:t>La trampa</a:t>
            </a:r>
            <a:endParaRPr lang="en-US" sz="1500" dirty="0"/>
          </a:p>
        </p:txBody>
      </p:sp>
      <p:sp>
        <p:nvSpPr>
          <p:cNvPr id="8" name="Text 6"/>
          <p:cNvSpPr/>
          <p:nvPr/>
        </p:nvSpPr>
        <p:spPr>
          <a:xfrm>
            <a:off x="6553048" y="2048256"/>
            <a:ext cx="4769968" cy="1682496"/>
          </a:xfrm>
          <a:prstGeom prst="rect">
            <a:avLst/>
          </a:prstGeom>
          <a:noFill/>
          <a:ln/>
        </p:spPr>
        <p:txBody>
          <a:bodyPr wrap="square" lIns="0" tIns="0" rIns="0" bIns="0" rtlCol="0" anchor="t"/>
          <a:lstStyle/>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El desfasaje de índices. El enunciado numera desde 1 («la fila i-ésima», «la potencia (i−1)-ésima») y Python desde 0.</a:t>
            </a:r>
            <a:endParaRPr lang="en-US" sz="1250" dirty="0"/>
          </a:p>
          <a:p>
            <a:pPr indent="0" marL="0">
              <a:lnSpc>
                <a:spcPct val="118000"/>
              </a:lnSpc>
              <a:buNone/>
            </a:pPr>
            <a:endParaRPr lang="en-US" sz="1250" dirty="0"/>
          </a:p>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Antes de escribir una línea, dibujá en papel la matriz 3×3 que esperás y anotá el valor de cada celda. Después codeás para que dé eso. Si intentás resolver el offset mentalmente mientras programás, vas a perder más tiempo del que creés.</a:t>
            </a:r>
            <a:endParaRPr lang="en-US" sz="1250" dirty="0"/>
          </a:p>
        </p:txBody>
      </p:sp>
      <p:sp>
        <p:nvSpPr>
          <p:cNvPr id="9" name="Text 7"/>
          <p:cNvSpPr/>
          <p:nvPr/>
        </p:nvSpPr>
        <p:spPr>
          <a:xfrm>
            <a:off x="6278728" y="4151376"/>
            <a:ext cx="5318608" cy="274320"/>
          </a:xfrm>
          <a:prstGeom prst="rect">
            <a:avLst/>
          </a:prstGeom>
          <a:noFill/>
          <a:ln/>
        </p:spPr>
        <p:txBody>
          <a:bodyPr wrap="square" lIns="0" tIns="0" rIns="0" bIns="0" rtlCol="0" anchor="t"/>
          <a:lstStyle/>
          <a:p>
            <a:pPr indent="0" marL="0">
              <a:buNone/>
            </a:pPr>
            <a:r>
              <a:rPr lang="en-US" sz="1300" b="1" dirty="0">
                <a:solidFill>
                  <a:srgbClr val="16233A"/>
                </a:solidFill>
                <a:latin typeface="Cambria" pitchFamily="34" charset="0"/>
                <a:ea typeface="Cambria" pitchFamily="34" charset="-122"/>
                <a:cs typeface="Cambria" pitchFamily="34" charset="-120"/>
              </a:rPr>
              <a:t>Dónde aparece en el enunciado</a:t>
            </a:r>
            <a:endParaRPr lang="en-US" sz="1300" dirty="0"/>
          </a:p>
        </p:txBody>
      </p:sp>
      <p:sp>
        <p:nvSpPr>
          <p:cNvPr id="10" name="Shape 8"/>
          <p:cNvSpPr/>
          <p:nvPr/>
        </p:nvSpPr>
        <p:spPr>
          <a:xfrm>
            <a:off x="6278728" y="4498848"/>
            <a:ext cx="562356" cy="274320"/>
          </a:xfrm>
          <a:prstGeom prst="roundRect">
            <a:avLst>
              <a:gd name="adj" fmla="val 40000"/>
            </a:avLst>
          </a:prstGeom>
          <a:solidFill>
            <a:srgbClr val="E8F1F3"/>
          </a:solidFill>
          <a:ln w="12700">
            <a:solidFill>
              <a:srgbClr val="E8F1F3"/>
            </a:solidFill>
            <a:prstDash val="solid"/>
          </a:ln>
        </p:spPr>
      </p:sp>
      <p:sp>
        <p:nvSpPr>
          <p:cNvPr id="11" name="Text 9"/>
          <p:cNvSpPr/>
          <p:nvPr/>
        </p:nvSpPr>
        <p:spPr>
          <a:xfrm>
            <a:off x="6278728"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12</a:t>
            </a:r>
            <a:endParaRPr lang="en-US" sz="1050" dirty="0"/>
          </a:p>
        </p:txBody>
      </p:sp>
      <p:sp>
        <p:nvSpPr>
          <p:cNvPr id="12" name="Shape 10"/>
          <p:cNvSpPr/>
          <p:nvPr/>
        </p:nvSpPr>
        <p:spPr>
          <a:xfrm>
            <a:off x="6941668" y="4498848"/>
            <a:ext cx="562356" cy="274320"/>
          </a:xfrm>
          <a:prstGeom prst="roundRect">
            <a:avLst>
              <a:gd name="adj" fmla="val 40000"/>
            </a:avLst>
          </a:prstGeom>
          <a:solidFill>
            <a:srgbClr val="E8F1F3"/>
          </a:solidFill>
          <a:ln w="12700">
            <a:solidFill>
              <a:srgbClr val="E8F1F3"/>
            </a:solidFill>
            <a:prstDash val="solid"/>
          </a:ln>
        </p:spPr>
      </p:sp>
      <p:sp>
        <p:nvSpPr>
          <p:cNvPr id="13" name="Text 11"/>
          <p:cNvSpPr/>
          <p:nvPr/>
        </p:nvSpPr>
        <p:spPr>
          <a:xfrm>
            <a:off x="6941668"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13</a:t>
            </a:r>
            <a:endParaRPr lang="en-US" sz="1050" dirty="0"/>
          </a:p>
        </p:txBody>
      </p:sp>
      <p:sp>
        <p:nvSpPr>
          <p:cNvPr id="14" name="Shape 12"/>
          <p:cNvSpPr/>
          <p:nvPr/>
        </p:nvSpPr>
        <p:spPr>
          <a:xfrm>
            <a:off x="7604608" y="4498848"/>
            <a:ext cx="562356" cy="274320"/>
          </a:xfrm>
          <a:prstGeom prst="roundRect">
            <a:avLst>
              <a:gd name="adj" fmla="val 40000"/>
            </a:avLst>
          </a:prstGeom>
          <a:solidFill>
            <a:srgbClr val="E8F1F3"/>
          </a:solidFill>
          <a:ln w="12700">
            <a:solidFill>
              <a:srgbClr val="E8F1F3"/>
            </a:solidFill>
            <a:prstDash val="solid"/>
          </a:ln>
        </p:spPr>
      </p:sp>
      <p:sp>
        <p:nvSpPr>
          <p:cNvPr id="15" name="Text 13"/>
          <p:cNvSpPr/>
          <p:nvPr/>
        </p:nvSpPr>
        <p:spPr>
          <a:xfrm>
            <a:off x="7604608"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14</a:t>
            </a:r>
            <a:endParaRPr lang="en-US" sz="1050" dirty="0"/>
          </a:p>
        </p:txBody>
      </p:sp>
      <p:sp>
        <p:nvSpPr>
          <p:cNvPr id="16" name="Shape 14"/>
          <p:cNvSpPr/>
          <p:nvPr/>
        </p:nvSpPr>
        <p:spPr>
          <a:xfrm>
            <a:off x="8267548" y="4498848"/>
            <a:ext cx="562356" cy="274320"/>
          </a:xfrm>
          <a:prstGeom prst="roundRect">
            <a:avLst>
              <a:gd name="adj" fmla="val 40000"/>
            </a:avLst>
          </a:prstGeom>
          <a:solidFill>
            <a:srgbClr val="E8F1F3"/>
          </a:solidFill>
          <a:ln w="12700">
            <a:solidFill>
              <a:srgbClr val="E8F1F3"/>
            </a:solidFill>
            <a:prstDash val="solid"/>
          </a:ln>
        </p:spPr>
      </p:sp>
      <p:sp>
        <p:nvSpPr>
          <p:cNvPr id="17" name="Text 15"/>
          <p:cNvSpPr/>
          <p:nvPr/>
        </p:nvSpPr>
        <p:spPr>
          <a:xfrm>
            <a:off x="8267548"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15</a:t>
            </a:r>
            <a:endParaRPr lang="en-US" sz="1050" dirty="0"/>
          </a:p>
        </p:txBody>
      </p:sp>
      <p:sp>
        <p:nvSpPr>
          <p:cNvPr id="18" name="Shape 16"/>
          <p:cNvSpPr/>
          <p:nvPr/>
        </p:nvSpPr>
        <p:spPr>
          <a:xfrm>
            <a:off x="8930488" y="4498848"/>
            <a:ext cx="562356" cy="274320"/>
          </a:xfrm>
          <a:prstGeom prst="roundRect">
            <a:avLst>
              <a:gd name="adj" fmla="val 40000"/>
            </a:avLst>
          </a:prstGeom>
          <a:solidFill>
            <a:srgbClr val="E8F1F3"/>
          </a:solidFill>
          <a:ln w="12700">
            <a:solidFill>
              <a:srgbClr val="E8F1F3"/>
            </a:solidFill>
            <a:prstDash val="solid"/>
          </a:ln>
        </p:spPr>
      </p:sp>
      <p:sp>
        <p:nvSpPr>
          <p:cNvPr id="19" name="Text 17"/>
          <p:cNvSpPr/>
          <p:nvPr/>
        </p:nvSpPr>
        <p:spPr>
          <a:xfrm>
            <a:off x="8930488" y="4498848"/>
            <a:ext cx="562356" cy="274320"/>
          </a:xfrm>
          <a:prstGeom prst="rect">
            <a:avLst/>
          </a:prstGeom>
          <a:noFill/>
          <a:ln/>
        </p:spPr>
        <p:txBody>
          <a:bodyPr wrap="square" lIns="0" tIns="0" rIns="0" bIns="0" rtlCol="0" anchor="ctr"/>
          <a:lstStyle/>
          <a:p>
            <a:pPr algn="ctr" indent="0" marL="0">
              <a:buNone/>
            </a:pPr>
            <a:r>
              <a:rPr lang="en-US" sz="1050" b="1" dirty="0">
                <a:solidFill>
                  <a:srgbClr val="2E7D8F"/>
                </a:solidFill>
                <a:latin typeface="Calibri" pitchFamily="34" charset="0"/>
                <a:ea typeface="Calibri" pitchFamily="34" charset="-122"/>
                <a:cs typeface="Calibri" pitchFamily="34" charset="-120"/>
              </a:rPr>
              <a:t>Ej 16</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523"/>
        </a:solidFill>
      </p:bgPr>
    </p:bg>
    <p:spTree>
      <p:nvGrpSpPr>
        <p:cNvPr id="1" name=""/>
        <p:cNvGrpSpPr/>
        <p:nvPr/>
      </p:nvGrpSpPr>
      <p:grpSpPr>
        <a:xfrm>
          <a:off x="0" y="0"/>
          <a:ext cx="0" cy="0"/>
          <a:chOff x="0" y="0"/>
          <a:chExt cx="0" cy="0"/>
        </a:xfrm>
      </p:grpSpPr>
      <p:sp>
        <p:nvSpPr>
          <p:cNvPr id="2" name="Text 0"/>
          <p:cNvSpPr/>
          <p:nvPr/>
        </p:nvSpPr>
        <p:spPr>
          <a:xfrm>
            <a:off x="594360" y="1783080"/>
            <a:ext cx="1371600" cy="1371600"/>
          </a:xfrm>
          <a:prstGeom prst="rect">
            <a:avLst/>
          </a:prstGeom>
          <a:noFill/>
          <a:ln/>
        </p:spPr>
        <p:txBody>
          <a:bodyPr wrap="square" lIns="0" tIns="0" rIns="0" bIns="0" rtlCol="0" anchor="ctr"/>
          <a:lstStyle/>
          <a:p>
            <a:pPr indent="0" marL="0">
              <a:buNone/>
            </a:pPr>
            <a:r>
              <a:rPr lang="en-US" sz="8600" b="1" dirty="0">
                <a:solidFill>
                  <a:srgbClr val="E39A2B"/>
                </a:solidFill>
                <a:latin typeface="Cambria" pitchFamily="34" charset="0"/>
                <a:ea typeface="Cambria" pitchFamily="34" charset="-122"/>
                <a:cs typeface="Cambria" pitchFamily="34" charset="-120"/>
              </a:rPr>
              <a:t>4</a:t>
            </a:r>
            <a:endParaRPr lang="en-US" sz="8600" dirty="0"/>
          </a:p>
        </p:txBody>
      </p:sp>
      <p:sp>
        <p:nvSpPr>
          <p:cNvPr id="3" name="Text 1"/>
          <p:cNvSpPr/>
          <p:nvPr/>
        </p:nvSpPr>
        <p:spPr>
          <a:xfrm>
            <a:off x="1920240" y="1874520"/>
            <a:ext cx="749808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Mapa de los</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18 ejercicios</a:t>
            </a:r>
            <a:endParaRPr lang="en-US" sz="3600" dirty="0"/>
          </a:p>
        </p:txBody>
      </p:sp>
      <p:sp>
        <p:nvSpPr>
          <p:cNvPr id="4" name="Text 2"/>
          <p:cNvSpPr/>
          <p:nvPr/>
        </p:nvSpPr>
        <p:spPr>
          <a:xfrm>
            <a:off x="1947672" y="3108960"/>
            <a:ext cx="7863840" cy="731520"/>
          </a:xfrm>
          <a:prstGeom prst="rect">
            <a:avLst/>
          </a:prstGeom>
          <a:noFill/>
          <a:ln/>
        </p:spPr>
        <p:txBody>
          <a:bodyPr wrap="square" lIns="0" tIns="0" rIns="0" bIns="0" rtlCol="0" anchor="t"/>
          <a:lstStyle/>
          <a:p>
            <a:pPr indent="0" marL="0">
              <a:buNone/>
            </a:pPr>
            <a:r>
              <a:rPr lang="en-US" sz="1500" dirty="0">
                <a:solidFill>
                  <a:srgbClr val="C8D3E4"/>
                </a:solidFill>
                <a:latin typeface="Calibri" pitchFamily="34" charset="0"/>
                <a:ea typeface="Calibri" pitchFamily="34" charset="-122"/>
                <a:cs typeface="Calibri" pitchFamily="34" charset="-120"/>
              </a:rPr>
              <a:t>Qué te pregunta cada uno, con qué se conecta y dónde está la trampa. Sin respuestas.</a:t>
            </a:r>
            <a:endParaRPr lang="en-US" sz="1500" dirty="0"/>
          </a:p>
        </p:txBody>
      </p:sp>
      <p:sp>
        <p:nvSpPr>
          <p:cNvPr id="5" name="Shape 3"/>
          <p:cNvSpPr/>
          <p:nvPr/>
        </p:nvSpPr>
        <p:spPr>
          <a:xfrm>
            <a:off x="9646920" y="2103120"/>
            <a:ext cx="384048" cy="384048"/>
          </a:xfrm>
          <a:prstGeom prst="rect">
            <a:avLst/>
          </a:prstGeom>
          <a:solidFill>
            <a:srgbClr val="E39A2B"/>
          </a:solidFill>
          <a:ln w="12700">
            <a:solidFill>
              <a:srgbClr val="E39A2B"/>
            </a:solidFill>
            <a:prstDash val="solid"/>
          </a:ln>
        </p:spPr>
      </p:sp>
      <p:sp>
        <p:nvSpPr>
          <p:cNvPr id="6" name="Shape 4"/>
          <p:cNvSpPr/>
          <p:nvPr/>
        </p:nvSpPr>
        <p:spPr>
          <a:xfrm>
            <a:off x="10122408" y="2103120"/>
            <a:ext cx="384048" cy="384048"/>
          </a:xfrm>
          <a:prstGeom prst="rect">
            <a:avLst/>
          </a:prstGeom>
          <a:solidFill>
            <a:srgbClr val="1E2C46"/>
          </a:solidFill>
          <a:ln w="12700">
            <a:solidFill>
              <a:srgbClr val="1E2C46"/>
            </a:solidFill>
            <a:prstDash val="solid"/>
          </a:ln>
        </p:spPr>
      </p:sp>
      <p:sp>
        <p:nvSpPr>
          <p:cNvPr id="7" name="Shape 5"/>
          <p:cNvSpPr/>
          <p:nvPr/>
        </p:nvSpPr>
        <p:spPr>
          <a:xfrm>
            <a:off x="10597896" y="2103120"/>
            <a:ext cx="384048" cy="384048"/>
          </a:xfrm>
          <a:prstGeom prst="rect">
            <a:avLst/>
          </a:prstGeom>
          <a:solidFill>
            <a:srgbClr val="1E2C46"/>
          </a:solidFill>
          <a:ln w="12700">
            <a:solidFill>
              <a:srgbClr val="1E2C46"/>
            </a:solidFill>
            <a:prstDash val="solid"/>
          </a:ln>
        </p:spPr>
      </p:sp>
      <p:sp>
        <p:nvSpPr>
          <p:cNvPr id="8" name="Shape 6"/>
          <p:cNvSpPr/>
          <p:nvPr/>
        </p:nvSpPr>
        <p:spPr>
          <a:xfrm>
            <a:off x="11073384" y="2103120"/>
            <a:ext cx="384048" cy="384048"/>
          </a:xfrm>
          <a:prstGeom prst="rect">
            <a:avLst/>
          </a:prstGeom>
          <a:solidFill>
            <a:srgbClr val="1E2C46"/>
          </a:solidFill>
          <a:ln w="12700">
            <a:solidFill>
              <a:srgbClr val="1E2C46"/>
            </a:solidFill>
            <a:prstDash val="solid"/>
          </a:ln>
        </p:spPr>
      </p:sp>
      <p:sp>
        <p:nvSpPr>
          <p:cNvPr id="9" name="Shape 7"/>
          <p:cNvSpPr/>
          <p:nvPr/>
        </p:nvSpPr>
        <p:spPr>
          <a:xfrm>
            <a:off x="9646920" y="2578608"/>
            <a:ext cx="384048" cy="384048"/>
          </a:xfrm>
          <a:prstGeom prst="rect">
            <a:avLst/>
          </a:prstGeom>
          <a:solidFill>
            <a:srgbClr val="1E2C46"/>
          </a:solidFill>
          <a:ln w="12700">
            <a:solidFill>
              <a:srgbClr val="1E2C46"/>
            </a:solidFill>
            <a:prstDash val="solid"/>
          </a:ln>
        </p:spPr>
      </p:sp>
      <p:sp>
        <p:nvSpPr>
          <p:cNvPr id="10" name="Shape 8"/>
          <p:cNvSpPr/>
          <p:nvPr/>
        </p:nvSpPr>
        <p:spPr>
          <a:xfrm>
            <a:off x="10122408" y="2578608"/>
            <a:ext cx="384048" cy="384048"/>
          </a:xfrm>
          <a:prstGeom prst="rect">
            <a:avLst/>
          </a:prstGeom>
          <a:solidFill>
            <a:srgbClr val="E39A2B"/>
          </a:solidFill>
          <a:ln w="12700">
            <a:solidFill>
              <a:srgbClr val="E39A2B"/>
            </a:solidFill>
            <a:prstDash val="solid"/>
          </a:ln>
        </p:spPr>
      </p:sp>
      <p:sp>
        <p:nvSpPr>
          <p:cNvPr id="11" name="Shape 9"/>
          <p:cNvSpPr/>
          <p:nvPr/>
        </p:nvSpPr>
        <p:spPr>
          <a:xfrm>
            <a:off x="10597896" y="2578608"/>
            <a:ext cx="384048" cy="384048"/>
          </a:xfrm>
          <a:prstGeom prst="rect">
            <a:avLst/>
          </a:prstGeom>
          <a:solidFill>
            <a:srgbClr val="1E2C46"/>
          </a:solidFill>
          <a:ln w="12700">
            <a:solidFill>
              <a:srgbClr val="1E2C46"/>
            </a:solidFill>
            <a:prstDash val="solid"/>
          </a:ln>
        </p:spPr>
      </p:sp>
      <p:sp>
        <p:nvSpPr>
          <p:cNvPr id="12" name="Shape 10"/>
          <p:cNvSpPr/>
          <p:nvPr/>
        </p:nvSpPr>
        <p:spPr>
          <a:xfrm>
            <a:off x="11073384" y="2578608"/>
            <a:ext cx="384048" cy="384048"/>
          </a:xfrm>
          <a:prstGeom prst="rect">
            <a:avLst/>
          </a:prstGeom>
          <a:solidFill>
            <a:srgbClr val="1E2C46"/>
          </a:solidFill>
          <a:ln w="12700">
            <a:solidFill>
              <a:srgbClr val="1E2C46"/>
            </a:solidFill>
            <a:prstDash val="solid"/>
          </a:ln>
        </p:spPr>
      </p:sp>
      <p:sp>
        <p:nvSpPr>
          <p:cNvPr id="13" name="Shape 11"/>
          <p:cNvSpPr/>
          <p:nvPr/>
        </p:nvSpPr>
        <p:spPr>
          <a:xfrm>
            <a:off x="9646920" y="3054096"/>
            <a:ext cx="384048" cy="384048"/>
          </a:xfrm>
          <a:prstGeom prst="rect">
            <a:avLst/>
          </a:prstGeom>
          <a:solidFill>
            <a:srgbClr val="1E2C46"/>
          </a:solidFill>
          <a:ln w="12700">
            <a:solidFill>
              <a:srgbClr val="1E2C46"/>
            </a:solidFill>
            <a:prstDash val="solid"/>
          </a:ln>
        </p:spPr>
      </p:sp>
      <p:sp>
        <p:nvSpPr>
          <p:cNvPr id="14" name="Shape 12"/>
          <p:cNvSpPr/>
          <p:nvPr/>
        </p:nvSpPr>
        <p:spPr>
          <a:xfrm>
            <a:off x="10122408" y="3054096"/>
            <a:ext cx="384048" cy="384048"/>
          </a:xfrm>
          <a:prstGeom prst="rect">
            <a:avLst/>
          </a:prstGeom>
          <a:solidFill>
            <a:srgbClr val="1E2C46"/>
          </a:solidFill>
          <a:ln w="12700">
            <a:solidFill>
              <a:srgbClr val="1E2C46"/>
            </a:solidFill>
            <a:prstDash val="solid"/>
          </a:ln>
        </p:spPr>
      </p:sp>
      <p:sp>
        <p:nvSpPr>
          <p:cNvPr id="15" name="Shape 13"/>
          <p:cNvSpPr/>
          <p:nvPr/>
        </p:nvSpPr>
        <p:spPr>
          <a:xfrm>
            <a:off x="10597896" y="3054096"/>
            <a:ext cx="384048" cy="384048"/>
          </a:xfrm>
          <a:prstGeom prst="rect">
            <a:avLst/>
          </a:prstGeom>
          <a:solidFill>
            <a:srgbClr val="E39A2B"/>
          </a:solidFill>
          <a:ln w="12700">
            <a:solidFill>
              <a:srgbClr val="E39A2B"/>
            </a:solidFill>
            <a:prstDash val="solid"/>
          </a:ln>
        </p:spPr>
      </p:sp>
      <p:sp>
        <p:nvSpPr>
          <p:cNvPr id="16" name="Shape 14"/>
          <p:cNvSpPr/>
          <p:nvPr/>
        </p:nvSpPr>
        <p:spPr>
          <a:xfrm>
            <a:off x="11073384" y="3054096"/>
            <a:ext cx="384048" cy="384048"/>
          </a:xfrm>
          <a:prstGeom prst="rect">
            <a:avLst/>
          </a:prstGeom>
          <a:solidFill>
            <a:srgbClr val="1E2C46"/>
          </a:solidFill>
          <a:ln w="12700">
            <a:solidFill>
              <a:srgbClr val="1E2C46"/>
            </a:solidFill>
            <a:prstDash val="solid"/>
          </a:ln>
        </p:spPr>
      </p:sp>
      <p:sp>
        <p:nvSpPr>
          <p:cNvPr id="17" name="Shape 15"/>
          <p:cNvSpPr/>
          <p:nvPr/>
        </p:nvSpPr>
        <p:spPr>
          <a:xfrm>
            <a:off x="9646920" y="3529584"/>
            <a:ext cx="384048" cy="384048"/>
          </a:xfrm>
          <a:prstGeom prst="rect">
            <a:avLst/>
          </a:prstGeom>
          <a:solidFill>
            <a:srgbClr val="1E2C46"/>
          </a:solidFill>
          <a:ln w="12700">
            <a:solidFill>
              <a:srgbClr val="1E2C46"/>
            </a:solidFill>
            <a:prstDash val="solid"/>
          </a:ln>
        </p:spPr>
      </p:sp>
      <p:sp>
        <p:nvSpPr>
          <p:cNvPr id="18" name="Shape 16"/>
          <p:cNvSpPr/>
          <p:nvPr/>
        </p:nvSpPr>
        <p:spPr>
          <a:xfrm>
            <a:off x="10122408" y="3529584"/>
            <a:ext cx="384048" cy="384048"/>
          </a:xfrm>
          <a:prstGeom prst="rect">
            <a:avLst/>
          </a:prstGeom>
          <a:solidFill>
            <a:srgbClr val="1E2C46"/>
          </a:solidFill>
          <a:ln w="12700">
            <a:solidFill>
              <a:srgbClr val="1E2C46"/>
            </a:solidFill>
            <a:prstDash val="solid"/>
          </a:ln>
        </p:spPr>
      </p:sp>
      <p:sp>
        <p:nvSpPr>
          <p:cNvPr id="19" name="Shape 17"/>
          <p:cNvSpPr/>
          <p:nvPr/>
        </p:nvSpPr>
        <p:spPr>
          <a:xfrm>
            <a:off x="10597896" y="3529584"/>
            <a:ext cx="384048" cy="384048"/>
          </a:xfrm>
          <a:prstGeom prst="rect">
            <a:avLst/>
          </a:prstGeom>
          <a:solidFill>
            <a:srgbClr val="1E2C46"/>
          </a:solidFill>
          <a:ln w="12700">
            <a:solidFill>
              <a:srgbClr val="1E2C46"/>
            </a:solidFill>
            <a:prstDash val="solid"/>
          </a:ln>
        </p:spPr>
      </p:sp>
      <p:sp>
        <p:nvSpPr>
          <p:cNvPr id="20" name="Shape 18"/>
          <p:cNvSpPr/>
          <p:nvPr/>
        </p:nvSpPr>
        <p:spPr>
          <a:xfrm>
            <a:off x="11073384" y="3529584"/>
            <a:ext cx="384048" cy="384048"/>
          </a:xfrm>
          <a:prstGeom prst="rect">
            <a:avLst/>
          </a:prstGeom>
          <a:solidFill>
            <a:srgbClr val="E39A2B"/>
          </a:solidFill>
          <a:ln w="12700">
            <a:solidFill>
              <a:srgbClr val="E39A2B"/>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Ejercicios 1 a 4 — forma y estructura</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Todos devuelven algo del mismo tamaño que A, salvo el primero. Patrón A más Patrón B.</a:t>
            </a:r>
            <a:endParaRPr lang="en-US" sz="1300" dirty="0"/>
          </a:p>
        </p:txBody>
      </p:sp>
      <p:sp>
        <p:nvSpPr>
          <p:cNvPr id="4" name="Shape 2"/>
          <p:cNvSpPr/>
          <p:nvPr/>
        </p:nvSpPr>
        <p:spPr>
          <a:xfrm>
            <a:off x="594360" y="1444752"/>
            <a:ext cx="11002975" cy="731520"/>
          </a:xfrm>
          <a:prstGeom prst="roundRect">
            <a:avLst>
              <a:gd name="adj" fmla="val 7500"/>
            </a:avLst>
          </a:prstGeom>
          <a:solidFill>
            <a:srgbClr val="F1F4F9"/>
          </a:solidFill>
          <a:ln w="12700">
            <a:solidFill>
              <a:srgbClr val="F1F4F9"/>
            </a:solidFill>
            <a:prstDash val="solid"/>
          </a:ln>
        </p:spPr>
      </p:sp>
      <p:sp>
        <p:nvSpPr>
          <p:cNvPr id="5" name="Text 3"/>
          <p:cNvSpPr/>
          <p:nvPr/>
        </p:nvSpPr>
        <p:spPr>
          <a:xfrm>
            <a:off x="813816" y="1527048"/>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1</a:t>
            </a:r>
            <a:endParaRPr lang="en-US" sz="1300" dirty="0"/>
          </a:p>
        </p:txBody>
      </p:sp>
      <p:sp>
        <p:nvSpPr>
          <p:cNvPr id="6" name="Text 4"/>
          <p:cNvSpPr/>
          <p:nvPr/>
        </p:nvSpPr>
        <p:spPr>
          <a:xfrm>
            <a:off x="1600200" y="1527048"/>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esCuadrada(A)</a:t>
            </a:r>
            <a:endParaRPr lang="en-US" sz="1250" dirty="0"/>
          </a:p>
        </p:txBody>
      </p:sp>
      <p:sp>
        <p:nvSpPr>
          <p:cNvPr id="7" name="Text 5"/>
          <p:cNvSpPr/>
          <p:nvPr/>
        </p:nvSpPr>
        <p:spPr>
          <a:xfrm>
            <a:off x="4160520" y="1508760"/>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shape te da la tupla y está permitida. Pero pensá los bordes: ¿qué devolvés si A es un vector 1D y la tupla tiene un solo elemento? ¿Y si está vacía?</a:t>
            </a:r>
            <a:endParaRPr lang="en-US" sz="1200" dirty="0"/>
          </a:p>
        </p:txBody>
      </p:sp>
      <p:sp>
        <p:nvSpPr>
          <p:cNvPr id="8" name="Shape 6"/>
          <p:cNvSpPr/>
          <p:nvPr/>
        </p:nvSpPr>
        <p:spPr>
          <a:xfrm>
            <a:off x="594360" y="2249424"/>
            <a:ext cx="11002975" cy="731520"/>
          </a:xfrm>
          <a:prstGeom prst="roundRect">
            <a:avLst>
              <a:gd name="adj" fmla="val 7500"/>
            </a:avLst>
          </a:prstGeom>
          <a:solidFill>
            <a:srgbClr val="F1F4F9"/>
          </a:solidFill>
          <a:ln w="12700">
            <a:solidFill>
              <a:srgbClr val="F1F4F9"/>
            </a:solidFill>
            <a:prstDash val="solid"/>
          </a:ln>
        </p:spPr>
      </p:sp>
      <p:sp>
        <p:nvSpPr>
          <p:cNvPr id="9" name="Text 7"/>
          <p:cNvSpPr/>
          <p:nvPr/>
        </p:nvSpPr>
        <p:spPr>
          <a:xfrm>
            <a:off x="813816" y="2331720"/>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2</a:t>
            </a:r>
            <a:endParaRPr lang="en-US" sz="1300" dirty="0"/>
          </a:p>
        </p:txBody>
      </p:sp>
      <p:sp>
        <p:nvSpPr>
          <p:cNvPr id="10" name="Text 8"/>
          <p:cNvSpPr/>
          <p:nvPr/>
        </p:nvSpPr>
        <p:spPr>
          <a:xfrm>
            <a:off x="1600200" y="2331720"/>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triangSup(A)</a:t>
            </a:r>
            <a:endParaRPr lang="en-US" sz="1250" dirty="0"/>
          </a:p>
        </p:txBody>
      </p:sp>
      <p:sp>
        <p:nvSpPr>
          <p:cNvPr id="11" name="Text 9"/>
          <p:cNvSpPr/>
          <p:nvPr/>
        </p:nvSpPr>
        <p:spPr>
          <a:xfrm>
            <a:off x="4160520" y="2313432"/>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Devolvés una matriz completa, no una lista de los elementos de arriba. Las posiciones que no corresponden van en cero. «Sin su diagonal» define qué pasa en i = j.</a:t>
            </a:r>
            <a:endParaRPr lang="en-US" sz="1200" dirty="0"/>
          </a:p>
        </p:txBody>
      </p:sp>
      <p:sp>
        <p:nvSpPr>
          <p:cNvPr id="12" name="Shape 10"/>
          <p:cNvSpPr/>
          <p:nvPr/>
        </p:nvSpPr>
        <p:spPr>
          <a:xfrm>
            <a:off x="594360" y="3054096"/>
            <a:ext cx="11002975" cy="731520"/>
          </a:xfrm>
          <a:prstGeom prst="roundRect">
            <a:avLst>
              <a:gd name="adj" fmla="val 7500"/>
            </a:avLst>
          </a:prstGeom>
          <a:solidFill>
            <a:srgbClr val="F1F4F9"/>
          </a:solidFill>
          <a:ln w="12700">
            <a:solidFill>
              <a:srgbClr val="F1F4F9"/>
            </a:solidFill>
            <a:prstDash val="solid"/>
          </a:ln>
        </p:spPr>
      </p:sp>
      <p:sp>
        <p:nvSpPr>
          <p:cNvPr id="13" name="Text 11"/>
          <p:cNvSpPr/>
          <p:nvPr/>
        </p:nvSpPr>
        <p:spPr>
          <a:xfrm>
            <a:off x="813816" y="3136392"/>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3</a:t>
            </a:r>
            <a:endParaRPr lang="en-US" sz="1300" dirty="0"/>
          </a:p>
        </p:txBody>
      </p:sp>
      <p:sp>
        <p:nvSpPr>
          <p:cNvPr id="14" name="Text 12"/>
          <p:cNvSpPr/>
          <p:nvPr/>
        </p:nvSpPr>
        <p:spPr>
          <a:xfrm>
            <a:off x="1600200" y="3136392"/>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triangInf(A)</a:t>
            </a:r>
            <a:endParaRPr lang="en-US" sz="1250" dirty="0"/>
          </a:p>
        </p:txBody>
      </p:sp>
      <p:sp>
        <p:nvSpPr>
          <p:cNvPr id="15" name="Text 13"/>
          <p:cNvSpPr/>
          <p:nvPr/>
        </p:nvSpPr>
        <p:spPr>
          <a:xfrm>
            <a:off x="4160520" y="3118104"/>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Espejo del anterior. Si escribís los dos con el mismo molde y solo cambiás el rango interno, ya sabés que son consistentes entre sí.</a:t>
            </a:r>
            <a:endParaRPr lang="en-US" sz="1200" dirty="0"/>
          </a:p>
        </p:txBody>
      </p:sp>
      <p:sp>
        <p:nvSpPr>
          <p:cNvPr id="16" name="Shape 14"/>
          <p:cNvSpPr/>
          <p:nvPr/>
        </p:nvSpPr>
        <p:spPr>
          <a:xfrm>
            <a:off x="594360" y="3858768"/>
            <a:ext cx="11002975" cy="731520"/>
          </a:xfrm>
          <a:prstGeom prst="roundRect">
            <a:avLst>
              <a:gd name="adj" fmla="val 7500"/>
            </a:avLst>
          </a:prstGeom>
          <a:solidFill>
            <a:srgbClr val="F1F4F9"/>
          </a:solidFill>
          <a:ln w="12700">
            <a:solidFill>
              <a:srgbClr val="F1F4F9"/>
            </a:solidFill>
            <a:prstDash val="solid"/>
          </a:ln>
        </p:spPr>
      </p:sp>
      <p:sp>
        <p:nvSpPr>
          <p:cNvPr id="17" name="Text 15"/>
          <p:cNvSpPr/>
          <p:nvPr/>
        </p:nvSpPr>
        <p:spPr>
          <a:xfrm>
            <a:off x="813816" y="3941064"/>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4</a:t>
            </a:r>
            <a:endParaRPr lang="en-US" sz="1300" dirty="0"/>
          </a:p>
        </p:txBody>
      </p:sp>
      <p:sp>
        <p:nvSpPr>
          <p:cNvPr id="18" name="Text 16"/>
          <p:cNvSpPr/>
          <p:nvPr/>
        </p:nvSpPr>
        <p:spPr>
          <a:xfrm>
            <a:off x="1600200" y="3941064"/>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diagonal(A)</a:t>
            </a:r>
            <a:endParaRPr lang="en-US" sz="1250" dirty="0"/>
          </a:p>
        </p:txBody>
      </p:sp>
      <p:sp>
        <p:nvSpPr>
          <p:cNvPr id="19" name="Text 17"/>
          <p:cNvSpPr/>
          <p:nvPr/>
        </p:nvSpPr>
        <p:spPr>
          <a:xfrm>
            <a:off x="4160520" y="3922776"/>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La matriz D del mismo tamaño, con ceros fuera de la diagonal. Decidí qué hacés si A no es cuadrada: la diagonal existe igual, pero conviene que lo pienses y lo dejes escrito.</a:t>
            </a:r>
            <a:endParaRPr lang="en-US" sz="1200" dirty="0"/>
          </a:p>
        </p:txBody>
      </p:sp>
      <p:sp>
        <p:nvSpPr>
          <p:cNvPr id="20" name="Shape 18"/>
          <p:cNvSpPr/>
          <p:nvPr/>
        </p:nvSpPr>
        <p:spPr>
          <a:xfrm>
            <a:off x="594360" y="4754880"/>
            <a:ext cx="11002975" cy="1627632"/>
          </a:xfrm>
          <a:prstGeom prst="roundRect">
            <a:avLst>
              <a:gd name="adj" fmla="val 4494"/>
            </a:avLst>
          </a:prstGeom>
          <a:solidFill>
            <a:srgbClr val="E8F1F3"/>
          </a:solidFill>
          <a:ln w="12700">
            <a:solidFill>
              <a:srgbClr val="CFE0E4"/>
            </a:solidFill>
            <a:prstDash val="solid"/>
          </a:ln>
        </p:spPr>
      </p:sp>
      <p:sp>
        <p:nvSpPr>
          <p:cNvPr id="21" name="Text 19"/>
          <p:cNvSpPr/>
          <p:nvPr/>
        </p:nvSpPr>
        <p:spPr>
          <a:xfrm>
            <a:off x="886968" y="4937760"/>
            <a:ext cx="10417759" cy="274320"/>
          </a:xfrm>
          <a:prstGeom prst="rect">
            <a:avLst/>
          </a:prstGeom>
          <a:noFill/>
          <a:ln/>
        </p:spPr>
        <p:txBody>
          <a:bodyPr wrap="square" lIns="0" tIns="0" rIns="0" bIns="0" rtlCol="0" anchor="t"/>
          <a:lstStyle/>
          <a:p>
            <a:pPr indent="0" marL="0">
              <a:buNone/>
            </a:pPr>
            <a:r>
              <a:rPr lang="en-US" sz="1400" b="1" dirty="0">
                <a:solidFill>
                  <a:srgbClr val="2E7D8F"/>
                </a:solidFill>
                <a:latin typeface="Cambria" pitchFamily="34" charset="0"/>
                <a:ea typeface="Cambria" pitchFamily="34" charset="-122"/>
                <a:cs typeface="Cambria" pitchFamily="34" charset="-120"/>
              </a:rPr>
              <a:t>El test que te sale gratis</a:t>
            </a:r>
            <a:endParaRPr lang="en-US" sz="1400" dirty="0"/>
          </a:p>
        </p:txBody>
      </p:sp>
      <p:sp>
        <p:nvSpPr>
          <p:cNvPr id="22" name="Text 20"/>
          <p:cNvSpPr/>
          <p:nvPr/>
        </p:nvSpPr>
        <p:spPr>
          <a:xfrm>
            <a:off x="886968" y="5285232"/>
            <a:ext cx="10417759" cy="1024128"/>
          </a:xfrm>
          <a:prstGeom prst="rect">
            <a:avLst/>
          </a:prstGeom>
          <a:noFill/>
          <a:ln/>
        </p:spPr>
        <p:txBody>
          <a:bodyPr wrap="square" lIns="0" tIns="0" rIns="0" bIns="0" rtlCol="0" anchor="t"/>
          <a:lstStyle/>
          <a:p>
            <a:pPr indent="0" marL="0">
              <a:lnSpc>
                <a:spcPct val="118000"/>
              </a:lnSpc>
              <a:buNone/>
            </a:pPr>
            <a:r>
              <a:rPr lang="en-US" sz="1250" dirty="0">
                <a:solidFill>
                  <a:srgbClr val="2B3648"/>
                </a:solidFill>
                <a:latin typeface="Calibri" pitchFamily="34" charset="0"/>
                <a:ea typeface="Calibri" pitchFamily="34" charset="-122"/>
                <a:cs typeface="Calibri" pitchFamily="34" charset="-120"/>
              </a:rPr>
              <a:t>triangSup(A) + triangInf(A) + diagonal(A) tiene que dar exactamente A, para cualquier A. Es un test cruzado: no verifica un caso puntual sino una propiedad que vale siempre, y detecta al instante si te comiste o duplicaste la diagonal. Escribilo apenas termines el Ejercicio 4 — es el mejor rendimiento por línea de todo el labo.</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Ejercicios 5 a 8 — las operaciones clásicas</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Acá aparecen las dos trampas conceptuales del labo: los floats y el producto matriz-vector.</a:t>
            </a:r>
            <a:endParaRPr lang="en-US" sz="1300" dirty="0"/>
          </a:p>
        </p:txBody>
      </p:sp>
      <p:sp>
        <p:nvSpPr>
          <p:cNvPr id="4" name="Shape 2"/>
          <p:cNvSpPr/>
          <p:nvPr/>
        </p:nvSpPr>
        <p:spPr>
          <a:xfrm>
            <a:off x="594360" y="1444752"/>
            <a:ext cx="11002975" cy="731520"/>
          </a:xfrm>
          <a:prstGeom prst="roundRect">
            <a:avLst>
              <a:gd name="adj" fmla="val 7500"/>
            </a:avLst>
          </a:prstGeom>
          <a:solidFill>
            <a:srgbClr val="F1F4F9"/>
          </a:solidFill>
          <a:ln w="12700">
            <a:solidFill>
              <a:srgbClr val="F1F4F9"/>
            </a:solidFill>
            <a:prstDash val="solid"/>
          </a:ln>
        </p:spPr>
      </p:sp>
      <p:sp>
        <p:nvSpPr>
          <p:cNvPr id="5" name="Text 3"/>
          <p:cNvSpPr/>
          <p:nvPr/>
        </p:nvSpPr>
        <p:spPr>
          <a:xfrm>
            <a:off x="813816" y="1527048"/>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5</a:t>
            </a:r>
            <a:endParaRPr lang="en-US" sz="1300" dirty="0"/>
          </a:p>
        </p:txBody>
      </p:sp>
      <p:sp>
        <p:nvSpPr>
          <p:cNvPr id="6" name="Text 4"/>
          <p:cNvSpPr/>
          <p:nvPr/>
        </p:nvSpPr>
        <p:spPr>
          <a:xfrm>
            <a:off x="1600200" y="1527048"/>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traza(A)</a:t>
            </a:r>
            <a:endParaRPr lang="en-US" sz="1250" dirty="0"/>
          </a:p>
        </p:txBody>
      </p:sp>
      <p:sp>
        <p:nvSpPr>
          <p:cNvPr id="7" name="Text 5"/>
          <p:cNvSpPr/>
          <p:nvPr/>
        </p:nvSpPr>
        <p:spPr>
          <a:xfrm>
            <a:off x="4160520" y="1508760"/>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Patrón E puro. La única decisión es qué hacés si A no es cuadrada: el enunciado dice «una matriz cualquiera». Elegí un criterio y dejalo documentado en el docstring.</a:t>
            </a:r>
            <a:endParaRPr lang="en-US" sz="1200" dirty="0"/>
          </a:p>
        </p:txBody>
      </p:sp>
      <p:sp>
        <p:nvSpPr>
          <p:cNvPr id="8" name="Shape 6"/>
          <p:cNvSpPr/>
          <p:nvPr/>
        </p:nvSpPr>
        <p:spPr>
          <a:xfrm>
            <a:off x="594360" y="2249424"/>
            <a:ext cx="11002975" cy="731520"/>
          </a:xfrm>
          <a:prstGeom prst="roundRect">
            <a:avLst>
              <a:gd name="adj" fmla="val 7500"/>
            </a:avLst>
          </a:prstGeom>
          <a:solidFill>
            <a:srgbClr val="F1F4F9"/>
          </a:solidFill>
          <a:ln w="12700">
            <a:solidFill>
              <a:srgbClr val="F1F4F9"/>
            </a:solidFill>
            <a:prstDash val="solid"/>
          </a:ln>
        </p:spPr>
      </p:sp>
      <p:sp>
        <p:nvSpPr>
          <p:cNvPr id="9" name="Text 7"/>
          <p:cNvSpPr/>
          <p:nvPr/>
        </p:nvSpPr>
        <p:spPr>
          <a:xfrm>
            <a:off x="813816" y="2331720"/>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6</a:t>
            </a:r>
            <a:endParaRPr lang="en-US" sz="1300" dirty="0"/>
          </a:p>
        </p:txBody>
      </p:sp>
      <p:sp>
        <p:nvSpPr>
          <p:cNvPr id="10" name="Text 8"/>
          <p:cNvSpPr/>
          <p:nvPr/>
        </p:nvSpPr>
        <p:spPr>
          <a:xfrm>
            <a:off x="1600200" y="2331720"/>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traspuesta(A)</a:t>
            </a:r>
            <a:endParaRPr lang="en-US" sz="1250" dirty="0"/>
          </a:p>
        </p:txBody>
      </p:sp>
      <p:sp>
        <p:nvSpPr>
          <p:cNvPr id="11" name="Text 9"/>
          <p:cNvSpPr/>
          <p:nvPr/>
        </p:nvSpPr>
        <p:spPr>
          <a:xfrm>
            <a:off x="4160520" y="2313432"/>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Patrón A con los índices cruzados. No uses A.T. Y no asumas cuadrada: si A es n×m, el resultado es m×n, así que los dos range son distintos.</a:t>
            </a:r>
            <a:endParaRPr lang="en-US" sz="1200" dirty="0"/>
          </a:p>
        </p:txBody>
      </p:sp>
      <p:sp>
        <p:nvSpPr>
          <p:cNvPr id="12" name="Shape 10"/>
          <p:cNvSpPr/>
          <p:nvPr/>
        </p:nvSpPr>
        <p:spPr>
          <a:xfrm>
            <a:off x="594360" y="3054096"/>
            <a:ext cx="11002975" cy="731520"/>
          </a:xfrm>
          <a:prstGeom prst="roundRect">
            <a:avLst>
              <a:gd name="adj" fmla="val 7500"/>
            </a:avLst>
          </a:prstGeom>
          <a:solidFill>
            <a:srgbClr val="F1F4F9"/>
          </a:solidFill>
          <a:ln w="12700">
            <a:solidFill>
              <a:srgbClr val="F1F4F9"/>
            </a:solidFill>
            <a:prstDash val="solid"/>
          </a:ln>
        </p:spPr>
      </p:sp>
      <p:sp>
        <p:nvSpPr>
          <p:cNvPr id="13" name="Text 11"/>
          <p:cNvSpPr/>
          <p:nvPr/>
        </p:nvSpPr>
        <p:spPr>
          <a:xfrm>
            <a:off x="813816" y="3136392"/>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7</a:t>
            </a:r>
            <a:endParaRPr lang="en-US" sz="1300" dirty="0"/>
          </a:p>
        </p:txBody>
      </p:sp>
      <p:sp>
        <p:nvSpPr>
          <p:cNvPr id="14" name="Text 12"/>
          <p:cNvSpPr/>
          <p:nvPr/>
        </p:nvSpPr>
        <p:spPr>
          <a:xfrm>
            <a:off x="1600200" y="3136392"/>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esSimetrica(A)</a:t>
            </a:r>
            <a:endParaRPr lang="en-US" sz="1250" dirty="0"/>
          </a:p>
        </p:txBody>
      </p:sp>
      <p:sp>
        <p:nvSpPr>
          <p:cNvPr id="15" name="Text 13"/>
          <p:cNvSpPr/>
          <p:nvPr/>
        </p:nvSpPr>
        <p:spPr>
          <a:xfrm>
            <a:off x="4160520" y="3118104"/>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Si no es cuadrada, False y listo, antes de comparar nada. Después: comparar floats con == falla. Mirá el slide de punto flotante — este ejercicio existe para que aprendas eso.</a:t>
            </a:r>
            <a:endParaRPr lang="en-US" sz="1200" dirty="0"/>
          </a:p>
        </p:txBody>
      </p:sp>
      <p:sp>
        <p:nvSpPr>
          <p:cNvPr id="16" name="Shape 14"/>
          <p:cNvSpPr/>
          <p:nvPr/>
        </p:nvSpPr>
        <p:spPr>
          <a:xfrm>
            <a:off x="594360" y="3858768"/>
            <a:ext cx="11002975" cy="731520"/>
          </a:xfrm>
          <a:prstGeom prst="roundRect">
            <a:avLst>
              <a:gd name="adj" fmla="val 7500"/>
            </a:avLst>
          </a:prstGeom>
          <a:solidFill>
            <a:srgbClr val="F1F4F9"/>
          </a:solidFill>
          <a:ln w="12700">
            <a:solidFill>
              <a:srgbClr val="F1F4F9"/>
            </a:solidFill>
            <a:prstDash val="solid"/>
          </a:ln>
        </p:spPr>
      </p:sp>
      <p:sp>
        <p:nvSpPr>
          <p:cNvPr id="17" name="Text 15"/>
          <p:cNvSpPr/>
          <p:nvPr/>
        </p:nvSpPr>
        <p:spPr>
          <a:xfrm>
            <a:off x="813816" y="3941064"/>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8</a:t>
            </a:r>
            <a:endParaRPr lang="en-US" sz="1300" dirty="0"/>
          </a:p>
        </p:txBody>
      </p:sp>
      <p:sp>
        <p:nvSpPr>
          <p:cNvPr id="18" name="Text 16"/>
          <p:cNvSpPr/>
          <p:nvPr/>
        </p:nvSpPr>
        <p:spPr>
          <a:xfrm>
            <a:off x="1600200" y="3941064"/>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calcularAx(A, x)</a:t>
            </a:r>
            <a:endParaRPr lang="en-US" sz="1250" dirty="0"/>
          </a:p>
        </p:txBody>
      </p:sp>
      <p:sp>
        <p:nvSpPr>
          <p:cNvPr id="19" name="Text 17"/>
          <p:cNvSpPr/>
          <p:nvPr/>
        </p:nvSpPr>
        <p:spPr>
          <a:xfrm>
            <a:off x="4160520" y="3922776"/>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Sin @ ni np.dot. Dos lecturas equivalentes: b_i = suma sobre j de a_ij·x_j (fila por fila), o b = suma de x_j por la columna j de A (combinación lineal de columnas).</a:t>
            </a:r>
            <a:endParaRPr lang="en-US" sz="1200" dirty="0"/>
          </a:p>
        </p:txBody>
      </p:sp>
      <p:sp>
        <p:nvSpPr>
          <p:cNvPr id="20" name="Shape 18"/>
          <p:cNvSpPr/>
          <p:nvPr/>
        </p:nvSpPr>
        <p:spPr>
          <a:xfrm>
            <a:off x="594360" y="4754880"/>
            <a:ext cx="11002975" cy="1627632"/>
          </a:xfrm>
          <a:prstGeom prst="roundRect">
            <a:avLst>
              <a:gd name="adj" fmla="val 4494"/>
            </a:avLst>
          </a:prstGeom>
          <a:solidFill>
            <a:srgbClr val="E8F1F3"/>
          </a:solidFill>
          <a:ln w="12700">
            <a:solidFill>
              <a:srgbClr val="CFE0E4"/>
            </a:solidFill>
            <a:prstDash val="solid"/>
          </a:ln>
        </p:spPr>
      </p:sp>
      <p:sp>
        <p:nvSpPr>
          <p:cNvPr id="21" name="Text 19"/>
          <p:cNvSpPr/>
          <p:nvPr/>
        </p:nvSpPr>
        <p:spPr>
          <a:xfrm>
            <a:off x="886968" y="4937760"/>
            <a:ext cx="10417759" cy="274320"/>
          </a:xfrm>
          <a:prstGeom prst="rect">
            <a:avLst/>
          </a:prstGeom>
          <a:noFill/>
          <a:ln/>
        </p:spPr>
        <p:txBody>
          <a:bodyPr wrap="square" lIns="0" tIns="0" rIns="0" bIns="0" rtlCol="0" anchor="t"/>
          <a:lstStyle/>
          <a:p>
            <a:pPr indent="0" marL="0">
              <a:buNone/>
            </a:pPr>
            <a:r>
              <a:rPr lang="en-US" sz="1400" b="1" dirty="0">
                <a:solidFill>
                  <a:srgbClr val="2E7D8F"/>
                </a:solidFill>
                <a:latin typeface="Cambria" pitchFamily="34" charset="0"/>
                <a:ea typeface="Cambria" pitchFamily="34" charset="-122"/>
                <a:cs typeface="Cambria" pitchFamily="34" charset="-120"/>
              </a:rPr>
              <a:t>Sobre el Ejercicio 8, que parece el más simple y es el más importante</a:t>
            </a:r>
            <a:endParaRPr lang="en-US" sz="1400" dirty="0"/>
          </a:p>
        </p:txBody>
      </p:sp>
      <p:sp>
        <p:nvSpPr>
          <p:cNvPr id="22" name="Text 20"/>
          <p:cNvSpPr/>
          <p:nvPr/>
        </p:nvSpPr>
        <p:spPr>
          <a:xfrm>
            <a:off x="886968" y="5285232"/>
            <a:ext cx="10417759" cy="1024128"/>
          </a:xfrm>
          <a:prstGeom prst="rect">
            <a:avLst/>
          </a:prstGeom>
          <a:noFill/>
          <a:ln/>
        </p:spPr>
        <p:txBody>
          <a:bodyPr wrap="square" lIns="0" tIns="0" rIns="0" bIns="0" rtlCol="0" anchor="t"/>
          <a:lstStyle/>
          <a:p>
            <a:pPr indent="0" marL="0">
              <a:lnSpc>
                <a:spcPct val="118000"/>
              </a:lnSpc>
              <a:buNone/>
            </a:pPr>
            <a:r>
              <a:rPr lang="en-US" sz="1250" dirty="0">
                <a:solidFill>
                  <a:srgbClr val="2B3648"/>
                </a:solidFill>
                <a:latin typeface="Calibri" pitchFamily="34" charset="0"/>
                <a:ea typeface="Calibri" pitchFamily="34" charset="-122"/>
                <a:cs typeface="Calibri" pitchFamily="34" charset="-120"/>
              </a:rPr>
              <a:t>La segunda lectura — el resultado es una combinación lineal de las columnas de A, con los x_j como coeficientes — es la que te va a servir el resto de la materia: es la que explica qué es la imagen de una matriz y por qué el rango es lo que es. Vale la pena implementarlo de las dos formas y verificar que dan lo mismo. Chequeá también los tamaños: si A es n×m, x tiene que tener largo m; si no, conviene fallar con un mensaje claro en vez de devolver algo raro.</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Ejercicios 9 a 11 — operaciones elementales</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Los dos primeros son las operaciones de fila de la eliminación gaussiana. Los vas a reusar en el Ejercicio 18.</a:t>
            </a:r>
            <a:endParaRPr lang="en-US" sz="1300" dirty="0"/>
          </a:p>
        </p:txBody>
      </p:sp>
      <p:sp>
        <p:nvSpPr>
          <p:cNvPr id="4" name="Shape 2"/>
          <p:cNvSpPr/>
          <p:nvPr/>
        </p:nvSpPr>
        <p:spPr>
          <a:xfrm>
            <a:off x="594360" y="1444752"/>
            <a:ext cx="11002975" cy="731520"/>
          </a:xfrm>
          <a:prstGeom prst="roundRect">
            <a:avLst>
              <a:gd name="adj" fmla="val 7500"/>
            </a:avLst>
          </a:prstGeom>
          <a:solidFill>
            <a:srgbClr val="F1F4F9"/>
          </a:solidFill>
          <a:ln w="12700">
            <a:solidFill>
              <a:srgbClr val="F1F4F9"/>
            </a:solidFill>
            <a:prstDash val="solid"/>
          </a:ln>
        </p:spPr>
      </p:sp>
      <p:sp>
        <p:nvSpPr>
          <p:cNvPr id="5" name="Text 3"/>
          <p:cNvSpPr/>
          <p:nvPr/>
        </p:nvSpPr>
        <p:spPr>
          <a:xfrm>
            <a:off x="813816" y="1527048"/>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9</a:t>
            </a:r>
            <a:endParaRPr lang="en-US" sz="1300" dirty="0"/>
          </a:p>
        </p:txBody>
      </p:sp>
      <p:sp>
        <p:nvSpPr>
          <p:cNvPr id="6" name="Text 4"/>
          <p:cNvSpPr/>
          <p:nvPr/>
        </p:nvSpPr>
        <p:spPr>
          <a:xfrm>
            <a:off x="1600200" y="1527048"/>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intercambiarFilas(A, i, j)</a:t>
            </a:r>
            <a:endParaRPr lang="en-US" sz="1250" dirty="0"/>
          </a:p>
        </p:txBody>
      </p:sp>
      <p:sp>
        <p:nvSpPr>
          <p:cNvPr id="7" name="Text 5"/>
          <p:cNvSpPr/>
          <p:nvPr/>
        </p:nvSpPr>
        <p:spPr>
          <a:xfrm>
            <a:off x="4160520" y="1508760"/>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In-place obligatorio. Acá está el bug de la vista: tu variable temporal comparte memoria con A. Volvé al slide de vista vs copia. Pensá también qué debería pasar si i == j.</a:t>
            </a:r>
            <a:endParaRPr lang="en-US" sz="1200" dirty="0"/>
          </a:p>
        </p:txBody>
      </p:sp>
      <p:sp>
        <p:nvSpPr>
          <p:cNvPr id="8" name="Shape 6"/>
          <p:cNvSpPr/>
          <p:nvPr/>
        </p:nvSpPr>
        <p:spPr>
          <a:xfrm>
            <a:off x="594360" y="2249424"/>
            <a:ext cx="11002975" cy="731520"/>
          </a:xfrm>
          <a:prstGeom prst="roundRect">
            <a:avLst>
              <a:gd name="adj" fmla="val 7500"/>
            </a:avLst>
          </a:prstGeom>
          <a:solidFill>
            <a:srgbClr val="F1F4F9"/>
          </a:solidFill>
          <a:ln w="12700">
            <a:solidFill>
              <a:srgbClr val="F1F4F9"/>
            </a:solidFill>
            <a:prstDash val="solid"/>
          </a:ln>
        </p:spPr>
      </p:sp>
      <p:sp>
        <p:nvSpPr>
          <p:cNvPr id="9" name="Text 7"/>
          <p:cNvSpPr/>
          <p:nvPr/>
        </p:nvSpPr>
        <p:spPr>
          <a:xfrm>
            <a:off x="813816" y="2331720"/>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10</a:t>
            </a:r>
            <a:endParaRPr lang="en-US" sz="1300" dirty="0"/>
          </a:p>
        </p:txBody>
      </p:sp>
      <p:sp>
        <p:nvSpPr>
          <p:cNvPr id="10" name="Text 8"/>
          <p:cNvSpPr/>
          <p:nvPr/>
        </p:nvSpPr>
        <p:spPr>
          <a:xfrm>
            <a:off x="1600200" y="2331720"/>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sumar_fila_multiplo(A,i,j,s)</a:t>
            </a:r>
            <a:endParaRPr lang="en-US" sz="1250" dirty="0"/>
          </a:p>
        </p:txBody>
      </p:sp>
      <p:sp>
        <p:nvSpPr>
          <p:cNvPr id="11" name="Text 9"/>
          <p:cNvSpPr/>
          <p:nvPr/>
        </p:nvSpPr>
        <p:spPr>
          <a:xfrm>
            <a:off x="4160520" y="2313432"/>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In-place. A la fila i le sumás la fila j por s. Dos trampas: el dtype entero si s tiene decimales, y qué significa el caso i == j (la fila se modifica usándose a sí misma).</a:t>
            </a:r>
            <a:endParaRPr lang="en-US" sz="1200" dirty="0"/>
          </a:p>
        </p:txBody>
      </p:sp>
      <p:sp>
        <p:nvSpPr>
          <p:cNvPr id="12" name="Shape 10"/>
          <p:cNvSpPr/>
          <p:nvPr/>
        </p:nvSpPr>
        <p:spPr>
          <a:xfrm>
            <a:off x="594360" y="3054096"/>
            <a:ext cx="11002975" cy="731520"/>
          </a:xfrm>
          <a:prstGeom prst="roundRect">
            <a:avLst>
              <a:gd name="adj" fmla="val 7500"/>
            </a:avLst>
          </a:prstGeom>
          <a:solidFill>
            <a:srgbClr val="F1F4F9"/>
          </a:solidFill>
          <a:ln w="12700">
            <a:solidFill>
              <a:srgbClr val="F1F4F9"/>
            </a:solidFill>
            <a:prstDash val="solid"/>
          </a:ln>
        </p:spPr>
      </p:sp>
      <p:sp>
        <p:nvSpPr>
          <p:cNvPr id="13" name="Text 11"/>
          <p:cNvSpPr/>
          <p:nvPr/>
        </p:nvSpPr>
        <p:spPr>
          <a:xfrm>
            <a:off x="813816" y="3136392"/>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11</a:t>
            </a:r>
            <a:endParaRPr lang="en-US" sz="1300" dirty="0"/>
          </a:p>
        </p:txBody>
      </p:sp>
      <p:sp>
        <p:nvSpPr>
          <p:cNvPr id="14" name="Text 12"/>
          <p:cNvSpPr/>
          <p:nvPr/>
        </p:nvSpPr>
        <p:spPr>
          <a:xfrm>
            <a:off x="1600200" y="3136392"/>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esDiagonalmenteDominante(A)</a:t>
            </a:r>
            <a:endParaRPr lang="en-US" sz="1250" dirty="0"/>
          </a:p>
        </p:txBody>
      </p:sp>
      <p:sp>
        <p:nvSpPr>
          <p:cNvPr id="15" name="Text 13"/>
          <p:cNvSpPr/>
          <p:nvPr/>
        </p:nvSpPr>
        <p:spPr>
          <a:xfrm>
            <a:off x="4160520" y="3118104"/>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Primero cuadrada. Después, por cada fila: |a_ii| estrictamente mayor que la suma de los |a_ij| con j distinto de i. Patrón C envolviendo un Patrón E.</a:t>
            </a:r>
            <a:endParaRPr lang="en-US" sz="1200" dirty="0"/>
          </a:p>
        </p:txBody>
      </p:sp>
      <p:sp>
        <p:nvSpPr>
          <p:cNvPr id="16" name="Shape 14"/>
          <p:cNvSpPr/>
          <p:nvPr/>
        </p:nvSpPr>
        <p:spPr>
          <a:xfrm>
            <a:off x="594360" y="3950208"/>
            <a:ext cx="11002975" cy="2432304"/>
          </a:xfrm>
          <a:prstGeom prst="roundRect">
            <a:avLst>
              <a:gd name="adj" fmla="val 3008"/>
            </a:avLst>
          </a:prstGeom>
          <a:solidFill>
            <a:srgbClr val="E8F1F3"/>
          </a:solidFill>
          <a:ln w="12700">
            <a:solidFill>
              <a:srgbClr val="CFE0E4"/>
            </a:solidFill>
            <a:prstDash val="solid"/>
          </a:ln>
        </p:spPr>
      </p:sp>
      <p:sp>
        <p:nvSpPr>
          <p:cNvPr id="17" name="Text 15"/>
          <p:cNvSpPr/>
          <p:nvPr/>
        </p:nvSpPr>
        <p:spPr>
          <a:xfrm>
            <a:off x="886968" y="4133088"/>
            <a:ext cx="10417759" cy="274320"/>
          </a:xfrm>
          <a:prstGeom prst="rect">
            <a:avLst/>
          </a:prstGeom>
          <a:noFill/>
          <a:ln/>
        </p:spPr>
        <p:txBody>
          <a:bodyPr wrap="square" lIns="0" tIns="0" rIns="0" bIns="0" rtlCol="0" anchor="t"/>
          <a:lstStyle/>
          <a:p>
            <a:pPr indent="0" marL="0">
              <a:buNone/>
            </a:pPr>
            <a:r>
              <a:rPr lang="en-US" sz="1400" b="1" dirty="0">
                <a:solidFill>
                  <a:srgbClr val="2E7D8F"/>
                </a:solidFill>
                <a:latin typeface="Cambria" pitchFamily="34" charset="0"/>
                <a:ea typeface="Cambria" pitchFamily="34" charset="-122"/>
                <a:cs typeface="Cambria" pitchFamily="34" charset="-120"/>
              </a:rPr>
              <a:t>Detalles que deciden si el test pasa</a:t>
            </a:r>
            <a:endParaRPr lang="en-US" sz="1400" dirty="0"/>
          </a:p>
        </p:txBody>
      </p:sp>
      <p:sp>
        <p:nvSpPr>
          <p:cNvPr id="18" name="Text 16"/>
          <p:cNvSpPr/>
          <p:nvPr/>
        </p:nvSpPr>
        <p:spPr>
          <a:xfrm>
            <a:off x="886968" y="4480560"/>
            <a:ext cx="10417759" cy="1828800"/>
          </a:xfrm>
          <a:prstGeom prst="rect">
            <a:avLst/>
          </a:prstGeom>
          <a:noFill/>
          <a:ln/>
        </p:spPr>
        <p:txBody>
          <a:bodyPr wrap="square" lIns="0" tIns="0" rIns="0" bIns="0" rtlCol="0" anchor="t"/>
          <a:lstStyle/>
          <a:p>
            <a:pPr indent="0" marL="0">
              <a:lnSpc>
                <a:spcPct val="118000"/>
              </a:lnSpc>
              <a:buNone/>
            </a:pPr>
            <a:r>
              <a:rPr lang="en-US" sz="1250" dirty="0">
                <a:solidFill>
                  <a:srgbClr val="2B3648"/>
                </a:solidFill>
                <a:latin typeface="Calibri" pitchFamily="34" charset="0"/>
                <a:ea typeface="Calibri" pitchFamily="34" charset="-122"/>
                <a:cs typeface="Calibri" pitchFamily="34" charset="-120"/>
              </a:rPr>
              <a:t>«Estrictamente» dominante significa mayor, no mayor o igual: si empatan, es False. Ojo con el valor absoluto: acumulás abs de escalares (que es Python puro) y no abs del array entero. Y una forma limpia de armar la suma de la fila sin el término diagonal es sumar todo y restarle |a_ii| al final — pero solo si estás seguro de que el signo no te juega en contra; probalo con una matriz que tenga negativos en la diagonal.</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Ejercicios 12 a 16 — matrices generadas</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Todas salen del Patrón F. La dificultad no es programar: es acertar el índice.</a:t>
            </a:r>
            <a:endParaRPr lang="en-US" sz="1300" dirty="0"/>
          </a:p>
        </p:txBody>
      </p:sp>
      <p:sp>
        <p:nvSpPr>
          <p:cNvPr id="4" name="Shape 2"/>
          <p:cNvSpPr/>
          <p:nvPr/>
        </p:nvSpPr>
        <p:spPr>
          <a:xfrm>
            <a:off x="594360" y="1444752"/>
            <a:ext cx="11002975" cy="731520"/>
          </a:xfrm>
          <a:prstGeom prst="roundRect">
            <a:avLst>
              <a:gd name="adj" fmla="val 7500"/>
            </a:avLst>
          </a:prstGeom>
          <a:solidFill>
            <a:srgbClr val="F1F4F9"/>
          </a:solidFill>
          <a:ln w="12700">
            <a:solidFill>
              <a:srgbClr val="F1F4F9"/>
            </a:solidFill>
            <a:prstDash val="solid"/>
          </a:ln>
        </p:spPr>
      </p:sp>
      <p:sp>
        <p:nvSpPr>
          <p:cNvPr id="5" name="Text 3"/>
          <p:cNvSpPr/>
          <p:nvPr/>
        </p:nvSpPr>
        <p:spPr>
          <a:xfrm>
            <a:off x="813816" y="1527048"/>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12</a:t>
            </a:r>
            <a:endParaRPr lang="en-US" sz="1300" dirty="0"/>
          </a:p>
        </p:txBody>
      </p:sp>
      <p:sp>
        <p:nvSpPr>
          <p:cNvPr id="6" name="Text 4"/>
          <p:cNvSpPr/>
          <p:nvPr/>
        </p:nvSpPr>
        <p:spPr>
          <a:xfrm>
            <a:off x="1600200" y="1527048"/>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matrizCirculante(v)</a:t>
            </a:r>
            <a:endParaRPr lang="en-US" sz="1250" dirty="0"/>
          </a:p>
        </p:txBody>
      </p:sp>
      <p:sp>
        <p:nvSpPr>
          <p:cNvPr id="7" name="Text 5"/>
          <p:cNvSpPr/>
          <p:nvPr/>
        </p:nvSpPr>
        <p:spPr>
          <a:xfrm>
            <a:off x="4160520" y="1508760"/>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Cada fila es la anterior corrida un lugar a la derecha, y el que se cae vuelve a entrar por la izquierda. Pensalo con el resto de la división: el índice da la vuelta módulo n.</a:t>
            </a:r>
            <a:endParaRPr lang="en-US" sz="1200" dirty="0"/>
          </a:p>
        </p:txBody>
      </p:sp>
      <p:sp>
        <p:nvSpPr>
          <p:cNvPr id="8" name="Shape 6"/>
          <p:cNvSpPr/>
          <p:nvPr/>
        </p:nvSpPr>
        <p:spPr>
          <a:xfrm>
            <a:off x="594360" y="2249424"/>
            <a:ext cx="11002975" cy="731520"/>
          </a:xfrm>
          <a:prstGeom prst="roundRect">
            <a:avLst>
              <a:gd name="adj" fmla="val 7500"/>
            </a:avLst>
          </a:prstGeom>
          <a:solidFill>
            <a:srgbClr val="F1F4F9"/>
          </a:solidFill>
          <a:ln w="12700">
            <a:solidFill>
              <a:srgbClr val="F1F4F9"/>
            </a:solidFill>
            <a:prstDash val="solid"/>
          </a:ln>
        </p:spPr>
      </p:sp>
      <p:sp>
        <p:nvSpPr>
          <p:cNvPr id="9" name="Text 7"/>
          <p:cNvSpPr/>
          <p:nvPr/>
        </p:nvSpPr>
        <p:spPr>
          <a:xfrm>
            <a:off x="813816" y="2331720"/>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13</a:t>
            </a:r>
            <a:endParaRPr lang="en-US" sz="1300" dirty="0"/>
          </a:p>
        </p:txBody>
      </p:sp>
      <p:sp>
        <p:nvSpPr>
          <p:cNvPr id="10" name="Text 8"/>
          <p:cNvSpPr/>
          <p:nvPr/>
        </p:nvSpPr>
        <p:spPr>
          <a:xfrm>
            <a:off x="1600200" y="2331720"/>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matrizVandermonde(v)</a:t>
            </a:r>
            <a:endParaRPr lang="en-US" sz="1250" dirty="0"/>
          </a:p>
        </p:txBody>
      </p:sp>
      <p:sp>
        <p:nvSpPr>
          <p:cNvPr id="11" name="Text 9"/>
          <p:cNvSpPr/>
          <p:nvPr/>
        </p:nvSpPr>
        <p:spPr>
          <a:xfrm>
            <a:off x="4160520" y="2313432"/>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Atención: el enunciado dice que la fila i-ésima tiene las potencias (i−1)-ésimas. Eso es la traspuesta de la convención de np.vander. La primera fila te queda de todos unos.</a:t>
            </a:r>
            <a:endParaRPr lang="en-US" sz="1200" dirty="0"/>
          </a:p>
        </p:txBody>
      </p:sp>
      <p:sp>
        <p:nvSpPr>
          <p:cNvPr id="12" name="Shape 10"/>
          <p:cNvSpPr/>
          <p:nvPr/>
        </p:nvSpPr>
        <p:spPr>
          <a:xfrm>
            <a:off x="594360" y="3054096"/>
            <a:ext cx="11002975" cy="731520"/>
          </a:xfrm>
          <a:prstGeom prst="roundRect">
            <a:avLst>
              <a:gd name="adj" fmla="val 7500"/>
            </a:avLst>
          </a:prstGeom>
          <a:solidFill>
            <a:srgbClr val="F1F4F9"/>
          </a:solidFill>
          <a:ln w="12700">
            <a:solidFill>
              <a:srgbClr val="F1F4F9"/>
            </a:solidFill>
            <a:prstDash val="solid"/>
          </a:ln>
        </p:spPr>
      </p:sp>
      <p:sp>
        <p:nvSpPr>
          <p:cNvPr id="13" name="Text 11"/>
          <p:cNvSpPr/>
          <p:nvPr/>
        </p:nvSpPr>
        <p:spPr>
          <a:xfrm>
            <a:off x="813816" y="3136392"/>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14</a:t>
            </a:r>
            <a:endParaRPr lang="en-US" sz="1300" dirty="0"/>
          </a:p>
        </p:txBody>
      </p:sp>
      <p:sp>
        <p:nvSpPr>
          <p:cNvPr id="14" name="Text 12"/>
          <p:cNvSpPr/>
          <p:nvPr/>
        </p:nvSpPr>
        <p:spPr>
          <a:xfrm>
            <a:off x="1600200" y="3136392"/>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numeroAureo(n)</a:t>
            </a:r>
            <a:endParaRPr lang="en-US" sz="1250" dirty="0"/>
          </a:p>
        </p:txBody>
      </p:sp>
      <p:sp>
        <p:nvSpPr>
          <p:cNvPr id="15" name="Text 13"/>
          <p:cNvSpPr/>
          <p:nvPr/>
        </p:nvSpPr>
        <p:spPr>
          <a:xfrm>
            <a:off x="4160520" y="3118104"/>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Escribí F(k+1) = F(k) + F(k−1) como un producto matriz-vector: buscá la matriz 2×2 fija M tal que M por (F_k, F_k−1) da (F_k+1, F_k). Después usá tu propio calcularAx y graficá con matplotlib.</a:t>
            </a:r>
            <a:endParaRPr lang="en-US" sz="1200" dirty="0"/>
          </a:p>
        </p:txBody>
      </p:sp>
      <p:sp>
        <p:nvSpPr>
          <p:cNvPr id="16" name="Shape 14"/>
          <p:cNvSpPr/>
          <p:nvPr/>
        </p:nvSpPr>
        <p:spPr>
          <a:xfrm>
            <a:off x="594360" y="3858768"/>
            <a:ext cx="11002975" cy="731520"/>
          </a:xfrm>
          <a:prstGeom prst="roundRect">
            <a:avLst>
              <a:gd name="adj" fmla="val 7500"/>
            </a:avLst>
          </a:prstGeom>
          <a:solidFill>
            <a:srgbClr val="F1F4F9"/>
          </a:solidFill>
          <a:ln w="12700">
            <a:solidFill>
              <a:srgbClr val="F1F4F9"/>
            </a:solidFill>
            <a:prstDash val="solid"/>
          </a:ln>
        </p:spPr>
      </p:sp>
      <p:sp>
        <p:nvSpPr>
          <p:cNvPr id="17" name="Text 15"/>
          <p:cNvSpPr/>
          <p:nvPr/>
        </p:nvSpPr>
        <p:spPr>
          <a:xfrm>
            <a:off x="813816" y="3941064"/>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15</a:t>
            </a:r>
            <a:endParaRPr lang="en-US" sz="1300" dirty="0"/>
          </a:p>
        </p:txBody>
      </p:sp>
      <p:sp>
        <p:nvSpPr>
          <p:cNvPr id="18" name="Text 16"/>
          <p:cNvSpPr/>
          <p:nvPr/>
        </p:nvSpPr>
        <p:spPr>
          <a:xfrm>
            <a:off x="1600200" y="3941064"/>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matrizFibonacci(n)</a:t>
            </a:r>
            <a:endParaRPr lang="en-US" sz="1250" dirty="0"/>
          </a:p>
        </p:txBody>
      </p:sp>
      <p:sp>
        <p:nvSpPr>
          <p:cNvPr id="19" name="Text 17"/>
          <p:cNvSpPr/>
          <p:nvPr/>
        </p:nvSpPr>
        <p:spPr>
          <a:xfrm>
            <a:off x="4160520" y="3922776"/>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a_ij = F(i+j). Calculá la sucesión una sola vez en una lista y después indexá. Si la recalculás recursivamente en cada celda, el tiempo explota.</a:t>
            </a:r>
            <a:endParaRPr lang="en-US" sz="1200" dirty="0"/>
          </a:p>
        </p:txBody>
      </p:sp>
      <p:sp>
        <p:nvSpPr>
          <p:cNvPr id="20" name="Shape 18"/>
          <p:cNvSpPr/>
          <p:nvPr/>
        </p:nvSpPr>
        <p:spPr>
          <a:xfrm>
            <a:off x="594360" y="4663440"/>
            <a:ext cx="11002975" cy="731520"/>
          </a:xfrm>
          <a:prstGeom prst="roundRect">
            <a:avLst>
              <a:gd name="adj" fmla="val 7500"/>
            </a:avLst>
          </a:prstGeom>
          <a:solidFill>
            <a:srgbClr val="F1F4F9"/>
          </a:solidFill>
          <a:ln w="12700">
            <a:solidFill>
              <a:srgbClr val="F1F4F9"/>
            </a:solidFill>
            <a:prstDash val="solid"/>
          </a:ln>
        </p:spPr>
      </p:sp>
      <p:sp>
        <p:nvSpPr>
          <p:cNvPr id="21" name="Text 19"/>
          <p:cNvSpPr/>
          <p:nvPr/>
        </p:nvSpPr>
        <p:spPr>
          <a:xfrm>
            <a:off x="813816" y="4745736"/>
            <a:ext cx="786384" cy="274320"/>
          </a:xfrm>
          <a:prstGeom prst="rect">
            <a:avLst/>
          </a:prstGeom>
          <a:noFill/>
          <a:ln/>
        </p:spPr>
        <p:txBody>
          <a:bodyPr wrap="square" lIns="0" tIns="0" rIns="0" bIns="0" rtlCol="0" anchor="t"/>
          <a:lstStyle/>
          <a:p>
            <a:pPr indent="0" marL="0">
              <a:buNone/>
            </a:pPr>
            <a:r>
              <a:rPr lang="en-US" sz="1300" b="1" dirty="0">
                <a:solidFill>
                  <a:srgbClr val="E39A2B"/>
                </a:solidFill>
                <a:latin typeface="Cambria" pitchFamily="34" charset="0"/>
                <a:ea typeface="Cambria" pitchFamily="34" charset="-122"/>
                <a:cs typeface="Cambria" pitchFamily="34" charset="-120"/>
              </a:rPr>
              <a:t>Ej 16</a:t>
            </a:r>
            <a:endParaRPr lang="en-US" sz="1300" dirty="0"/>
          </a:p>
        </p:txBody>
      </p:sp>
      <p:sp>
        <p:nvSpPr>
          <p:cNvPr id="22" name="Text 20"/>
          <p:cNvSpPr/>
          <p:nvPr/>
        </p:nvSpPr>
        <p:spPr>
          <a:xfrm>
            <a:off x="1600200" y="4745736"/>
            <a:ext cx="2423160" cy="548640"/>
          </a:xfrm>
          <a:prstGeom prst="rect">
            <a:avLst/>
          </a:prstGeom>
          <a:noFill/>
          <a:ln/>
        </p:spPr>
        <p:txBody>
          <a:bodyPr wrap="square" lIns="0" tIns="0" rIns="0" bIns="0" rtlCol="0" anchor="t"/>
          <a:lstStyle/>
          <a:p>
            <a:pPr indent="0" marL="0">
              <a:lnSpc>
                <a:spcPct val="105000"/>
              </a:lnSpc>
              <a:buNone/>
            </a:pPr>
            <a:r>
              <a:rPr lang="en-US" sz="1250" b="1" dirty="0">
                <a:solidFill>
                  <a:srgbClr val="16233A"/>
                </a:solidFill>
                <a:latin typeface="Courier New" pitchFamily="34" charset="0"/>
                <a:ea typeface="Courier New" pitchFamily="34" charset="-122"/>
                <a:cs typeface="Courier New" pitchFamily="34" charset="-120"/>
              </a:rPr>
              <a:t>matrizHilbert(n)</a:t>
            </a:r>
            <a:endParaRPr lang="en-US" sz="1250" dirty="0"/>
          </a:p>
        </p:txBody>
      </p:sp>
      <p:sp>
        <p:nvSpPr>
          <p:cNvPr id="23" name="Text 21"/>
          <p:cNvSpPr/>
          <p:nvPr/>
        </p:nvSpPr>
        <p:spPr>
          <a:xfrm>
            <a:off x="4160520" y="4727448"/>
            <a:ext cx="7217359" cy="603504"/>
          </a:xfrm>
          <a:prstGeom prst="rect">
            <a:avLst/>
          </a:prstGeom>
          <a:noFill/>
          <a:ln/>
        </p:spPr>
        <p:txBody>
          <a:bodyPr wrap="square" lIns="0" tIns="0" rIns="0" bIns="0" rtlCol="0" anchor="t"/>
          <a:lstStyle/>
          <a:p>
            <a:pPr indent="0" marL="0">
              <a:lnSpc>
                <a:spcPct val="116000"/>
              </a:lnSpc>
              <a:buNone/>
            </a:pPr>
            <a:r>
              <a:rPr lang="en-US" sz="1200" dirty="0">
                <a:solidFill>
                  <a:srgbClr val="2B3648"/>
                </a:solidFill>
                <a:latin typeface="Calibri" pitchFamily="34" charset="0"/>
                <a:ea typeface="Calibri" pitchFamily="34" charset="-122"/>
                <a:cs typeface="Calibri" pitchFamily="34" charset="-120"/>
              </a:rPr>
              <a:t>h_ij = 1/(i+j+1). Con i, j desde 0 esa fórmula da 1, 1/2, 1/3... Escribí la 3×3 a mano y comparala con lo que devuelve tu función antes de dar el ejercicio por cerrado.</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Ejercicio 17 — polinomios, costo y memoria</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El más largo del enunciado, y el único que además pide un análisis escrito.</a:t>
            </a:r>
            <a:endParaRPr lang="en-US" sz="1300" dirty="0"/>
          </a:p>
        </p:txBody>
      </p:sp>
      <p:sp>
        <p:nvSpPr>
          <p:cNvPr id="4" name="Shape 2"/>
          <p:cNvSpPr/>
          <p:nvPr/>
        </p:nvSpPr>
        <p:spPr>
          <a:xfrm>
            <a:off x="594360" y="1444752"/>
            <a:ext cx="5327752" cy="4315968"/>
          </a:xfrm>
          <a:prstGeom prst="roundRect">
            <a:avLst>
              <a:gd name="adj" fmla="val 1695"/>
            </a:avLst>
          </a:prstGeom>
          <a:solidFill>
            <a:srgbClr val="F1F4F9"/>
          </a:solidFill>
          <a:ln w="12700">
            <a:solidFill>
              <a:srgbClr val="D9E1EB"/>
            </a:solidFill>
            <a:prstDash val="solid"/>
          </a:ln>
        </p:spPr>
      </p:sp>
      <p:sp>
        <p:nvSpPr>
          <p:cNvPr id="5" name="Text 3"/>
          <p:cNvSpPr/>
          <p:nvPr/>
        </p:nvSpPr>
        <p:spPr>
          <a:xfrm>
            <a:off x="868680" y="1664208"/>
            <a:ext cx="4779112" cy="274320"/>
          </a:xfrm>
          <a:prstGeom prst="rect">
            <a:avLst/>
          </a:prstGeom>
          <a:noFill/>
          <a:ln/>
        </p:spPr>
        <p:txBody>
          <a:bodyPr wrap="square" lIns="0" tIns="0" rIns="0" bIns="0" rtlCol="0" anchor="t"/>
          <a:lstStyle/>
          <a:p>
            <a:pPr indent="0" marL="0">
              <a:buNone/>
            </a:pPr>
            <a:r>
              <a:rPr lang="en-US" sz="1500" b="1" dirty="0">
                <a:solidFill>
                  <a:srgbClr val="16233A"/>
                </a:solidFill>
                <a:latin typeface="Cambria" pitchFamily="34" charset="0"/>
                <a:ea typeface="Cambria" pitchFamily="34" charset="-122"/>
                <a:cs typeface="Cambria" pitchFamily="34" charset="-120"/>
              </a:rPr>
              <a:t>Lo que pide, desarmado</a:t>
            </a:r>
            <a:endParaRPr lang="en-US" sz="1500" dirty="0"/>
          </a:p>
        </p:txBody>
      </p:sp>
      <p:sp>
        <p:nvSpPr>
          <p:cNvPr id="6" name="Text 4"/>
          <p:cNvSpPr/>
          <p:nvPr/>
        </p:nvSpPr>
        <p:spPr>
          <a:xfrm>
            <a:off x="886968" y="2066544"/>
            <a:ext cx="4742536" cy="182880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50" dirty="0">
                <a:solidFill>
                  <a:srgbClr val="2B3648"/>
                </a:solidFill>
                <a:latin typeface="Calibri" pitchFamily="34" charset="0"/>
                <a:ea typeface="Calibri" pitchFamily="34" charset="-122"/>
                <a:cs typeface="Calibri" pitchFamily="34" charset="-120"/>
              </a:rPr>
              <a:t>Evaluar tres polinomios en 100 puntos equiespaciados entre −1 y 1.</a:t>
            </a:r>
            <a:endParaRPr lang="en-US" sz="1250" dirty="0"/>
          </a:p>
          <a:p>
            <a:pPr marL="342900" indent="-342900">
              <a:lnSpc>
                <a:spcPct val="105000"/>
              </a:lnSpc>
              <a:spcAft>
                <a:spcPts val="600"/>
              </a:spcAft>
              <a:buSzPct val="100000"/>
              <a:buChar char="•"/>
            </a:pPr>
            <a:r>
              <a:rPr lang="en-US" sz="1250" dirty="0">
                <a:solidFill>
                  <a:srgbClr val="2B3648"/>
                </a:solidFill>
                <a:latin typeface="Calibri" pitchFamily="34" charset="0"/>
                <a:ea typeface="Calibri" pitchFamily="34" charset="-122"/>
                <a:cs typeface="Calibri" pitchFamily="34" charset="-120"/>
              </a:rPr>
              <a:t>Graficarlos.</a:t>
            </a:r>
            <a:endParaRPr lang="en-US" sz="1250" dirty="0"/>
          </a:p>
          <a:p>
            <a:pPr marL="342900" indent="-342900">
              <a:lnSpc>
                <a:spcPct val="105000"/>
              </a:lnSpc>
              <a:spcAft>
                <a:spcPts val="600"/>
              </a:spcAft>
              <a:buSzPct val="100000"/>
              <a:buChar char="•"/>
            </a:pPr>
            <a:r>
              <a:rPr lang="en-US" sz="1250" dirty="0">
                <a:solidFill>
                  <a:srgbClr val="2B3648"/>
                </a:solidFill>
                <a:latin typeface="Calibri" pitchFamily="34" charset="0"/>
                <a:ea typeface="Calibri" pitchFamily="34" charset="-122"/>
                <a:cs typeface="Calibri" pitchFamily="34" charset="-120"/>
              </a:rPr>
              <a:t>Contar cuántas operaciones y cuánta memoria hace falta.</a:t>
            </a:r>
            <a:endParaRPr lang="en-US" sz="1250" dirty="0"/>
          </a:p>
          <a:p>
            <a:pPr marL="342900" indent="-342900">
              <a:lnSpc>
                <a:spcPct val="105000"/>
              </a:lnSpc>
              <a:spcAft>
                <a:spcPts val="600"/>
              </a:spcAft>
              <a:buSzPct val="100000"/>
              <a:buChar char="•"/>
            </a:pPr>
            <a:r>
              <a:rPr lang="en-US" sz="1250" dirty="0">
                <a:solidFill>
                  <a:srgbClr val="2B3648"/>
                </a:solidFill>
                <a:latin typeface="Calibri" pitchFamily="34" charset="0"/>
                <a:ea typeface="Calibri" pitchFamily="34" charset="-122"/>
                <a:cs typeface="Calibri" pitchFamily="34" charset="-120"/>
              </a:rPr>
              <a:t>Responder cómo crecen esos números con n.</a:t>
            </a:r>
            <a:endParaRPr lang="en-US" sz="1250" dirty="0"/>
          </a:p>
          <a:p>
            <a:pPr marL="342900" indent="-342900">
              <a:lnSpc>
                <a:spcPct val="105000"/>
              </a:lnSpc>
              <a:spcAft>
                <a:spcPts val="600"/>
              </a:spcAft>
              <a:buSzPct val="100000"/>
              <a:buChar char="•"/>
            </a:pPr>
            <a:r>
              <a:rPr lang="en-US" sz="1250" dirty="0">
                <a:solidFill>
                  <a:srgbClr val="2B3648"/>
                </a:solidFill>
                <a:latin typeface="Calibri" pitchFamily="34" charset="0"/>
                <a:ea typeface="Calibri" pitchFamily="34" charset="-122"/>
                <a:cs typeface="Calibri" pitchFamily="34" charset="-120"/>
              </a:rPr>
              <a:t>Proponer una forma más eficiente de calcularlo.</a:t>
            </a:r>
            <a:endParaRPr lang="en-US" sz="1250" dirty="0"/>
          </a:p>
        </p:txBody>
      </p:sp>
      <p:sp>
        <p:nvSpPr>
          <p:cNvPr id="7" name="Text 5"/>
          <p:cNvSpPr/>
          <p:nvPr/>
        </p:nvSpPr>
        <p:spPr>
          <a:xfrm>
            <a:off x="886968" y="4059936"/>
            <a:ext cx="4742536" cy="1005840"/>
          </a:xfrm>
          <a:prstGeom prst="rect">
            <a:avLst/>
          </a:prstGeom>
          <a:noFill/>
          <a:ln/>
        </p:spPr>
        <p:txBody>
          <a:bodyPr wrap="square" lIns="0" tIns="0" rIns="0" bIns="0" rtlCol="0" anchor="t"/>
          <a:lstStyle/>
          <a:p>
            <a:pPr indent="0" marL="0">
              <a:lnSpc>
                <a:spcPct val="116000"/>
              </a:lnSpc>
              <a:buNone/>
            </a:pPr>
            <a:r>
              <a:rPr lang="en-US" sz="1200" dirty="0">
                <a:solidFill>
                  <a:srgbClr val="6B7A90"/>
                </a:solidFill>
                <a:latin typeface="Calibri" pitchFamily="34" charset="0"/>
                <a:ea typeface="Calibri" pitchFamily="34" charset="-122"/>
                <a:cs typeface="Calibri" pitchFamily="34" charset="-120"/>
              </a:rPr>
              <a:t>Sin np.linspace, los puntos los generás vos: el k-ésimo de n puntos entre −1 y 1 es −1 + 2k/(n−1), con k de 0 a n−1. Verificá que el primero dé exactamente −1 y el último exactamente 1.</a:t>
            </a:r>
            <a:endParaRPr lang="en-US" sz="1200" dirty="0"/>
          </a:p>
        </p:txBody>
      </p:sp>
      <p:sp>
        <p:nvSpPr>
          <p:cNvPr id="8" name="Shape 6"/>
          <p:cNvSpPr/>
          <p:nvPr/>
        </p:nvSpPr>
        <p:spPr>
          <a:xfrm>
            <a:off x="6269584" y="1444752"/>
            <a:ext cx="5327752" cy="2048256"/>
          </a:xfrm>
          <a:prstGeom prst="roundRect">
            <a:avLst>
              <a:gd name="adj" fmla="val 3571"/>
            </a:avLst>
          </a:prstGeom>
          <a:solidFill>
            <a:srgbClr val="FCF2E0"/>
          </a:solidFill>
          <a:ln w="12700">
            <a:solidFill>
              <a:srgbClr val="F0DDB8"/>
            </a:solidFill>
            <a:prstDash val="solid"/>
          </a:ln>
        </p:spPr>
      </p:sp>
      <p:sp>
        <p:nvSpPr>
          <p:cNvPr id="9" name="Text 7"/>
          <p:cNvSpPr/>
          <p:nvPr/>
        </p:nvSpPr>
        <p:spPr>
          <a:xfrm>
            <a:off x="6543904" y="1645920"/>
            <a:ext cx="4779112" cy="274320"/>
          </a:xfrm>
          <a:prstGeom prst="rect">
            <a:avLst/>
          </a:prstGeom>
          <a:noFill/>
          <a:ln/>
        </p:spPr>
        <p:txBody>
          <a:bodyPr wrap="square" lIns="0" tIns="0" rIns="0" bIns="0" rtlCol="0" anchor="t"/>
          <a:lstStyle/>
          <a:p>
            <a:pPr indent="0" marL="0">
              <a:buNone/>
            </a:pPr>
            <a:r>
              <a:rPr lang="en-US" sz="1500" b="1" dirty="0">
                <a:solidFill>
                  <a:srgbClr val="8A6318"/>
                </a:solidFill>
                <a:latin typeface="Cambria" pitchFamily="34" charset="0"/>
                <a:ea typeface="Cambria" pitchFamily="34" charset="-122"/>
                <a:cs typeface="Cambria" pitchFamily="34" charset="-120"/>
              </a:rPr>
              <a:t>La pista está en el enunciado mismo</a:t>
            </a:r>
            <a:endParaRPr lang="en-US" sz="1500" dirty="0"/>
          </a:p>
        </p:txBody>
      </p:sp>
      <p:sp>
        <p:nvSpPr>
          <p:cNvPr id="10" name="Text 8"/>
          <p:cNvSpPr/>
          <p:nvPr/>
        </p:nvSpPr>
        <p:spPr>
          <a:xfrm>
            <a:off x="6543904" y="2029968"/>
            <a:ext cx="4779112" cy="1316736"/>
          </a:xfrm>
          <a:prstGeom prst="rect">
            <a:avLst/>
          </a:prstGeom>
          <a:noFill/>
          <a:ln/>
        </p:spPr>
        <p:txBody>
          <a:bodyPr wrap="square" lIns="0" tIns="0" rIns="0" bIns="0" rtlCol="0" anchor="t"/>
          <a:lstStyle/>
          <a:p>
            <a:pPr indent="0" marL="0">
              <a:lnSpc>
                <a:spcPct val="118000"/>
              </a:lnSpc>
              <a:buNone/>
            </a:pPr>
            <a:r>
              <a:rPr lang="en-US" sz="1250" dirty="0">
                <a:solidFill>
                  <a:srgbClr val="6E5525"/>
                </a:solidFill>
                <a:latin typeface="Calibri" pitchFamily="34" charset="0"/>
                <a:ea typeface="Calibri" pitchFamily="34" charset="-122"/>
                <a:cs typeface="Calibri" pitchFamily="34" charset="-120"/>
              </a:rPr>
              <a:t>Dice: «usando las funciones previamente desarrolladas donde sea posible». Evaluar un polinomio en muchos puntos a la vez es un producto matriz-vector. ¿Qué matriz tiene en su fila k las potencias sucesivas de x_k? Mirá el Ejercicio 13. Y el vector que la multiplica son los coeficientes.</a:t>
            </a:r>
            <a:endParaRPr lang="en-US" sz="1250" dirty="0"/>
          </a:p>
        </p:txBody>
      </p:sp>
      <p:sp>
        <p:nvSpPr>
          <p:cNvPr id="11" name="Shape 9"/>
          <p:cNvSpPr/>
          <p:nvPr/>
        </p:nvSpPr>
        <p:spPr>
          <a:xfrm>
            <a:off x="6269584" y="3712464"/>
            <a:ext cx="5327752" cy="2048256"/>
          </a:xfrm>
          <a:prstGeom prst="roundRect">
            <a:avLst>
              <a:gd name="adj" fmla="val 3571"/>
            </a:avLst>
          </a:prstGeom>
          <a:solidFill>
            <a:srgbClr val="E8F1F3"/>
          </a:solidFill>
          <a:ln w="12700">
            <a:solidFill>
              <a:srgbClr val="CFE0E4"/>
            </a:solidFill>
            <a:prstDash val="solid"/>
          </a:ln>
        </p:spPr>
      </p:sp>
      <p:sp>
        <p:nvSpPr>
          <p:cNvPr id="12" name="Text 10"/>
          <p:cNvSpPr/>
          <p:nvPr/>
        </p:nvSpPr>
        <p:spPr>
          <a:xfrm>
            <a:off x="6543904" y="3913632"/>
            <a:ext cx="4779112" cy="274320"/>
          </a:xfrm>
          <a:prstGeom prst="rect">
            <a:avLst/>
          </a:prstGeom>
          <a:noFill/>
          <a:ln/>
        </p:spPr>
        <p:txBody>
          <a:bodyPr wrap="square" lIns="0" tIns="0" rIns="0" bIns="0" rtlCol="0" anchor="t"/>
          <a:lstStyle/>
          <a:p>
            <a:pPr indent="0" marL="0">
              <a:buNone/>
            </a:pPr>
            <a:r>
              <a:rPr lang="en-US" sz="1500" b="1" dirty="0">
                <a:solidFill>
                  <a:srgbClr val="2E7D8F"/>
                </a:solidFill>
                <a:latin typeface="Cambria" pitchFamily="34" charset="0"/>
                <a:ea typeface="Cambria" pitchFamily="34" charset="-122"/>
                <a:cs typeface="Cambria" pitchFamily="34" charset="-120"/>
              </a:rPr>
              <a:t>Las dos preguntas del final</a:t>
            </a:r>
            <a:endParaRPr lang="en-US" sz="1500" dirty="0"/>
          </a:p>
        </p:txBody>
      </p:sp>
      <p:sp>
        <p:nvSpPr>
          <p:cNvPr id="13" name="Text 11"/>
          <p:cNvSpPr/>
          <p:nvPr/>
        </p:nvSpPr>
        <p:spPr>
          <a:xfrm>
            <a:off x="6543904" y="4297680"/>
            <a:ext cx="4779112" cy="1335024"/>
          </a:xfrm>
          <a:prstGeom prst="rect">
            <a:avLst/>
          </a:prstGeom>
          <a:noFill/>
          <a:ln/>
        </p:spPr>
        <p:txBody>
          <a:bodyPr wrap="square" lIns="0" tIns="0" rIns="0" bIns="0" rtlCol="0" anchor="t"/>
          <a:lstStyle/>
          <a:p>
            <a:pPr indent="0" marL="0">
              <a:lnSpc>
                <a:spcPct val="118000"/>
              </a:lnSpc>
              <a:buNone/>
            </a:pPr>
            <a:r>
              <a:rPr lang="en-US" sz="1250" dirty="0">
                <a:solidFill>
                  <a:srgbClr val="2B3648"/>
                </a:solidFill>
                <a:latin typeface="Calibri" pitchFamily="34" charset="0"/>
                <a:ea typeface="Calibri" pitchFamily="34" charset="-122"/>
                <a:cs typeface="Calibri" pitchFamily="34" charset="-120"/>
              </a:rPr>
              <a:t>Para el conteo: contá multiplicaciones y sumas por punto, multiplicá por la cantidad de puntos, y expresalo en función del grado d y de n. La memoria es la cantidad de floats almacenados por 8 bytes.</a:t>
            </a:r>
            <a:endParaRPr lang="en-US" sz="1250" dirty="0"/>
          </a:p>
          <a:p>
            <a:pPr indent="0" marL="0">
              <a:lnSpc>
                <a:spcPct val="118000"/>
              </a:lnSpc>
              <a:buNone/>
            </a:pPr>
            <a:endParaRPr lang="en-US" sz="1250" dirty="0"/>
          </a:p>
          <a:p>
            <a:pPr indent="0" marL="0">
              <a:lnSpc>
                <a:spcPct val="118000"/>
              </a:lnSpc>
              <a:buNone/>
            </a:pPr>
            <a:r>
              <a:rPr lang="en-US" sz="1250" dirty="0">
                <a:solidFill>
                  <a:srgbClr val="2B3648"/>
                </a:solidFill>
                <a:latin typeface="Calibri" pitchFamily="34" charset="0"/>
                <a:ea typeface="Calibri" pitchFamily="34" charset="-122"/>
                <a:cs typeface="Calibri" pitchFamily="34" charset="-120"/>
              </a:rPr>
              <a:t>Para «¿qué modificaría?»: buscá el método de Horner. Ahí está la respuesta, y es corta.</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Ejercicio 18 — pivoteo parcial</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Modificar row_echelon para elegir mejor el pivote. Y una advertencia sobre el código que te dieron.</a:t>
            </a:r>
            <a:endParaRPr lang="en-US" sz="1300" dirty="0"/>
          </a:p>
        </p:txBody>
      </p:sp>
      <p:sp>
        <p:nvSpPr>
          <p:cNvPr id="4" name="Shape 2"/>
          <p:cNvSpPr/>
          <p:nvPr/>
        </p:nvSpPr>
        <p:spPr>
          <a:xfrm>
            <a:off x="594360" y="1444752"/>
            <a:ext cx="5327752" cy="2212848"/>
          </a:xfrm>
          <a:prstGeom prst="roundRect">
            <a:avLst>
              <a:gd name="adj" fmla="val 3306"/>
            </a:avLst>
          </a:prstGeom>
          <a:solidFill>
            <a:srgbClr val="F1F4F9"/>
          </a:solidFill>
          <a:ln w="12700">
            <a:solidFill>
              <a:srgbClr val="D9E1EB"/>
            </a:solidFill>
            <a:prstDash val="solid"/>
          </a:ln>
        </p:spPr>
      </p:sp>
      <p:sp>
        <p:nvSpPr>
          <p:cNvPr id="5" name="Text 3"/>
          <p:cNvSpPr/>
          <p:nvPr/>
        </p:nvSpPr>
        <p:spPr>
          <a:xfrm>
            <a:off x="868680" y="1645920"/>
            <a:ext cx="4779112" cy="274320"/>
          </a:xfrm>
          <a:prstGeom prst="rect">
            <a:avLst/>
          </a:prstGeom>
          <a:noFill/>
          <a:ln/>
        </p:spPr>
        <p:txBody>
          <a:bodyPr wrap="square" lIns="0" tIns="0" rIns="0" bIns="0" rtlCol="0" anchor="t"/>
          <a:lstStyle/>
          <a:p>
            <a:pPr indent="0" marL="0">
              <a:buNone/>
            </a:pPr>
            <a:r>
              <a:rPr lang="en-US" sz="1500" b="1" dirty="0">
                <a:solidFill>
                  <a:srgbClr val="16233A"/>
                </a:solidFill>
                <a:latin typeface="Cambria" pitchFamily="34" charset="0"/>
                <a:ea typeface="Cambria" pitchFamily="34" charset="-122"/>
                <a:cs typeface="Cambria" pitchFamily="34" charset="-120"/>
              </a:rPr>
              <a:t>Qué hay que agregar</a:t>
            </a:r>
            <a:endParaRPr lang="en-US" sz="1500" dirty="0"/>
          </a:p>
        </p:txBody>
      </p:sp>
      <p:sp>
        <p:nvSpPr>
          <p:cNvPr id="6" name="Text 4"/>
          <p:cNvSpPr/>
          <p:nvPr/>
        </p:nvSpPr>
        <p:spPr>
          <a:xfrm>
            <a:off x="868680" y="2029968"/>
            <a:ext cx="4779112" cy="1481328"/>
          </a:xfrm>
          <a:prstGeom prst="rect">
            <a:avLst/>
          </a:prstGeom>
          <a:noFill/>
          <a:ln/>
        </p:spPr>
        <p:txBody>
          <a:bodyPr wrap="square" lIns="0" tIns="0" rIns="0" bIns="0" rtlCol="0" anchor="t"/>
          <a:lstStyle/>
          <a:p>
            <a:pPr indent="0" marL="0">
              <a:lnSpc>
                <a:spcPct val="118000"/>
              </a:lnSpc>
              <a:buNone/>
            </a:pPr>
            <a:r>
              <a:rPr lang="en-US" sz="1250" dirty="0">
                <a:solidFill>
                  <a:srgbClr val="2B3648"/>
                </a:solidFill>
                <a:latin typeface="Calibri" pitchFamily="34" charset="0"/>
                <a:ea typeface="Calibri" pitchFamily="34" charset="-122"/>
                <a:cs typeface="Calibri" pitchFamily="34" charset="-120"/>
              </a:rPr>
              <a:t>Antes de eliminar en una columna, mirá todos los elementos de esa columna de la fila del pivote hacia abajo, quedate con el de mayor valor absoluto, y si no es el que ya está en el pivote, intercambiá las dos filas.</a:t>
            </a:r>
            <a:endParaRPr lang="en-US" sz="1250" dirty="0"/>
          </a:p>
          <a:p>
            <a:pPr indent="0" marL="0">
              <a:lnSpc>
                <a:spcPct val="118000"/>
              </a:lnSpc>
              <a:buNone/>
            </a:pPr>
            <a:endParaRPr lang="en-US" sz="1250" dirty="0"/>
          </a:p>
          <a:p>
            <a:pPr indent="0" marL="0">
              <a:lnSpc>
                <a:spcPct val="118000"/>
              </a:lnSpc>
              <a:buNone/>
            </a:pPr>
            <a:r>
              <a:rPr lang="en-US" sz="1250" dirty="0">
                <a:solidFill>
                  <a:srgbClr val="2B3648"/>
                </a:solidFill>
                <a:latin typeface="Calibri" pitchFamily="34" charset="0"/>
                <a:ea typeface="Calibri" pitchFamily="34" charset="-122"/>
                <a:cs typeface="Calibri" pitchFamily="34" charset="-120"/>
              </a:rPr>
              <a:t>Reusá tu intercambiarFilas del Ejercicio 9: para eso lo escribiste.</a:t>
            </a:r>
            <a:endParaRPr lang="en-US" sz="1250" dirty="0"/>
          </a:p>
        </p:txBody>
      </p:sp>
      <p:sp>
        <p:nvSpPr>
          <p:cNvPr id="7" name="Shape 5"/>
          <p:cNvSpPr/>
          <p:nvPr/>
        </p:nvSpPr>
        <p:spPr>
          <a:xfrm>
            <a:off x="594360" y="3877056"/>
            <a:ext cx="5327752" cy="1883664"/>
          </a:xfrm>
          <a:prstGeom prst="roundRect">
            <a:avLst>
              <a:gd name="adj" fmla="val 3883"/>
            </a:avLst>
          </a:prstGeom>
          <a:solidFill>
            <a:srgbClr val="EAF4EE"/>
          </a:solidFill>
          <a:ln w="12700">
            <a:solidFill>
              <a:srgbClr val="CFE4D8"/>
            </a:solidFill>
            <a:prstDash val="solid"/>
          </a:ln>
        </p:spPr>
      </p:sp>
      <p:sp>
        <p:nvSpPr>
          <p:cNvPr id="8" name="Text 6"/>
          <p:cNvSpPr/>
          <p:nvPr/>
        </p:nvSpPr>
        <p:spPr>
          <a:xfrm>
            <a:off x="868680" y="4078224"/>
            <a:ext cx="4779112" cy="274320"/>
          </a:xfrm>
          <a:prstGeom prst="rect">
            <a:avLst/>
          </a:prstGeom>
          <a:noFill/>
          <a:ln/>
        </p:spPr>
        <p:txBody>
          <a:bodyPr wrap="square" lIns="0" tIns="0" rIns="0" bIns="0" rtlCol="0" anchor="t"/>
          <a:lstStyle/>
          <a:p>
            <a:pPr indent="0" marL="0">
              <a:buNone/>
            </a:pPr>
            <a:r>
              <a:rPr lang="en-US" sz="1500" b="1" dirty="0">
                <a:solidFill>
                  <a:srgbClr val="2F7D4F"/>
                </a:solidFill>
                <a:latin typeface="Cambria" pitchFamily="34" charset="0"/>
                <a:ea typeface="Cambria" pitchFamily="34" charset="-122"/>
                <a:cs typeface="Cambria" pitchFamily="34" charset="-120"/>
              </a:rPr>
              <a:t>Por qué max y min estaban permitidos</a:t>
            </a:r>
            <a:endParaRPr lang="en-US" sz="1500" dirty="0"/>
          </a:p>
        </p:txBody>
      </p:sp>
      <p:sp>
        <p:nvSpPr>
          <p:cNvPr id="9" name="Text 7"/>
          <p:cNvSpPr/>
          <p:nvPr/>
        </p:nvSpPr>
        <p:spPr>
          <a:xfrm>
            <a:off x="868680" y="4462272"/>
            <a:ext cx="4779112" cy="1133856"/>
          </a:xfrm>
          <a:prstGeom prst="rect">
            <a:avLst/>
          </a:prstGeom>
          <a:noFill/>
          <a:ln/>
        </p:spPr>
        <p:txBody>
          <a:bodyPr wrap="square" lIns="0" tIns="0" rIns="0" bIns="0" rtlCol="0" anchor="t"/>
          <a:lstStyle/>
          <a:p>
            <a:pPr indent="0" marL="0">
              <a:lnSpc>
                <a:spcPct val="118000"/>
              </a:lnSpc>
              <a:buNone/>
            </a:pPr>
            <a:r>
              <a:rPr lang="en-US" sz="1250" dirty="0">
                <a:solidFill>
                  <a:srgbClr val="3E6B52"/>
                </a:solidFill>
                <a:latin typeface="Calibri" pitchFamily="34" charset="0"/>
                <a:ea typeface="Calibri" pitchFamily="34" charset="-122"/>
                <a:cs typeface="Calibri" pitchFamily="34" charset="-120"/>
              </a:rPr>
              <a:t>Este ejercicio es la razón. Ojo: buscás el máximo en módulo, y lo que necesitás es la posición, no el valor. Ahí entra argmax — o un for con dos variables, que también sirve y es más explícito.</a:t>
            </a:r>
            <a:endParaRPr lang="en-US" sz="1250" dirty="0"/>
          </a:p>
        </p:txBody>
      </p:sp>
      <p:sp>
        <p:nvSpPr>
          <p:cNvPr id="10" name="Shape 8"/>
          <p:cNvSpPr/>
          <p:nvPr/>
        </p:nvSpPr>
        <p:spPr>
          <a:xfrm>
            <a:off x="6269584" y="1444752"/>
            <a:ext cx="5327752" cy="2212848"/>
          </a:xfrm>
          <a:prstGeom prst="roundRect">
            <a:avLst>
              <a:gd name="adj" fmla="val 3306"/>
            </a:avLst>
          </a:prstGeom>
          <a:solidFill>
            <a:srgbClr val="FAEDEB"/>
          </a:solidFill>
          <a:ln w="12700">
            <a:solidFill>
              <a:srgbClr val="EDCFCA"/>
            </a:solidFill>
            <a:prstDash val="solid"/>
          </a:ln>
        </p:spPr>
      </p:sp>
      <p:sp>
        <p:nvSpPr>
          <p:cNvPr id="11" name="Text 9"/>
          <p:cNvSpPr/>
          <p:nvPr/>
        </p:nvSpPr>
        <p:spPr>
          <a:xfrm>
            <a:off x="6543904" y="1645920"/>
            <a:ext cx="4779112" cy="274320"/>
          </a:xfrm>
          <a:prstGeom prst="rect">
            <a:avLst/>
          </a:prstGeom>
          <a:noFill/>
          <a:ln/>
        </p:spPr>
        <p:txBody>
          <a:bodyPr wrap="square" lIns="0" tIns="0" rIns="0" bIns="0" rtlCol="0" anchor="t"/>
          <a:lstStyle/>
          <a:p>
            <a:pPr indent="0" marL="0">
              <a:buNone/>
            </a:pPr>
            <a:r>
              <a:rPr lang="en-US" sz="1500" b="1" dirty="0">
                <a:solidFill>
                  <a:srgbClr val="A8453A"/>
                </a:solidFill>
                <a:latin typeface="Cambria" pitchFamily="34" charset="0"/>
                <a:ea typeface="Cambria" pitchFamily="34" charset="-122"/>
                <a:cs typeface="Cambria" pitchFamily="34" charset="-120"/>
              </a:rPr>
              <a:t>Hay un bug en el material de la cátedra</a:t>
            </a:r>
            <a:endParaRPr lang="en-US" sz="1500" dirty="0"/>
          </a:p>
        </p:txBody>
      </p:sp>
      <p:sp>
        <p:nvSpPr>
          <p:cNvPr id="12" name="Text 10"/>
          <p:cNvSpPr/>
          <p:nvPr/>
        </p:nvSpPr>
        <p:spPr>
          <a:xfrm>
            <a:off x="6543904" y="2029968"/>
            <a:ext cx="4779112" cy="914400"/>
          </a:xfrm>
          <a:prstGeom prst="rect">
            <a:avLst/>
          </a:prstGeom>
          <a:noFill/>
          <a:ln/>
        </p:spPr>
        <p:txBody>
          <a:bodyPr wrap="square" lIns="0" tIns="0" rIns="0" bIns="0" rtlCol="0" anchor="t"/>
          <a:lstStyle/>
          <a:p>
            <a:pPr indent="0" marL="0">
              <a:lnSpc>
                <a:spcPct val="118000"/>
              </a:lnSpc>
              <a:buNone/>
            </a:pPr>
            <a:r>
              <a:rPr lang="en-US" sz="1250" dirty="0">
                <a:solidFill>
                  <a:srgbClr val="7A4A42"/>
                </a:solidFill>
                <a:latin typeface="Calibri" pitchFamily="34" charset="0"/>
                <a:ea typeface="Calibri" pitchFamily="34" charset="-122"/>
                <a:cs typeface="Calibri" pitchFamily="34" charset="-120"/>
              </a:rPr>
              <a:t>En L00-NB-Numpy_y_matrices_dl.ipynb, la función row_echelon se llama a sí misma con el nombre escalonar_filas en sus dos llamadas recursivas. Si ejecutás esa celda sola, tirás NameError.</a:t>
            </a:r>
            <a:endParaRPr lang="en-US" sz="1250" dirty="0"/>
          </a:p>
        </p:txBody>
      </p:sp>
      <p:sp>
        <p:nvSpPr>
          <p:cNvPr id="13" name="Shape 11"/>
          <p:cNvSpPr/>
          <p:nvPr/>
        </p:nvSpPr>
        <p:spPr>
          <a:xfrm>
            <a:off x="6543904" y="2962656"/>
            <a:ext cx="4779112" cy="968350"/>
          </a:xfrm>
          <a:prstGeom prst="roundRect">
            <a:avLst>
              <a:gd name="adj" fmla="val 5666"/>
            </a:avLst>
          </a:prstGeom>
          <a:solidFill>
            <a:srgbClr val="1B2436"/>
          </a:solidFill>
          <a:ln w="12700">
            <a:solidFill>
              <a:srgbClr val="1B2436"/>
            </a:solidFill>
            <a:prstDash val="solid"/>
          </a:ln>
        </p:spPr>
      </p:sp>
      <p:sp>
        <p:nvSpPr>
          <p:cNvPr id="14" name="Text 12"/>
          <p:cNvSpPr/>
          <p:nvPr/>
        </p:nvSpPr>
        <p:spPr>
          <a:xfrm>
            <a:off x="6690208" y="3099816"/>
            <a:ext cx="4486504" cy="694030"/>
          </a:xfrm>
          <a:prstGeom prst="rect">
            <a:avLst/>
          </a:prstGeom>
          <a:noFill/>
          <a:ln/>
        </p:spPr>
        <p:txBody>
          <a:bodyPr wrap="square" lIns="0" tIns="0" rIns="0" bIns="0" rtlCol="0" anchor="t"/>
          <a:lstStyle/>
          <a:p>
            <a:pPr indent="0" marL="0">
              <a:lnSpc>
                <a:spcPct val="110000"/>
              </a:lnSpc>
              <a:buNone/>
            </a:pPr>
            <a:r>
              <a:rPr lang="en-US" sz="1000" dirty="0">
                <a:solidFill>
                  <a:srgbClr val="E6ECF5"/>
                </a:solidFill>
                <a:latin typeface="Courier New" pitchFamily="34" charset="0"/>
                <a:ea typeface="Courier New" pitchFamily="34" charset="-122"/>
                <a:cs typeface="Courier New" pitchFamily="34" charset="-120"/>
              </a:rPr>
              <a:t>def row_echelon(M):</a:t>
            </a:r>
            <a:endParaRPr lang="en-US" sz="1000" dirty="0"/>
          </a:p>
          <a:p>
            <a:pPr indent="0" marL="0">
              <a:lnSpc>
                <a:spcPct val="110000"/>
              </a:lnSpc>
              <a:buNone/>
            </a:pPr>
            <a:r>
              <a:rPr lang="en-US" sz="1000" dirty="0">
                <a:solidFill>
                  <a:srgbClr val="E6ECF5"/>
                </a:solidFill>
                <a:latin typeface="Courier New" pitchFamily="34" charset="0"/>
                <a:ea typeface="Courier New" pitchFamily="34" charset="-122"/>
                <a:cs typeface="Courier New" pitchFamily="34" charset="-120"/>
              </a:rPr>
              <a:t>    ...</a:t>
            </a:r>
            <a:endParaRPr lang="en-US" sz="1000" dirty="0"/>
          </a:p>
          <a:p>
            <a:pPr indent="0" marL="0">
              <a:lnSpc>
                <a:spcPct val="110000"/>
              </a:lnSpc>
              <a:buNone/>
            </a:pPr>
            <a:r>
              <a:rPr lang="en-US" sz="1000" dirty="0">
                <a:solidFill>
                  <a:srgbClr val="E6ECF5"/>
                </a:solidFill>
                <a:latin typeface="Courier New" pitchFamily="34" charset="0"/>
                <a:ea typeface="Courier New" pitchFamily="34" charset="-122"/>
                <a:cs typeface="Courier New" pitchFamily="34" charset="-120"/>
              </a:rPr>
              <a:t>    B = escalonar_filas(A[1:, 1:])  # &lt;-</a:t>
            </a:r>
            <a:endParaRPr lang="en-US" sz="1000" dirty="0"/>
          </a:p>
        </p:txBody>
      </p:sp>
      <p:sp>
        <p:nvSpPr>
          <p:cNvPr id="15" name="Shape 13"/>
          <p:cNvSpPr/>
          <p:nvPr/>
        </p:nvSpPr>
        <p:spPr>
          <a:xfrm>
            <a:off x="6269584" y="3877056"/>
            <a:ext cx="5327752" cy="1883664"/>
          </a:xfrm>
          <a:prstGeom prst="roundRect">
            <a:avLst>
              <a:gd name="adj" fmla="val 3883"/>
            </a:avLst>
          </a:prstGeom>
          <a:solidFill>
            <a:srgbClr val="E8F1F3"/>
          </a:solidFill>
          <a:ln w="12700">
            <a:solidFill>
              <a:srgbClr val="CFE0E4"/>
            </a:solidFill>
            <a:prstDash val="solid"/>
          </a:ln>
        </p:spPr>
      </p:sp>
      <p:sp>
        <p:nvSpPr>
          <p:cNvPr id="16" name="Text 14"/>
          <p:cNvSpPr/>
          <p:nvPr/>
        </p:nvSpPr>
        <p:spPr>
          <a:xfrm>
            <a:off x="6543904" y="4078224"/>
            <a:ext cx="4779112" cy="274320"/>
          </a:xfrm>
          <a:prstGeom prst="rect">
            <a:avLst/>
          </a:prstGeom>
          <a:noFill/>
          <a:ln/>
        </p:spPr>
        <p:txBody>
          <a:bodyPr wrap="square" lIns="0" tIns="0" rIns="0" bIns="0" rtlCol="0" anchor="t"/>
          <a:lstStyle/>
          <a:p>
            <a:pPr indent="0" marL="0">
              <a:buNone/>
            </a:pPr>
            <a:r>
              <a:rPr lang="en-US" sz="1500" b="1" dirty="0">
                <a:solidFill>
                  <a:srgbClr val="2E7D8F"/>
                </a:solidFill>
                <a:latin typeface="Cambria" pitchFamily="34" charset="0"/>
                <a:ea typeface="Cambria" pitchFamily="34" charset="-122"/>
                <a:cs typeface="Cambria" pitchFamily="34" charset="-120"/>
              </a:rPr>
              <a:t>Por qué el pivoteo importa de verdad</a:t>
            </a:r>
            <a:endParaRPr lang="en-US" sz="1500" dirty="0"/>
          </a:p>
        </p:txBody>
      </p:sp>
      <p:sp>
        <p:nvSpPr>
          <p:cNvPr id="17" name="Text 15"/>
          <p:cNvSpPr/>
          <p:nvPr/>
        </p:nvSpPr>
        <p:spPr>
          <a:xfrm>
            <a:off x="6543904" y="4462272"/>
            <a:ext cx="4779112" cy="1133856"/>
          </a:xfrm>
          <a:prstGeom prst="rect">
            <a:avLst/>
          </a:prstGeom>
          <a:noFill/>
          <a:ln/>
        </p:spPr>
        <p:txBody>
          <a:bodyPr wrap="square" lIns="0" tIns="0" rIns="0" bIns="0" rtlCol="0" anchor="t"/>
          <a:lstStyle/>
          <a:p>
            <a:pPr indent="0" marL="0">
              <a:lnSpc>
                <a:spcPct val="115000"/>
              </a:lnSpc>
              <a:buNone/>
            </a:pPr>
            <a:r>
              <a:rPr lang="en-US" sz="1200" dirty="0">
                <a:solidFill>
                  <a:srgbClr val="2B3648"/>
                </a:solidFill>
                <a:latin typeface="Calibri" pitchFamily="34" charset="0"/>
                <a:ea typeface="Calibri" pitchFamily="34" charset="-122"/>
                <a:cs typeface="Calibri" pitchFamily="34" charset="-120"/>
              </a:rPr>
              <a:t>Dividir por un pivote muy chico amplifica el error de redondeo de todo lo que venga después. Elegir el mayor en módulo mantiene los multiplicadores por debajo de 1 y el error acotado. No es un capricho de implementación: es estabilidad numérica, y es un tema central de la materia.</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523"/>
        </a:solidFill>
      </p:bgPr>
    </p:bg>
    <p:spTree>
      <p:nvGrpSpPr>
        <p:cNvPr id="1" name=""/>
        <p:cNvGrpSpPr/>
        <p:nvPr/>
      </p:nvGrpSpPr>
      <p:grpSpPr>
        <a:xfrm>
          <a:off x="0" y="0"/>
          <a:ext cx="0" cy="0"/>
          <a:chOff x="0" y="0"/>
          <a:chExt cx="0" cy="0"/>
        </a:xfrm>
      </p:grpSpPr>
      <p:sp>
        <p:nvSpPr>
          <p:cNvPr id="2" name="Text 0"/>
          <p:cNvSpPr/>
          <p:nvPr/>
        </p:nvSpPr>
        <p:spPr>
          <a:xfrm>
            <a:off x="594360" y="1783080"/>
            <a:ext cx="1371600" cy="1371600"/>
          </a:xfrm>
          <a:prstGeom prst="rect">
            <a:avLst/>
          </a:prstGeom>
          <a:noFill/>
          <a:ln/>
        </p:spPr>
        <p:txBody>
          <a:bodyPr wrap="square" lIns="0" tIns="0" rIns="0" bIns="0" rtlCol="0" anchor="ctr"/>
          <a:lstStyle/>
          <a:p>
            <a:pPr indent="0" marL="0">
              <a:buNone/>
            </a:pPr>
            <a:r>
              <a:rPr lang="en-US" sz="8600" b="1" dirty="0">
                <a:solidFill>
                  <a:srgbClr val="E39A2B"/>
                </a:solidFill>
                <a:latin typeface="Cambria" pitchFamily="34" charset="0"/>
                <a:ea typeface="Cambria" pitchFamily="34" charset="-122"/>
                <a:cs typeface="Cambria" pitchFamily="34" charset="-120"/>
              </a:rPr>
              <a:t>5</a:t>
            </a:r>
            <a:endParaRPr lang="en-US" sz="8600" dirty="0"/>
          </a:p>
        </p:txBody>
      </p:sp>
      <p:sp>
        <p:nvSpPr>
          <p:cNvPr id="3" name="Text 1"/>
          <p:cNvSpPr/>
          <p:nvPr/>
        </p:nvSpPr>
        <p:spPr>
          <a:xfrm>
            <a:off x="1920240" y="1874520"/>
            <a:ext cx="749808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Cómo trabajar</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y testear</a:t>
            </a:r>
            <a:endParaRPr lang="en-US" sz="3600" dirty="0"/>
          </a:p>
        </p:txBody>
      </p:sp>
      <p:sp>
        <p:nvSpPr>
          <p:cNvPr id="4" name="Text 2"/>
          <p:cNvSpPr/>
          <p:nvPr/>
        </p:nvSpPr>
        <p:spPr>
          <a:xfrm>
            <a:off x="1947672" y="3108960"/>
            <a:ext cx="7863840" cy="731520"/>
          </a:xfrm>
          <a:prstGeom prst="rect">
            <a:avLst/>
          </a:prstGeom>
          <a:noFill/>
          <a:ln/>
        </p:spPr>
        <p:txBody>
          <a:bodyPr wrap="square" lIns="0" tIns="0" rIns="0" bIns="0" rtlCol="0" anchor="t"/>
          <a:lstStyle/>
          <a:p>
            <a:pPr indent="0" marL="0">
              <a:buNone/>
            </a:pPr>
            <a:r>
              <a:rPr lang="en-US" sz="1500" dirty="0">
                <a:solidFill>
                  <a:srgbClr val="C8D3E4"/>
                </a:solidFill>
                <a:latin typeface="Calibri" pitchFamily="34" charset="0"/>
                <a:ea typeface="Calibri" pitchFamily="34" charset="-122"/>
                <a:cs typeface="Calibri" pitchFamily="34" charset="-120"/>
              </a:rPr>
              <a:t>El enunciado pide un test por ejercicio. Cómo escribirlos, y en qué orden encarar todo.</a:t>
            </a:r>
            <a:endParaRPr lang="en-US" sz="1500" dirty="0"/>
          </a:p>
        </p:txBody>
      </p:sp>
      <p:sp>
        <p:nvSpPr>
          <p:cNvPr id="5" name="Shape 3"/>
          <p:cNvSpPr/>
          <p:nvPr/>
        </p:nvSpPr>
        <p:spPr>
          <a:xfrm>
            <a:off x="9646920" y="2103120"/>
            <a:ext cx="384048" cy="384048"/>
          </a:xfrm>
          <a:prstGeom prst="rect">
            <a:avLst/>
          </a:prstGeom>
          <a:solidFill>
            <a:srgbClr val="E39A2B"/>
          </a:solidFill>
          <a:ln w="12700">
            <a:solidFill>
              <a:srgbClr val="E39A2B"/>
            </a:solidFill>
            <a:prstDash val="solid"/>
          </a:ln>
        </p:spPr>
      </p:sp>
      <p:sp>
        <p:nvSpPr>
          <p:cNvPr id="6" name="Shape 4"/>
          <p:cNvSpPr/>
          <p:nvPr/>
        </p:nvSpPr>
        <p:spPr>
          <a:xfrm>
            <a:off x="10122408" y="2103120"/>
            <a:ext cx="384048" cy="384048"/>
          </a:xfrm>
          <a:prstGeom prst="rect">
            <a:avLst/>
          </a:prstGeom>
          <a:solidFill>
            <a:srgbClr val="1E2C46"/>
          </a:solidFill>
          <a:ln w="12700">
            <a:solidFill>
              <a:srgbClr val="1E2C46"/>
            </a:solidFill>
            <a:prstDash val="solid"/>
          </a:ln>
        </p:spPr>
      </p:sp>
      <p:sp>
        <p:nvSpPr>
          <p:cNvPr id="7" name="Shape 5"/>
          <p:cNvSpPr/>
          <p:nvPr/>
        </p:nvSpPr>
        <p:spPr>
          <a:xfrm>
            <a:off x="10597896" y="2103120"/>
            <a:ext cx="384048" cy="384048"/>
          </a:xfrm>
          <a:prstGeom prst="rect">
            <a:avLst/>
          </a:prstGeom>
          <a:solidFill>
            <a:srgbClr val="1E2C46"/>
          </a:solidFill>
          <a:ln w="12700">
            <a:solidFill>
              <a:srgbClr val="1E2C46"/>
            </a:solidFill>
            <a:prstDash val="solid"/>
          </a:ln>
        </p:spPr>
      </p:sp>
      <p:sp>
        <p:nvSpPr>
          <p:cNvPr id="8" name="Shape 6"/>
          <p:cNvSpPr/>
          <p:nvPr/>
        </p:nvSpPr>
        <p:spPr>
          <a:xfrm>
            <a:off x="11073384" y="2103120"/>
            <a:ext cx="384048" cy="384048"/>
          </a:xfrm>
          <a:prstGeom prst="rect">
            <a:avLst/>
          </a:prstGeom>
          <a:solidFill>
            <a:srgbClr val="1E2C46"/>
          </a:solidFill>
          <a:ln w="12700">
            <a:solidFill>
              <a:srgbClr val="1E2C46"/>
            </a:solidFill>
            <a:prstDash val="solid"/>
          </a:ln>
        </p:spPr>
      </p:sp>
      <p:sp>
        <p:nvSpPr>
          <p:cNvPr id="9" name="Shape 7"/>
          <p:cNvSpPr/>
          <p:nvPr/>
        </p:nvSpPr>
        <p:spPr>
          <a:xfrm>
            <a:off x="9646920" y="2578608"/>
            <a:ext cx="384048" cy="384048"/>
          </a:xfrm>
          <a:prstGeom prst="rect">
            <a:avLst/>
          </a:prstGeom>
          <a:solidFill>
            <a:srgbClr val="1E2C46"/>
          </a:solidFill>
          <a:ln w="12700">
            <a:solidFill>
              <a:srgbClr val="1E2C46"/>
            </a:solidFill>
            <a:prstDash val="solid"/>
          </a:ln>
        </p:spPr>
      </p:sp>
      <p:sp>
        <p:nvSpPr>
          <p:cNvPr id="10" name="Shape 8"/>
          <p:cNvSpPr/>
          <p:nvPr/>
        </p:nvSpPr>
        <p:spPr>
          <a:xfrm>
            <a:off x="10122408" y="2578608"/>
            <a:ext cx="384048" cy="384048"/>
          </a:xfrm>
          <a:prstGeom prst="rect">
            <a:avLst/>
          </a:prstGeom>
          <a:solidFill>
            <a:srgbClr val="E39A2B"/>
          </a:solidFill>
          <a:ln w="12700">
            <a:solidFill>
              <a:srgbClr val="E39A2B"/>
            </a:solidFill>
            <a:prstDash val="solid"/>
          </a:ln>
        </p:spPr>
      </p:sp>
      <p:sp>
        <p:nvSpPr>
          <p:cNvPr id="11" name="Shape 9"/>
          <p:cNvSpPr/>
          <p:nvPr/>
        </p:nvSpPr>
        <p:spPr>
          <a:xfrm>
            <a:off x="10597896" y="2578608"/>
            <a:ext cx="384048" cy="384048"/>
          </a:xfrm>
          <a:prstGeom prst="rect">
            <a:avLst/>
          </a:prstGeom>
          <a:solidFill>
            <a:srgbClr val="1E2C46"/>
          </a:solidFill>
          <a:ln w="12700">
            <a:solidFill>
              <a:srgbClr val="1E2C46"/>
            </a:solidFill>
            <a:prstDash val="solid"/>
          </a:ln>
        </p:spPr>
      </p:sp>
      <p:sp>
        <p:nvSpPr>
          <p:cNvPr id="12" name="Shape 10"/>
          <p:cNvSpPr/>
          <p:nvPr/>
        </p:nvSpPr>
        <p:spPr>
          <a:xfrm>
            <a:off x="11073384" y="2578608"/>
            <a:ext cx="384048" cy="384048"/>
          </a:xfrm>
          <a:prstGeom prst="rect">
            <a:avLst/>
          </a:prstGeom>
          <a:solidFill>
            <a:srgbClr val="1E2C46"/>
          </a:solidFill>
          <a:ln w="12700">
            <a:solidFill>
              <a:srgbClr val="1E2C46"/>
            </a:solidFill>
            <a:prstDash val="solid"/>
          </a:ln>
        </p:spPr>
      </p:sp>
      <p:sp>
        <p:nvSpPr>
          <p:cNvPr id="13" name="Shape 11"/>
          <p:cNvSpPr/>
          <p:nvPr/>
        </p:nvSpPr>
        <p:spPr>
          <a:xfrm>
            <a:off x="9646920" y="3054096"/>
            <a:ext cx="384048" cy="384048"/>
          </a:xfrm>
          <a:prstGeom prst="rect">
            <a:avLst/>
          </a:prstGeom>
          <a:solidFill>
            <a:srgbClr val="1E2C46"/>
          </a:solidFill>
          <a:ln w="12700">
            <a:solidFill>
              <a:srgbClr val="1E2C46"/>
            </a:solidFill>
            <a:prstDash val="solid"/>
          </a:ln>
        </p:spPr>
      </p:sp>
      <p:sp>
        <p:nvSpPr>
          <p:cNvPr id="14" name="Shape 12"/>
          <p:cNvSpPr/>
          <p:nvPr/>
        </p:nvSpPr>
        <p:spPr>
          <a:xfrm>
            <a:off x="10122408" y="3054096"/>
            <a:ext cx="384048" cy="384048"/>
          </a:xfrm>
          <a:prstGeom prst="rect">
            <a:avLst/>
          </a:prstGeom>
          <a:solidFill>
            <a:srgbClr val="1E2C46"/>
          </a:solidFill>
          <a:ln w="12700">
            <a:solidFill>
              <a:srgbClr val="1E2C46"/>
            </a:solidFill>
            <a:prstDash val="solid"/>
          </a:ln>
        </p:spPr>
      </p:sp>
      <p:sp>
        <p:nvSpPr>
          <p:cNvPr id="15" name="Shape 13"/>
          <p:cNvSpPr/>
          <p:nvPr/>
        </p:nvSpPr>
        <p:spPr>
          <a:xfrm>
            <a:off x="10597896" y="3054096"/>
            <a:ext cx="384048" cy="384048"/>
          </a:xfrm>
          <a:prstGeom prst="rect">
            <a:avLst/>
          </a:prstGeom>
          <a:solidFill>
            <a:srgbClr val="E39A2B"/>
          </a:solidFill>
          <a:ln w="12700">
            <a:solidFill>
              <a:srgbClr val="E39A2B"/>
            </a:solidFill>
            <a:prstDash val="solid"/>
          </a:ln>
        </p:spPr>
      </p:sp>
      <p:sp>
        <p:nvSpPr>
          <p:cNvPr id="16" name="Shape 14"/>
          <p:cNvSpPr/>
          <p:nvPr/>
        </p:nvSpPr>
        <p:spPr>
          <a:xfrm>
            <a:off x="11073384" y="3054096"/>
            <a:ext cx="384048" cy="384048"/>
          </a:xfrm>
          <a:prstGeom prst="rect">
            <a:avLst/>
          </a:prstGeom>
          <a:solidFill>
            <a:srgbClr val="1E2C46"/>
          </a:solidFill>
          <a:ln w="12700">
            <a:solidFill>
              <a:srgbClr val="1E2C46"/>
            </a:solidFill>
            <a:prstDash val="solid"/>
          </a:ln>
        </p:spPr>
      </p:sp>
      <p:sp>
        <p:nvSpPr>
          <p:cNvPr id="17" name="Shape 15"/>
          <p:cNvSpPr/>
          <p:nvPr/>
        </p:nvSpPr>
        <p:spPr>
          <a:xfrm>
            <a:off x="9646920" y="3529584"/>
            <a:ext cx="384048" cy="384048"/>
          </a:xfrm>
          <a:prstGeom prst="rect">
            <a:avLst/>
          </a:prstGeom>
          <a:solidFill>
            <a:srgbClr val="1E2C46"/>
          </a:solidFill>
          <a:ln w="12700">
            <a:solidFill>
              <a:srgbClr val="1E2C46"/>
            </a:solidFill>
            <a:prstDash val="solid"/>
          </a:ln>
        </p:spPr>
      </p:sp>
      <p:sp>
        <p:nvSpPr>
          <p:cNvPr id="18" name="Shape 16"/>
          <p:cNvSpPr/>
          <p:nvPr/>
        </p:nvSpPr>
        <p:spPr>
          <a:xfrm>
            <a:off x="10122408" y="3529584"/>
            <a:ext cx="384048" cy="384048"/>
          </a:xfrm>
          <a:prstGeom prst="rect">
            <a:avLst/>
          </a:prstGeom>
          <a:solidFill>
            <a:srgbClr val="1E2C46"/>
          </a:solidFill>
          <a:ln w="12700">
            <a:solidFill>
              <a:srgbClr val="1E2C46"/>
            </a:solidFill>
            <a:prstDash val="solid"/>
          </a:ln>
        </p:spPr>
      </p:sp>
      <p:sp>
        <p:nvSpPr>
          <p:cNvPr id="19" name="Shape 17"/>
          <p:cNvSpPr/>
          <p:nvPr/>
        </p:nvSpPr>
        <p:spPr>
          <a:xfrm>
            <a:off x="10597896" y="3529584"/>
            <a:ext cx="384048" cy="384048"/>
          </a:xfrm>
          <a:prstGeom prst="rect">
            <a:avLst/>
          </a:prstGeom>
          <a:solidFill>
            <a:srgbClr val="1E2C46"/>
          </a:solidFill>
          <a:ln w="12700">
            <a:solidFill>
              <a:srgbClr val="1E2C46"/>
            </a:solidFill>
            <a:prstDash val="solid"/>
          </a:ln>
        </p:spPr>
      </p:sp>
      <p:sp>
        <p:nvSpPr>
          <p:cNvPr id="20" name="Shape 18"/>
          <p:cNvSpPr/>
          <p:nvPr/>
        </p:nvSpPr>
        <p:spPr>
          <a:xfrm>
            <a:off x="11073384" y="3529584"/>
            <a:ext cx="384048" cy="384048"/>
          </a:xfrm>
          <a:prstGeom prst="rect">
            <a:avLst/>
          </a:prstGeom>
          <a:solidFill>
            <a:srgbClr val="E39A2B"/>
          </a:solidFill>
          <a:ln w="12700">
            <a:solidFill>
              <a:srgbClr val="E39A2B"/>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Un test por ejercicio, sin np.allclose</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El enunciado lo pide para cada uno. Y te conviene: es lo que te va a salvar en los labos siguientes.</a:t>
            </a:r>
            <a:endParaRPr lang="en-US" sz="1300" dirty="0"/>
          </a:p>
        </p:txBody>
      </p:sp>
      <p:sp>
        <p:nvSpPr>
          <p:cNvPr id="4" name="Text 2"/>
          <p:cNvSpPr/>
          <p:nvPr/>
        </p:nvSpPr>
        <p:spPr>
          <a:xfrm>
            <a:off x="594360" y="1444752"/>
            <a:ext cx="5327752" cy="274320"/>
          </a:xfrm>
          <a:prstGeom prst="rect">
            <a:avLst/>
          </a:prstGeom>
          <a:noFill/>
          <a:ln/>
        </p:spPr>
        <p:txBody>
          <a:bodyPr wrap="square" lIns="0" tIns="0" rIns="0" bIns="0" rtlCol="0" anchor="t"/>
          <a:lstStyle/>
          <a:p>
            <a:pPr indent="0" marL="0">
              <a:buNone/>
            </a:pPr>
            <a:r>
              <a:rPr lang="en-US" sz="1250" dirty="0">
                <a:solidFill>
                  <a:srgbClr val="2B3648"/>
                </a:solidFill>
                <a:latin typeface="Calibri" pitchFamily="34" charset="0"/>
                <a:ea typeface="Calibri" pitchFamily="34" charset="-122"/>
                <a:cs typeface="Calibri" pitchFamily="34" charset="-120"/>
              </a:rPr>
              <a:t>Necesitás tu propio comparador con tolerancia. El molde:</a:t>
            </a:r>
            <a:endParaRPr lang="en-US" sz="1250" dirty="0"/>
          </a:p>
        </p:txBody>
      </p:sp>
      <p:sp>
        <p:nvSpPr>
          <p:cNvPr id="5" name="Shape 3"/>
          <p:cNvSpPr/>
          <p:nvPr/>
        </p:nvSpPr>
        <p:spPr>
          <a:xfrm>
            <a:off x="594360" y="1810512"/>
            <a:ext cx="5327752" cy="2682850"/>
          </a:xfrm>
          <a:prstGeom prst="roundRect">
            <a:avLst>
              <a:gd name="adj" fmla="val 2045"/>
            </a:avLst>
          </a:prstGeom>
          <a:solidFill>
            <a:srgbClr val="1B2436"/>
          </a:solidFill>
          <a:ln w="12700">
            <a:solidFill>
              <a:srgbClr val="1B2436"/>
            </a:solidFill>
            <a:prstDash val="solid"/>
          </a:ln>
        </p:spPr>
      </p:sp>
      <p:sp>
        <p:nvSpPr>
          <p:cNvPr id="6" name="Text 4"/>
          <p:cNvSpPr/>
          <p:nvPr/>
        </p:nvSpPr>
        <p:spPr>
          <a:xfrm>
            <a:off x="740664" y="1947672"/>
            <a:ext cx="5035144" cy="2408530"/>
          </a:xfrm>
          <a:prstGeom prst="rect">
            <a:avLst/>
          </a:prstGeom>
          <a:noFill/>
          <a:ln/>
        </p:spPr>
        <p:txBody>
          <a:bodyPr wrap="square" lIns="0" tIns="0" rIns="0" bIns="0" rtlCol="0" anchor="t"/>
          <a:lstStyle/>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def casi_iguales(A, B, tol=1e-8):</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    # 1. mismo shape? si no, False</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    # 2. recorrer y comparar cada par</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    #    con abs(a - b) &lt; tol</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    # 3. True si sobrevivio todo</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 y despues, por cada ejercicio:</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assert casi_iguales(traspuesta(A), esperado)</a:t>
            </a:r>
            <a:endParaRPr lang="en-US" sz="1050" dirty="0"/>
          </a:p>
          <a:p>
            <a:pPr indent="0" marL="0">
              <a:lnSpc>
                <a:spcPct val="110000"/>
              </a:lnSpc>
              <a:buNone/>
            </a:pPr>
            <a:r>
              <a:rPr lang="en-US" sz="1050" dirty="0">
                <a:solidFill>
                  <a:srgbClr val="E6ECF5"/>
                </a:solidFill>
                <a:latin typeface="Courier New" pitchFamily="34" charset="0"/>
                <a:ea typeface="Courier New" pitchFamily="34" charset="-122"/>
                <a:cs typeface="Courier New" pitchFamily="34" charset="-120"/>
              </a:rPr>
              <a:t>assert esCuadrada(np.array([[1,2],[3,4]]))</a:t>
            </a:r>
            <a:endParaRPr lang="en-US" sz="1050" dirty="0"/>
          </a:p>
        </p:txBody>
      </p:sp>
      <p:sp>
        <p:nvSpPr>
          <p:cNvPr id="7" name="Shape 5"/>
          <p:cNvSpPr/>
          <p:nvPr/>
        </p:nvSpPr>
        <p:spPr>
          <a:xfrm>
            <a:off x="6269584" y="1444752"/>
            <a:ext cx="5327752" cy="2322576"/>
          </a:xfrm>
          <a:prstGeom prst="roundRect">
            <a:avLst>
              <a:gd name="adj" fmla="val 3150"/>
            </a:avLst>
          </a:prstGeom>
          <a:solidFill>
            <a:srgbClr val="E8F1F3"/>
          </a:solidFill>
          <a:ln w="12700">
            <a:solidFill>
              <a:srgbClr val="CFE0E4"/>
            </a:solidFill>
            <a:prstDash val="solid"/>
          </a:ln>
        </p:spPr>
      </p:sp>
      <p:sp>
        <p:nvSpPr>
          <p:cNvPr id="8" name="Text 6"/>
          <p:cNvSpPr/>
          <p:nvPr/>
        </p:nvSpPr>
        <p:spPr>
          <a:xfrm>
            <a:off x="6543904" y="1627632"/>
            <a:ext cx="4779112" cy="292608"/>
          </a:xfrm>
          <a:prstGeom prst="rect">
            <a:avLst/>
          </a:prstGeom>
          <a:noFill/>
          <a:ln/>
        </p:spPr>
        <p:txBody>
          <a:bodyPr wrap="square" lIns="0" tIns="0" rIns="0" bIns="0" rtlCol="0" anchor="t"/>
          <a:lstStyle/>
          <a:p>
            <a:pPr indent="0" marL="0">
              <a:buNone/>
            </a:pPr>
            <a:r>
              <a:rPr lang="en-US" sz="1450" b="1" dirty="0">
                <a:solidFill>
                  <a:srgbClr val="2E7D8F"/>
                </a:solidFill>
                <a:latin typeface="Cambria" pitchFamily="34" charset="0"/>
                <a:ea typeface="Cambria" pitchFamily="34" charset="-122"/>
                <a:cs typeface="Cambria" pitchFamily="34" charset="-120"/>
              </a:rPr>
              <a:t>Tests cruzados: los que encuentran bugs de verdad</a:t>
            </a:r>
            <a:endParaRPr lang="en-US" sz="1450" dirty="0"/>
          </a:p>
        </p:txBody>
      </p:sp>
      <p:sp>
        <p:nvSpPr>
          <p:cNvPr id="9" name="Text 7"/>
          <p:cNvSpPr/>
          <p:nvPr/>
        </p:nvSpPr>
        <p:spPr>
          <a:xfrm>
            <a:off x="6543904" y="2011680"/>
            <a:ext cx="4779112" cy="493776"/>
          </a:xfrm>
          <a:prstGeom prst="rect">
            <a:avLst/>
          </a:prstGeom>
          <a:noFill/>
          <a:ln/>
        </p:spPr>
        <p:txBody>
          <a:bodyPr wrap="square" lIns="0" tIns="0" rIns="0" bIns="0" rtlCol="0" anchor="t"/>
          <a:lstStyle/>
          <a:p>
            <a:pPr indent="0" marL="0">
              <a:lnSpc>
                <a:spcPct val="114000"/>
              </a:lnSpc>
              <a:buNone/>
            </a:pPr>
            <a:r>
              <a:rPr lang="en-US" sz="1200" dirty="0">
                <a:solidFill>
                  <a:srgbClr val="2B3648"/>
                </a:solidFill>
                <a:latin typeface="Calibri" pitchFamily="34" charset="0"/>
                <a:ea typeface="Calibri" pitchFamily="34" charset="-122"/>
                <a:cs typeface="Calibri" pitchFamily="34" charset="-120"/>
              </a:rPr>
              <a:t>En vez de comparar contra un resultado que escribiste a mano, verificá propiedades que tienen que valer para cualquier matriz:</a:t>
            </a:r>
            <a:endParaRPr lang="en-US" sz="1200" dirty="0"/>
          </a:p>
        </p:txBody>
      </p:sp>
      <p:sp>
        <p:nvSpPr>
          <p:cNvPr id="10" name="Text 8"/>
          <p:cNvSpPr/>
          <p:nvPr/>
        </p:nvSpPr>
        <p:spPr>
          <a:xfrm>
            <a:off x="6543904" y="2560320"/>
            <a:ext cx="4779112" cy="1060704"/>
          </a:xfrm>
          <a:prstGeom prst="rect">
            <a:avLst/>
          </a:prstGeom>
          <a:noFill/>
          <a:ln/>
        </p:spPr>
        <p:txBody>
          <a:bodyPr wrap="square" lIns="0" tIns="0" rIns="0" bIns="0" rtlCol="0" anchor="t"/>
          <a:lstStyle/>
          <a:p>
            <a:pPr indent="0" marL="0">
              <a:lnSpc>
                <a:spcPct val="124000"/>
              </a:lnSpc>
              <a:buNone/>
            </a:pPr>
            <a:r>
              <a:rPr lang="en-US" sz="1050" dirty="0">
                <a:solidFill>
                  <a:srgbClr val="16233A"/>
                </a:solidFill>
                <a:latin typeface="Courier New" pitchFamily="34" charset="0"/>
                <a:ea typeface="Courier New" pitchFamily="34" charset="-122"/>
                <a:cs typeface="Courier New" pitchFamily="34" charset="-120"/>
              </a:rPr>
              <a:t>triangSup(A) + triangInf(A) + diagonal(A)  ==  A</a:t>
            </a:r>
            <a:endParaRPr lang="en-US" sz="1050" dirty="0"/>
          </a:p>
          <a:p>
            <a:pPr indent="0" marL="0">
              <a:lnSpc>
                <a:spcPct val="124000"/>
              </a:lnSpc>
              <a:buNone/>
            </a:pPr>
            <a:r>
              <a:rPr lang="en-US" sz="1050" dirty="0">
                <a:solidFill>
                  <a:srgbClr val="16233A"/>
                </a:solidFill>
                <a:latin typeface="Courier New" pitchFamily="34" charset="0"/>
                <a:ea typeface="Courier New" pitchFamily="34" charset="-122"/>
                <a:cs typeface="Courier New" pitchFamily="34" charset="-120"/>
              </a:rPr>
              <a:t>traspuesta(traspuesta(A))  ==  A</a:t>
            </a:r>
            <a:endParaRPr lang="en-US" sz="1050" dirty="0"/>
          </a:p>
          <a:p>
            <a:pPr indent="0" marL="0">
              <a:lnSpc>
                <a:spcPct val="124000"/>
              </a:lnSpc>
              <a:buNone/>
            </a:pPr>
            <a:r>
              <a:rPr lang="en-US" sz="1050" dirty="0">
                <a:solidFill>
                  <a:srgbClr val="16233A"/>
                </a:solidFill>
                <a:latin typeface="Courier New" pitchFamily="34" charset="0"/>
                <a:ea typeface="Courier New" pitchFamily="34" charset="-122"/>
                <a:cs typeface="Courier New" pitchFamily="34" charset="-120"/>
              </a:rPr>
              <a:t>traza(A)  ==  traza(traspuesta(A))</a:t>
            </a:r>
            <a:endParaRPr lang="en-US" sz="1050" dirty="0"/>
          </a:p>
          <a:p>
            <a:pPr indent="0" marL="0">
              <a:lnSpc>
                <a:spcPct val="124000"/>
              </a:lnSpc>
              <a:buNone/>
            </a:pPr>
            <a:r>
              <a:rPr lang="en-US" sz="1050" dirty="0">
                <a:solidFill>
                  <a:srgbClr val="16233A"/>
                </a:solidFill>
                <a:latin typeface="Courier New" pitchFamily="34" charset="0"/>
                <a:ea typeface="Courier New" pitchFamily="34" charset="-122"/>
                <a:cs typeface="Courier New" pitchFamily="34" charset="-120"/>
              </a:rPr>
              <a:t>esSimetrica(A + traspuesta(A))  ==  True</a:t>
            </a:r>
            <a:endParaRPr lang="en-US" sz="1050" dirty="0"/>
          </a:p>
          <a:p>
            <a:pPr indent="0" marL="0">
              <a:lnSpc>
                <a:spcPct val="124000"/>
              </a:lnSpc>
              <a:buNone/>
            </a:pPr>
            <a:r>
              <a:rPr lang="en-US" sz="1050" dirty="0">
                <a:solidFill>
                  <a:srgbClr val="16233A"/>
                </a:solidFill>
                <a:latin typeface="Courier New" pitchFamily="34" charset="0"/>
                <a:ea typeface="Courier New" pitchFamily="34" charset="-122"/>
                <a:cs typeface="Courier New" pitchFamily="34" charset="-120"/>
              </a:rPr>
              <a:t>intercambiarFilas dos veces  ==  A original</a:t>
            </a:r>
            <a:endParaRPr lang="en-US" sz="1050" dirty="0"/>
          </a:p>
        </p:txBody>
      </p:sp>
      <p:sp>
        <p:nvSpPr>
          <p:cNvPr id="11" name="Shape 9"/>
          <p:cNvSpPr/>
          <p:nvPr/>
        </p:nvSpPr>
        <p:spPr>
          <a:xfrm>
            <a:off x="594360" y="4078224"/>
            <a:ext cx="11002975" cy="1700784"/>
          </a:xfrm>
          <a:prstGeom prst="roundRect">
            <a:avLst>
              <a:gd name="adj" fmla="val 4301"/>
            </a:avLst>
          </a:prstGeom>
          <a:solidFill>
            <a:srgbClr val="F1F4F9"/>
          </a:solidFill>
          <a:ln w="12700">
            <a:solidFill>
              <a:srgbClr val="D9E1EB"/>
            </a:solidFill>
            <a:prstDash val="solid"/>
          </a:ln>
        </p:spPr>
      </p:sp>
      <p:sp>
        <p:nvSpPr>
          <p:cNvPr id="12" name="Text 10"/>
          <p:cNvSpPr/>
          <p:nvPr/>
        </p:nvSpPr>
        <p:spPr>
          <a:xfrm>
            <a:off x="886968" y="4279392"/>
            <a:ext cx="10417759" cy="274320"/>
          </a:xfrm>
          <a:prstGeom prst="rect">
            <a:avLst/>
          </a:prstGeom>
          <a:noFill/>
          <a:ln/>
        </p:spPr>
        <p:txBody>
          <a:bodyPr wrap="square" lIns="0" tIns="0" rIns="0" bIns="0" rtlCol="0" anchor="t"/>
          <a:lstStyle/>
          <a:p>
            <a:pPr indent="0" marL="0">
              <a:buNone/>
            </a:pPr>
            <a:r>
              <a:rPr lang="en-US" sz="1450" b="1" dirty="0">
                <a:solidFill>
                  <a:srgbClr val="16233A"/>
                </a:solidFill>
                <a:latin typeface="Cambria" pitchFamily="34" charset="0"/>
                <a:ea typeface="Cambria" pitchFamily="34" charset="-122"/>
                <a:cs typeface="Cambria" pitchFamily="34" charset="-120"/>
              </a:rPr>
              <a:t>Los casos borde que se olvidan siempre</a:t>
            </a:r>
            <a:endParaRPr lang="en-US" sz="1450" dirty="0"/>
          </a:p>
        </p:txBody>
      </p:sp>
      <p:sp>
        <p:nvSpPr>
          <p:cNvPr id="13" name="Text 11"/>
          <p:cNvSpPr/>
          <p:nvPr/>
        </p:nvSpPr>
        <p:spPr>
          <a:xfrm>
            <a:off x="905256" y="4626864"/>
            <a:ext cx="10362895" cy="1024128"/>
          </a:xfrm>
          <a:prstGeom prst="rect">
            <a:avLst/>
          </a:prstGeom>
          <a:noFill/>
          <a:ln/>
        </p:spPr>
        <p:txBody>
          <a:bodyPr wrap="square" lIns="0" tIns="0" rIns="0" bIns="0" rtlCol="0" anchor="t"/>
          <a:lstStyle/>
          <a:p>
            <a:pPr marL="342900" indent="-342900">
              <a:lnSpc>
                <a:spcPct val="105000"/>
              </a:lnSpc>
              <a:spcAft>
                <a:spcPts val="300"/>
              </a:spcAft>
              <a:buSzPct val="100000"/>
              <a:buChar char="•"/>
            </a:pPr>
            <a:r>
              <a:rPr lang="en-US" sz="1200" dirty="0">
                <a:solidFill>
                  <a:srgbClr val="2B3648"/>
                </a:solidFill>
                <a:latin typeface="Calibri" pitchFamily="34" charset="0"/>
                <a:ea typeface="Calibri" pitchFamily="34" charset="-122"/>
                <a:cs typeface="Calibri" pitchFamily="34" charset="-120"/>
              </a:rPr>
              <a:t>Matriz 1×1, y matriz no cuadrada (3×5 y 5×3, para pescar los range invertidos).</a:t>
            </a:r>
            <a:endParaRPr lang="en-US" sz="1200" dirty="0"/>
          </a:p>
          <a:p>
            <a:pPr marL="342900" indent="-342900">
              <a:lnSpc>
                <a:spcPct val="105000"/>
              </a:lnSpc>
              <a:spcAft>
                <a:spcPts val="300"/>
              </a:spcAft>
              <a:buSzPct val="100000"/>
              <a:buChar char="•"/>
            </a:pPr>
            <a:r>
              <a:rPr lang="en-US" sz="1200" dirty="0">
                <a:solidFill>
                  <a:srgbClr val="2B3648"/>
                </a:solidFill>
                <a:latin typeface="Calibri" pitchFamily="34" charset="0"/>
                <a:ea typeface="Calibri" pitchFamily="34" charset="-122"/>
                <a:cs typeface="Calibri" pitchFamily="34" charset="-120"/>
              </a:rPr>
              <a:t>Matriz con ceros en la diagonal, y matriz con negativos (rompe los valores absolutos mal escritos).</a:t>
            </a:r>
            <a:endParaRPr lang="en-US" sz="1200" dirty="0"/>
          </a:p>
          <a:p>
            <a:pPr marL="342900" indent="-342900">
              <a:lnSpc>
                <a:spcPct val="105000"/>
              </a:lnSpc>
              <a:spcAft>
                <a:spcPts val="300"/>
              </a:spcAft>
              <a:buSzPct val="100000"/>
              <a:buChar char="•"/>
            </a:pPr>
            <a:r>
              <a:rPr lang="en-US" sz="1200" dirty="0">
                <a:solidFill>
                  <a:srgbClr val="2B3648"/>
                </a:solidFill>
                <a:latin typeface="Calibri" pitchFamily="34" charset="0"/>
                <a:ea typeface="Calibri" pitchFamily="34" charset="-122"/>
                <a:cs typeface="Calibri" pitchFamily="34" charset="-120"/>
              </a:rPr>
              <a:t>Matriz de floats además de la de enteros: ahí aparecen los problemas de dtype y de tolerancia.</a:t>
            </a:r>
            <a:endParaRPr lang="en-US" sz="1200" dirty="0"/>
          </a:p>
          <a:p>
            <a:pPr marL="342900" indent="-342900">
              <a:lnSpc>
                <a:spcPct val="105000"/>
              </a:lnSpc>
              <a:spcAft>
                <a:spcPts val="300"/>
              </a:spcAft>
              <a:buSzPct val="100000"/>
              <a:buChar char="•"/>
            </a:pPr>
            <a:r>
              <a:rPr lang="en-US" sz="1200" dirty="0">
                <a:solidFill>
                  <a:srgbClr val="2B3648"/>
                </a:solidFill>
                <a:latin typeface="Calibri" pitchFamily="34" charset="0"/>
                <a:ea typeface="Calibri" pitchFamily="34" charset="-122"/>
                <a:cs typeface="Calibri" pitchFamily="34" charset="-120"/>
              </a:rPr>
              <a:t>Para los in-place: verificá que A cambió después de llamar, no lo que devolvió la función.</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Punto flotante: por qué esSimetrica te puede fallar</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No es un bug tuyo. Es cómo la máquina guarda los números con decimales.</a:t>
            </a:r>
            <a:endParaRPr lang="en-US" sz="1300" dirty="0"/>
          </a:p>
        </p:txBody>
      </p:sp>
      <p:sp>
        <p:nvSpPr>
          <p:cNvPr id="4" name="Shape 2"/>
          <p:cNvSpPr/>
          <p:nvPr/>
        </p:nvSpPr>
        <p:spPr>
          <a:xfrm>
            <a:off x="594360" y="1444752"/>
            <a:ext cx="5327752" cy="1668780"/>
          </a:xfrm>
          <a:prstGeom prst="roundRect">
            <a:avLst>
              <a:gd name="adj" fmla="val 3288"/>
            </a:avLst>
          </a:prstGeom>
          <a:solidFill>
            <a:srgbClr val="1B2436"/>
          </a:solidFill>
          <a:ln w="12700">
            <a:solidFill>
              <a:srgbClr val="1B2436"/>
            </a:solidFill>
            <a:prstDash val="solid"/>
          </a:ln>
        </p:spPr>
      </p:sp>
      <p:sp>
        <p:nvSpPr>
          <p:cNvPr id="5" name="Text 3"/>
          <p:cNvSpPr/>
          <p:nvPr/>
        </p:nvSpPr>
        <p:spPr>
          <a:xfrm>
            <a:off x="740664" y="1581912"/>
            <a:ext cx="5035144" cy="1394460"/>
          </a:xfrm>
          <a:prstGeom prst="rect">
            <a:avLst/>
          </a:prstGeom>
          <a:noFill/>
          <a:ln/>
        </p:spPr>
        <p:txBody>
          <a:bodyPr wrap="square" lIns="0" tIns="0" rIns="0" bIns="0" rtlCol="0" anchor="t"/>
          <a:lstStyle/>
          <a:p>
            <a:pPr indent="0" marL="0">
              <a:lnSpc>
                <a:spcPct val="110000"/>
              </a:lnSpc>
              <a:buNone/>
            </a:pPr>
            <a:r>
              <a:rPr lang="en-US" sz="1250" dirty="0">
                <a:solidFill>
                  <a:srgbClr val="E6ECF5"/>
                </a:solidFill>
                <a:latin typeface="Courier New" pitchFamily="34" charset="0"/>
                <a:ea typeface="Courier New" pitchFamily="34" charset="-122"/>
                <a:cs typeface="Courier New" pitchFamily="34" charset="-120"/>
              </a:rPr>
              <a:t>&gt;&gt;&gt; 0.1 + 0.2</a:t>
            </a:r>
            <a:endParaRPr lang="en-US" sz="1250" dirty="0"/>
          </a:p>
          <a:p>
            <a:pPr indent="0" marL="0">
              <a:lnSpc>
                <a:spcPct val="110000"/>
              </a:lnSpc>
              <a:buNone/>
            </a:pPr>
            <a:r>
              <a:rPr lang="en-US" sz="1250" dirty="0">
                <a:solidFill>
                  <a:srgbClr val="E6ECF5"/>
                </a:solidFill>
                <a:latin typeface="Courier New" pitchFamily="34" charset="0"/>
                <a:ea typeface="Courier New" pitchFamily="34" charset="-122"/>
                <a:cs typeface="Courier New" pitchFamily="34" charset="-120"/>
              </a:rPr>
              <a:t>0.30000000000000004</a:t>
            </a:r>
            <a:endParaRPr lang="en-US" sz="1250" dirty="0"/>
          </a:p>
          <a:p>
            <a:pPr indent="0" marL="0">
              <a:lnSpc>
                <a:spcPct val="110000"/>
              </a:lnSpc>
              <a:buNone/>
            </a:pPr>
            <a:endParaRPr lang="en-US" sz="1250" dirty="0"/>
          </a:p>
          <a:p>
            <a:pPr indent="0" marL="0">
              <a:lnSpc>
                <a:spcPct val="110000"/>
              </a:lnSpc>
              <a:buNone/>
            </a:pPr>
            <a:r>
              <a:rPr lang="en-US" sz="1250" dirty="0">
                <a:solidFill>
                  <a:srgbClr val="E6ECF5"/>
                </a:solidFill>
                <a:latin typeface="Courier New" pitchFamily="34" charset="0"/>
                <a:ea typeface="Courier New" pitchFamily="34" charset="-122"/>
                <a:cs typeface="Courier New" pitchFamily="34" charset="-120"/>
              </a:rPr>
              <a:t>&gt;&gt;&gt; 0.1 + 0.2 == 0.3</a:t>
            </a:r>
            <a:endParaRPr lang="en-US" sz="1250" dirty="0"/>
          </a:p>
          <a:p>
            <a:pPr indent="0" marL="0">
              <a:lnSpc>
                <a:spcPct val="110000"/>
              </a:lnSpc>
              <a:buNone/>
            </a:pPr>
            <a:r>
              <a:rPr lang="en-US" sz="1250" dirty="0">
                <a:solidFill>
                  <a:srgbClr val="E6ECF5"/>
                </a:solidFill>
                <a:latin typeface="Courier New" pitchFamily="34" charset="0"/>
                <a:ea typeface="Courier New" pitchFamily="34" charset="-122"/>
                <a:cs typeface="Courier New" pitchFamily="34" charset="-120"/>
              </a:rPr>
              <a:t>False</a:t>
            </a:r>
            <a:endParaRPr lang="en-US" sz="1250" dirty="0"/>
          </a:p>
        </p:txBody>
      </p:sp>
      <p:sp>
        <p:nvSpPr>
          <p:cNvPr id="6" name="Shape 4"/>
          <p:cNvSpPr/>
          <p:nvPr/>
        </p:nvSpPr>
        <p:spPr>
          <a:xfrm>
            <a:off x="6269584" y="1444752"/>
            <a:ext cx="5327752" cy="1572768"/>
          </a:xfrm>
          <a:prstGeom prst="roundRect">
            <a:avLst>
              <a:gd name="adj" fmla="val 4651"/>
            </a:avLst>
          </a:prstGeom>
          <a:solidFill>
            <a:srgbClr val="FCF2E0"/>
          </a:solidFill>
          <a:ln w="12700">
            <a:solidFill>
              <a:srgbClr val="F0DDB8"/>
            </a:solidFill>
            <a:prstDash val="solid"/>
          </a:ln>
        </p:spPr>
      </p:sp>
      <p:sp>
        <p:nvSpPr>
          <p:cNvPr id="7" name="Text 5"/>
          <p:cNvSpPr/>
          <p:nvPr/>
        </p:nvSpPr>
        <p:spPr>
          <a:xfrm>
            <a:off x="6543904" y="1627632"/>
            <a:ext cx="4779112" cy="274320"/>
          </a:xfrm>
          <a:prstGeom prst="rect">
            <a:avLst/>
          </a:prstGeom>
          <a:noFill/>
          <a:ln/>
        </p:spPr>
        <p:txBody>
          <a:bodyPr wrap="square" lIns="0" tIns="0" rIns="0" bIns="0" rtlCol="0" anchor="t"/>
          <a:lstStyle/>
          <a:p>
            <a:pPr indent="0" marL="0">
              <a:buNone/>
            </a:pPr>
            <a:r>
              <a:rPr lang="en-US" sz="1500" b="1" dirty="0">
                <a:solidFill>
                  <a:srgbClr val="8A6318"/>
                </a:solidFill>
                <a:latin typeface="Cambria" pitchFamily="34" charset="0"/>
                <a:ea typeface="Cambria" pitchFamily="34" charset="-122"/>
                <a:cs typeface="Cambria" pitchFamily="34" charset="-120"/>
              </a:rPr>
              <a:t>La regla</a:t>
            </a:r>
            <a:endParaRPr lang="en-US" sz="1500" dirty="0"/>
          </a:p>
        </p:txBody>
      </p:sp>
      <p:sp>
        <p:nvSpPr>
          <p:cNvPr id="8" name="Text 6"/>
          <p:cNvSpPr/>
          <p:nvPr/>
        </p:nvSpPr>
        <p:spPr>
          <a:xfrm>
            <a:off x="6543904" y="2011680"/>
            <a:ext cx="4779112" cy="822960"/>
          </a:xfrm>
          <a:prstGeom prst="rect">
            <a:avLst/>
          </a:prstGeom>
          <a:noFill/>
          <a:ln/>
        </p:spPr>
        <p:txBody>
          <a:bodyPr wrap="square" lIns="0" tIns="0" rIns="0" bIns="0" rtlCol="0" anchor="t"/>
          <a:lstStyle/>
          <a:p>
            <a:pPr indent="0" marL="0">
              <a:lnSpc>
                <a:spcPct val="118000"/>
              </a:lnSpc>
              <a:buNone/>
            </a:pPr>
            <a:r>
              <a:rPr lang="en-US" sz="1300" dirty="0">
                <a:solidFill>
                  <a:srgbClr val="6E5525"/>
                </a:solidFill>
                <a:latin typeface="Calibri" pitchFamily="34" charset="0"/>
                <a:ea typeface="Calibri" pitchFamily="34" charset="-122"/>
                <a:cs typeface="Calibri" pitchFamily="34" charset="-120"/>
              </a:rPr>
              <a:t>Nunca compares floats con ==. Compará la distancia contra una tolerancia:  abs(a − b) &lt; 1e-8.</a:t>
            </a:r>
            <a:endParaRPr lang="en-US" sz="1300" dirty="0"/>
          </a:p>
        </p:txBody>
      </p:sp>
      <p:sp>
        <p:nvSpPr>
          <p:cNvPr id="9" name="Shape 7"/>
          <p:cNvSpPr/>
          <p:nvPr/>
        </p:nvSpPr>
        <p:spPr>
          <a:xfrm>
            <a:off x="594360" y="3328416"/>
            <a:ext cx="11002975" cy="2670048"/>
          </a:xfrm>
          <a:prstGeom prst="roundRect">
            <a:avLst>
              <a:gd name="adj" fmla="val 2740"/>
            </a:avLst>
          </a:prstGeom>
          <a:solidFill>
            <a:srgbClr val="F1F4F9"/>
          </a:solidFill>
          <a:ln w="12700">
            <a:solidFill>
              <a:srgbClr val="D9E1EB"/>
            </a:solidFill>
            <a:prstDash val="solid"/>
          </a:ln>
        </p:spPr>
      </p:sp>
      <p:sp>
        <p:nvSpPr>
          <p:cNvPr id="10" name="Text 8"/>
          <p:cNvSpPr/>
          <p:nvPr/>
        </p:nvSpPr>
        <p:spPr>
          <a:xfrm>
            <a:off x="886968" y="3529584"/>
            <a:ext cx="10417759" cy="274320"/>
          </a:xfrm>
          <a:prstGeom prst="rect">
            <a:avLst/>
          </a:prstGeom>
          <a:noFill/>
          <a:ln/>
        </p:spPr>
        <p:txBody>
          <a:bodyPr wrap="square" lIns="0" tIns="0" rIns="0" bIns="0" rtlCol="0" anchor="t"/>
          <a:lstStyle/>
          <a:p>
            <a:pPr indent="0" marL="0">
              <a:buNone/>
            </a:pPr>
            <a:r>
              <a:rPr lang="en-US" sz="1500" b="1" dirty="0">
                <a:solidFill>
                  <a:srgbClr val="16233A"/>
                </a:solidFill>
                <a:latin typeface="Cambria" pitchFamily="34" charset="0"/>
                <a:ea typeface="Cambria" pitchFamily="34" charset="-122"/>
                <a:cs typeface="Cambria" pitchFamily="34" charset="-120"/>
              </a:rPr>
              <a:t>Cómo aparece en este labo</a:t>
            </a:r>
            <a:endParaRPr lang="en-US" sz="1500" dirty="0"/>
          </a:p>
        </p:txBody>
      </p:sp>
      <p:sp>
        <p:nvSpPr>
          <p:cNvPr id="11" name="Text 9"/>
          <p:cNvSpPr/>
          <p:nvPr/>
        </p:nvSpPr>
        <p:spPr>
          <a:xfrm>
            <a:off x="905256" y="3877056"/>
            <a:ext cx="10362895" cy="1993392"/>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Ejercicio 7: una matriz que matemáticamente es simétrica puede tener a_ij y a_ji distintos en el bit 17 si vienen de una cuenta. Con == te da False y no vas a entender por qué.</a:t>
            </a:r>
            <a:endParaRPr lang="en-US" sz="1250" dirty="0"/>
          </a:p>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Ejercicio 16 (Hilbert): sus valores son fracciones que no tienen representación exacta en binario. Cualquier test que compare contra valores escritos a mano necesita tolerancia.</a:t>
            </a:r>
            <a:endParaRPr lang="en-US" sz="1250" dirty="0"/>
          </a:p>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Ejercicio 14: la sucesión converge al áureo, no lo alcanza. Tu test tiene que verificar que la diferencia se achica, no que da exactamente φ.</a:t>
            </a:r>
            <a:endParaRPr lang="en-US" sz="1250" dirty="0"/>
          </a:p>
          <a:p>
            <a:pPr marL="342900" indent="-342900">
              <a:lnSpc>
                <a:spcPct val="105000"/>
              </a:lnSpc>
              <a:spcAft>
                <a:spcPts val="500"/>
              </a:spcAft>
              <a:buSzPct val="100000"/>
              <a:buChar char="•"/>
            </a:pPr>
            <a:r>
              <a:rPr lang="en-US" sz="1250" dirty="0">
                <a:solidFill>
                  <a:srgbClr val="2B3648"/>
                </a:solidFill>
                <a:latin typeface="Calibri" pitchFamily="34" charset="0"/>
                <a:ea typeface="Calibri" pitchFamily="34" charset="-122"/>
                <a:cs typeface="Calibri" pitchFamily="34" charset="-120"/>
              </a:rPr>
              <a:t>Ejercicio 18: acá el tema es al revés — el pivoteo existe justamente para que el error de redondeo no se amplifique. Es el mismo fenómeno visto desde el otro lado.</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65760"/>
            <a:ext cx="11002975" cy="566928"/>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En qué orden encararlos, y qué revisar antes de cerrar</a:t>
            </a:r>
            <a:endParaRPr lang="en-US" sz="3000" dirty="0"/>
          </a:p>
        </p:txBody>
      </p:sp>
      <p:sp>
        <p:nvSpPr>
          <p:cNvPr id="3" name="Text 1"/>
          <p:cNvSpPr/>
          <p:nvPr/>
        </p:nvSpPr>
        <p:spPr>
          <a:xfrm>
            <a:off x="594360" y="932688"/>
            <a:ext cx="11002975" cy="310896"/>
          </a:xfrm>
          <a:prstGeom prst="rect">
            <a:avLst/>
          </a:prstGeom>
          <a:noFill/>
          <a:ln/>
        </p:spPr>
        <p:txBody>
          <a:bodyPr wrap="square" lIns="0" tIns="0" rIns="0" bIns="0" rtlCol="0" anchor="ctr"/>
          <a:lstStyle/>
          <a:p>
            <a:pPr indent="0" marL="0">
              <a:buNone/>
            </a:pPr>
            <a:r>
              <a:rPr lang="en-US" sz="1300" i="1" dirty="0">
                <a:solidFill>
                  <a:srgbClr val="6B7A90"/>
                </a:solidFill>
                <a:latin typeface="Calibri" pitchFamily="34" charset="0"/>
                <a:ea typeface="Calibri" pitchFamily="34" charset="-122"/>
                <a:cs typeface="Calibri" pitchFamily="34" charset="-120"/>
              </a:rPr>
              <a:t>Cada bloque reusa el anterior. Si los hacés en este orden, casi no repetís trabajo.</a:t>
            </a:r>
            <a:endParaRPr lang="en-US" sz="1300" dirty="0"/>
          </a:p>
        </p:txBody>
      </p:sp>
      <p:sp>
        <p:nvSpPr>
          <p:cNvPr id="4" name="Shape 2"/>
          <p:cNvSpPr/>
          <p:nvPr/>
        </p:nvSpPr>
        <p:spPr>
          <a:xfrm>
            <a:off x="612648" y="1481328"/>
            <a:ext cx="310896" cy="310896"/>
          </a:xfrm>
          <a:prstGeom prst="ellipse">
            <a:avLst/>
          </a:prstGeom>
          <a:solidFill>
            <a:srgbClr val="2E7D8F"/>
          </a:solidFill>
          <a:ln w="12700">
            <a:solidFill>
              <a:srgbClr val="2E7D8F"/>
            </a:solidFill>
            <a:prstDash val="solid"/>
          </a:ln>
        </p:spPr>
      </p:sp>
      <p:sp>
        <p:nvSpPr>
          <p:cNvPr id="5" name="Text 3"/>
          <p:cNvSpPr/>
          <p:nvPr/>
        </p:nvSpPr>
        <p:spPr>
          <a:xfrm>
            <a:off x="612648" y="1481328"/>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Cambria" pitchFamily="34" charset="0"/>
                <a:ea typeface="Cambria" pitchFamily="34" charset="-122"/>
                <a:cs typeface="Cambria" pitchFamily="34" charset="-120"/>
              </a:rPr>
              <a:t>1</a:t>
            </a:r>
            <a:endParaRPr lang="en-US" sz="884" dirty="0"/>
          </a:p>
        </p:txBody>
      </p:sp>
      <p:sp>
        <p:nvSpPr>
          <p:cNvPr id="6" name="Text 4"/>
          <p:cNvSpPr/>
          <p:nvPr/>
        </p:nvSpPr>
        <p:spPr>
          <a:xfrm>
            <a:off x="1051560" y="1463040"/>
            <a:ext cx="1600200" cy="274320"/>
          </a:xfrm>
          <a:prstGeom prst="rect">
            <a:avLst/>
          </a:prstGeom>
          <a:noFill/>
          <a:ln/>
        </p:spPr>
        <p:txBody>
          <a:bodyPr wrap="square" lIns="0" tIns="0" rIns="0" bIns="0" rtlCol="0" anchor="t"/>
          <a:lstStyle/>
          <a:p>
            <a:pPr indent="0" marL="0">
              <a:buNone/>
            </a:pPr>
            <a:r>
              <a:rPr lang="en-US" sz="1250" b="1" dirty="0">
                <a:solidFill>
                  <a:srgbClr val="16233A"/>
                </a:solidFill>
                <a:latin typeface="Cambria" pitchFamily="34" charset="0"/>
                <a:ea typeface="Cambria" pitchFamily="34" charset="-122"/>
                <a:cs typeface="Cambria" pitchFamily="34" charset="-120"/>
              </a:rPr>
              <a:t>Ej 1, 5, 6</a:t>
            </a:r>
            <a:endParaRPr lang="en-US" sz="1250" dirty="0"/>
          </a:p>
        </p:txBody>
      </p:sp>
      <p:sp>
        <p:nvSpPr>
          <p:cNvPr id="7" name="Text 5"/>
          <p:cNvSpPr/>
          <p:nvPr/>
        </p:nvSpPr>
        <p:spPr>
          <a:xfrm>
            <a:off x="2697480" y="1463040"/>
            <a:ext cx="4617720" cy="512064"/>
          </a:xfrm>
          <a:prstGeom prst="rect">
            <a:avLst/>
          </a:prstGeom>
          <a:noFill/>
          <a:ln/>
        </p:spPr>
        <p:txBody>
          <a:bodyPr wrap="square" lIns="0" tIns="0" rIns="0" bIns="0" rtlCol="0" anchor="t"/>
          <a:lstStyle/>
          <a:p>
            <a:pPr indent="0" marL="0">
              <a:lnSpc>
                <a:spcPct val="114000"/>
              </a:lnSpc>
              <a:buNone/>
            </a:pPr>
            <a:r>
              <a:rPr lang="en-US" sz="1150" dirty="0">
                <a:solidFill>
                  <a:srgbClr val="6B7A90"/>
                </a:solidFill>
                <a:latin typeface="Calibri" pitchFamily="34" charset="0"/>
                <a:ea typeface="Calibri" pitchFamily="34" charset="-122"/>
                <a:cs typeface="Calibri" pitchFamily="34" charset="-120"/>
              </a:rPr>
              <a:t>Los más simples. Te dejan cómodo con shape, con los dos for y con el acumulador.</a:t>
            </a:r>
            <a:endParaRPr lang="en-US" sz="1150" dirty="0"/>
          </a:p>
        </p:txBody>
      </p:sp>
      <p:sp>
        <p:nvSpPr>
          <p:cNvPr id="8" name="Shape 6"/>
          <p:cNvSpPr/>
          <p:nvPr/>
        </p:nvSpPr>
        <p:spPr>
          <a:xfrm>
            <a:off x="612648" y="2057400"/>
            <a:ext cx="310896" cy="310896"/>
          </a:xfrm>
          <a:prstGeom prst="ellipse">
            <a:avLst/>
          </a:prstGeom>
          <a:solidFill>
            <a:srgbClr val="2E7D8F"/>
          </a:solidFill>
          <a:ln w="12700">
            <a:solidFill>
              <a:srgbClr val="2E7D8F"/>
            </a:solidFill>
            <a:prstDash val="solid"/>
          </a:ln>
        </p:spPr>
      </p:sp>
      <p:sp>
        <p:nvSpPr>
          <p:cNvPr id="9" name="Text 7"/>
          <p:cNvSpPr/>
          <p:nvPr/>
        </p:nvSpPr>
        <p:spPr>
          <a:xfrm>
            <a:off x="612648" y="2057400"/>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Cambria" pitchFamily="34" charset="0"/>
                <a:ea typeface="Cambria" pitchFamily="34" charset="-122"/>
                <a:cs typeface="Cambria" pitchFamily="34" charset="-120"/>
              </a:rPr>
              <a:t>2</a:t>
            </a:r>
            <a:endParaRPr lang="en-US" sz="884" dirty="0"/>
          </a:p>
        </p:txBody>
      </p:sp>
      <p:sp>
        <p:nvSpPr>
          <p:cNvPr id="10" name="Text 8"/>
          <p:cNvSpPr/>
          <p:nvPr/>
        </p:nvSpPr>
        <p:spPr>
          <a:xfrm>
            <a:off x="1051560" y="2039112"/>
            <a:ext cx="1600200" cy="274320"/>
          </a:xfrm>
          <a:prstGeom prst="rect">
            <a:avLst/>
          </a:prstGeom>
          <a:noFill/>
          <a:ln/>
        </p:spPr>
        <p:txBody>
          <a:bodyPr wrap="square" lIns="0" tIns="0" rIns="0" bIns="0" rtlCol="0" anchor="t"/>
          <a:lstStyle/>
          <a:p>
            <a:pPr indent="0" marL="0">
              <a:buNone/>
            </a:pPr>
            <a:r>
              <a:rPr lang="en-US" sz="1250" b="1" dirty="0">
                <a:solidFill>
                  <a:srgbClr val="16233A"/>
                </a:solidFill>
                <a:latin typeface="Cambria" pitchFamily="34" charset="0"/>
                <a:ea typeface="Cambria" pitchFamily="34" charset="-122"/>
                <a:cs typeface="Cambria" pitchFamily="34" charset="-120"/>
              </a:rPr>
              <a:t>Ej 2, 3, 4</a:t>
            </a:r>
            <a:endParaRPr lang="en-US" sz="1250" dirty="0"/>
          </a:p>
        </p:txBody>
      </p:sp>
      <p:sp>
        <p:nvSpPr>
          <p:cNvPr id="11" name="Text 9"/>
          <p:cNvSpPr/>
          <p:nvPr/>
        </p:nvSpPr>
        <p:spPr>
          <a:xfrm>
            <a:off x="2697480" y="2039112"/>
            <a:ext cx="4617720" cy="512064"/>
          </a:xfrm>
          <a:prstGeom prst="rect">
            <a:avLst/>
          </a:prstGeom>
          <a:noFill/>
          <a:ln/>
        </p:spPr>
        <p:txBody>
          <a:bodyPr wrap="square" lIns="0" tIns="0" rIns="0" bIns="0" rtlCol="0" anchor="t"/>
          <a:lstStyle/>
          <a:p>
            <a:pPr indent="0" marL="0">
              <a:lnSpc>
                <a:spcPct val="114000"/>
              </a:lnSpc>
              <a:buNone/>
            </a:pPr>
            <a:r>
              <a:rPr lang="en-US" sz="1150" dirty="0">
                <a:solidFill>
                  <a:srgbClr val="6B7A90"/>
                </a:solidFill>
                <a:latin typeface="Calibri" pitchFamily="34" charset="0"/>
                <a:ea typeface="Calibri" pitchFamily="34" charset="-122"/>
                <a:cs typeface="Calibri" pitchFamily="34" charset="-120"/>
              </a:rPr>
              <a:t>Mismo molde, distinto rango. Y acá armás el test cruzado de reconstrucción.</a:t>
            </a:r>
            <a:endParaRPr lang="en-US" sz="1150" dirty="0"/>
          </a:p>
        </p:txBody>
      </p:sp>
      <p:sp>
        <p:nvSpPr>
          <p:cNvPr id="12" name="Shape 10"/>
          <p:cNvSpPr/>
          <p:nvPr/>
        </p:nvSpPr>
        <p:spPr>
          <a:xfrm>
            <a:off x="612648" y="2633472"/>
            <a:ext cx="310896" cy="310896"/>
          </a:xfrm>
          <a:prstGeom prst="ellipse">
            <a:avLst/>
          </a:prstGeom>
          <a:solidFill>
            <a:srgbClr val="2E7D8F"/>
          </a:solidFill>
          <a:ln w="12700">
            <a:solidFill>
              <a:srgbClr val="2E7D8F"/>
            </a:solidFill>
            <a:prstDash val="solid"/>
          </a:ln>
        </p:spPr>
      </p:sp>
      <p:sp>
        <p:nvSpPr>
          <p:cNvPr id="13" name="Text 11"/>
          <p:cNvSpPr/>
          <p:nvPr/>
        </p:nvSpPr>
        <p:spPr>
          <a:xfrm>
            <a:off x="612648" y="2633472"/>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Cambria" pitchFamily="34" charset="0"/>
                <a:ea typeface="Cambria" pitchFamily="34" charset="-122"/>
                <a:cs typeface="Cambria" pitchFamily="34" charset="-120"/>
              </a:rPr>
              <a:t>3</a:t>
            </a:r>
            <a:endParaRPr lang="en-US" sz="884" dirty="0"/>
          </a:p>
        </p:txBody>
      </p:sp>
      <p:sp>
        <p:nvSpPr>
          <p:cNvPr id="14" name="Text 12"/>
          <p:cNvSpPr/>
          <p:nvPr/>
        </p:nvSpPr>
        <p:spPr>
          <a:xfrm>
            <a:off x="1051560" y="2615184"/>
            <a:ext cx="1600200" cy="274320"/>
          </a:xfrm>
          <a:prstGeom prst="rect">
            <a:avLst/>
          </a:prstGeom>
          <a:noFill/>
          <a:ln/>
        </p:spPr>
        <p:txBody>
          <a:bodyPr wrap="square" lIns="0" tIns="0" rIns="0" bIns="0" rtlCol="0" anchor="t"/>
          <a:lstStyle/>
          <a:p>
            <a:pPr indent="0" marL="0">
              <a:buNone/>
            </a:pPr>
            <a:r>
              <a:rPr lang="en-US" sz="1250" b="1" dirty="0">
                <a:solidFill>
                  <a:srgbClr val="16233A"/>
                </a:solidFill>
                <a:latin typeface="Cambria" pitchFamily="34" charset="0"/>
                <a:ea typeface="Cambria" pitchFamily="34" charset="-122"/>
                <a:cs typeface="Cambria" pitchFamily="34" charset="-120"/>
              </a:rPr>
              <a:t>Ej 9, 10</a:t>
            </a:r>
            <a:endParaRPr lang="en-US" sz="1250" dirty="0"/>
          </a:p>
        </p:txBody>
      </p:sp>
      <p:sp>
        <p:nvSpPr>
          <p:cNvPr id="15" name="Text 13"/>
          <p:cNvSpPr/>
          <p:nvPr/>
        </p:nvSpPr>
        <p:spPr>
          <a:xfrm>
            <a:off x="2697480" y="2615184"/>
            <a:ext cx="4617720" cy="512064"/>
          </a:xfrm>
          <a:prstGeom prst="rect">
            <a:avLst/>
          </a:prstGeom>
          <a:noFill/>
          <a:ln/>
        </p:spPr>
        <p:txBody>
          <a:bodyPr wrap="square" lIns="0" tIns="0" rIns="0" bIns="0" rtlCol="0" anchor="t"/>
          <a:lstStyle/>
          <a:p>
            <a:pPr indent="0" marL="0">
              <a:lnSpc>
                <a:spcPct val="114000"/>
              </a:lnSpc>
              <a:buNone/>
            </a:pPr>
            <a:r>
              <a:rPr lang="en-US" sz="1150" dirty="0">
                <a:solidFill>
                  <a:srgbClr val="6B7A90"/>
                </a:solidFill>
                <a:latin typeface="Calibri" pitchFamily="34" charset="0"/>
                <a:ea typeface="Calibri" pitchFamily="34" charset="-122"/>
                <a:cs typeface="Calibri" pitchFamily="34" charset="-120"/>
              </a:rPr>
              <a:t>Las operaciones elementales. Es donde aprendés in-place y vistas.</a:t>
            </a:r>
            <a:endParaRPr lang="en-US" sz="1150" dirty="0"/>
          </a:p>
        </p:txBody>
      </p:sp>
      <p:sp>
        <p:nvSpPr>
          <p:cNvPr id="16" name="Shape 14"/>
          <p:cNvSpPr/>
          <p:nvPr/>
        </p:nvSpPr>
        <p:spPr>
          <a:xfrm>
            <a:off x="612648" y="3209544"/>
            <a:ext cx="310896" cy="310896"/>
          </a:xfrm>
          <a:prstGeom prst="ellipse">
            <a:avLst/>
          </a:prstGeom>
          <a:solidFill>
            <a:srgbClr val="2E7D8F"/>
          </a:solidFill>
          <a:ln w="12700">
            <a:solidFill>
              <a:srgbClr val="2E7D8F"/>
            </a:solidFill>
            <a:prstDash val="solid"/>
          </a:ln>
        </p:spPr>
      </p:sp>
      <p:sp>
        <p:nvSpPr>
          <p:cNvPr id="17" name="Text 15"/>
          <p:cNvSpPr/>
          <p:nvPr/>
        </p:nvSpPr>
        <p:spPr>
          <a:xfrm>
            <a:off x="612648" y="3209544"/>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Cambria" pitchFamily="34" charset="0"/>
                <a:ea typeface="Cambria" pitchFamily="34" charset="-122"/>
                <a:cs typeface="Cambria" pitchFamily="34" charset="-120"/>
              </a:rPr>
              <a:t>4</a:t>
            </a:r>
            <a:endParaRPr lang="en-US" sz="884" dirty="0"/>
          </a:p>
        </p:txBody>
      </p:sp>
      <p:sp>
        <p:nvSpPr>
          <p:cNvPr id="18" name="Text 16"/>
          <p:cNvSpPr/>
          <p:nvPr/>
        </p:nvSpPr>
        <p:spPr>
          <a:xfrm>
            <a:off x="1051560" y="3191256"/>
            <a:ext cx="1600200" cy="274320"/>
          </a:xfrm>
          <a:prstGeom prst="rect">
            <a:avLst/>
          </a:prstGeom>
          <a:noFill/>
          <a:ln/>
        </p:spPr>
        <p:txBody>
          <a:bodyPr wrap="square" lIns="0" tIns="0" rIns="0" bIns="0" rtlCol="0" anchor="t"/>
          <a:lstStyle/>
          <a:p>
            <a:pPr indent="0" marL="0">
              <a:buNone/>
            </a:pPr>
            <a:r>
              <a:rPr lang="en-US" sz="1250" b="1" dirty="0">
                <a:solidFill>
                  <a:srgbClr val="16233A"/>
                </a:solidFill>
                <a:latin typeface="Cambria" pitchFamily="34" charset="0"/>
                <a:ea typeface="Cambria" pitchFamily="34" charset="-122"/>
                <a:cs typeface="Cambria" pitchFamily="34" charset="-120"/>
              </a:rPr>
              <a:t>Ej 7, 11</a:t>
            </a:r>
            <a:endParaRPr lang="en-US" sz="1250" dirty="0"/>
          </a:p>
        </p:txBody>
      </p:sp>
      <p:sp>
        <p:nvSpPr>
          <p:cNvPr id="19" name="Text 17"/>
          <p:cNvSpPr/>
          <p:nvPr/>
        </p:nvSpPr>
        <p:spPr>
          <a:xfrm>
            <a:off x="2697480" y="3191256"/>
            <a:ext cx="4617720" cy="512064"/>
          </a:xfrm>
          <a:prstGeom prst="rect">
            <a:avLst/>
          </a:prstGeom>
          <a:noFill/>
          <a:ln/>
        </p:spPr>
        <p:txBody>
          <a:bodyPr wrap="square" lIns="0" tIns="0" rIns="0" bIns="0" rtlCol="0" anchor="t"/>
          <a:lstStyle/>
          <a:p>
            <a:pPr indent="0" marL="0">
              <a:lnSpc>
                <a:spcPct val="114000"/>
              </a:lnSpc>
              <a:buNone/>
            </a:pPr>
            <a:r>
              <a:rPr lang="en-US" sz="1150" dirty="0">
                <a:solidFill>
                  <a:srgbClr val="6B7A90"/>
                </a:solidFill>
                <a:latin typeface="Calibri" pitchFamily="34" charset="0"/>
                <a:ea typeface="Calibri" pitchFamily="34" charset="-122"/>
                <a:cs typeface="Calibri" pitchFamily="34" charset="-120"/>
              </a:rPr>
              <a:t>Los booleanos. Ya tenés traspuesta, así que el 7 sale rápido.</a:t>
            </a:r>
            <a:endParaRPr lang="en-US" sz="1150" dirty="0"/>
          </a:p>
        </p:txBody>
      </p:sp>
      <p:sp>
        <p:nvSpPr>
          <p:cNvPr id="20" name="Shape 18"/>
          <p:cNvSpPr/>
          <p:nvPr/>
        </p:nvSpPr>
        <p:spPr>
          <a:xfrm>
            <a:off x="612648" y="3785616"/>
            <a:ext cx="310896" cy="310896"/>
          </a:xfrm>
          <a:prstGeom prst="ellipse">
            <a:avLst/>
          </a:prstGeom>
          <a:solidFill>
            <a:srgbClr val="2E7D8F"/>
          </a:solidFill>
          <a:ln w="12700">
            <a:solidFill>
              <a:srgbClr val="2E7D8F"/>
            </a:solidFill>
            <a:prstDash val="solid"/>
          </a:ln>
        </p:spPr>
      </p:sp>
      <p:sp>
        <p:nvSpPr>
          <p:cNvPr id="21" name="Text 19"/>
          <p:cNvSpPr/>
          <p:nvPr/>
        </p:nvSpPr>
        <p:spPr>
          <a:xfrm>
            <a:off x="612648" y="3785616"/>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Cambria" pitchFamily="34" charset="0"/>
                <a:ea typeface="Cambria" pitchFamily="34" charset="-122"/>
                <a:cs typeface="Cambria" pitchFamily="34" charset="-120"/>
              </a:rPr>
              <a:t>5</a:t>
            </a:r>
            <a:endParaRPr lang="en-US" sz="884" dirty="0"/>
          </a:p>
        </p:txBody>
      </p:sp>
      <p:sp>
        <p:nvSpPr>
          <p:cNvPr id="22" name="Text 20"/>
          <p:cNvSpPr/>
          <p:nvPr/>
        </p:nvSpPr>
        <p:spPr>
          <a:xfrm>
            <a:off x="1051560" y="3767328"/>
            <a:ext cx="1600200" cy="274320"/>
          </a:xfrm>
          <a:prstGeom prst="rect">
            <a:avLst/>
          </a:prstGeom>
          <a:noFill/>
          <a:ln/>
        </p:spPr>
        <p:txBody>
          <a:bodyPr wrap="square" lIns="0" tIns="0" rIns="0" bIns="0" rtlCol="0" anchor="t"/>
          <a:lstStyle/>
          <a:p>
            <a:pPr indent="0" marL="0">
              <a:buNone/>
            </a:pPr>
            <a:r>
              <a:rPr lang="en-US" sz="1250" b="1" dirty="0">
                <a:solidFill>
                  <a:srgbClr val="16233A"/>
                </a:solidFill>
                <a:latin typeface="Cambria" pitchFamily="34" charset="0"/>
                <a:ea typeface="Cambria" pitchFamily="34" charset="-122"/>
                <a:cs typeface="Cambria" pitchFamily="34" charset="-120"/>
              </a:rPr>
              <a:t>Ej 8</a:t>
            </a:r>
            <a:endParaRPr lang="en-US" sz="1250" dirty="0"/>
          </a:p>
        </p:txBody>
      </p:sp>
      <p:sp>
        <p:nvSpPr>
          <p:cNvPr id="23" name="Text 21"/>
          <p:cNvSpPr/>
          <p:nvPr/>
        </p:nvSpPr>
        <p:spPr>
          <a:xfrm>
            <a:off x="2697480" y="3767328"/>
            <a:ext cx="4617720" cy="512064"/>
          </a:xfrm>
          <a:prstGeom prst="rect">
            <a:avLst/>
          </a:prstGeom>
          <a:noFill/>
          <a:ln/>
        </p:spPr>
        <p:txBody>
          <a:bodyPr wrap="square" lIns="0" tIns="0" rIns="0" bIns="0" rtlCol="0" anchor="t"/>
          <a:lstStyle/>
          <a:p>
            <a:pPr indent="0" marL="0">
              <a:lnSpc>
                <a:spcPct val="114000"/>
              </a:lnSpc>
              <a:buNone/>
            </a:pPr>
            <a:r>
              <a:rPr lang="en-US" sz="1150" dirty="0">
                <a:solidFill>
                  <a:srgbClr val="6B7A90"/>
                </a:solidFill>
                <a:latin typeface="Calibri" pitchFamily="34" charset="0"/>
                <a:ea typeface="Calibri" pitchFamily="34" charset="-122"/>
                <a:cs typeface="Calibri" pitchFamily="34" charset="-120"/>
              </a:rPr>
              <a:t>El producto matriz-vector. Lo vas a necesitar en el 14 y en el 17.</a:t>
            </a:r>
            <a:endParaRPr lang="en-US" sz="1150" dirty="0"/>
          </a:p>
        </p:txBody>
      </p:sp>
      <p:sp>
        <p:nvSpPr>
          <p:cNvPr id="24" name="Shape 22"/>
          <p:cNvSpPr/>
          <p:nvPr/>
        </p:nvSpPr>
        <p:spPr>
          <a:xfrm>
            <a:off x="612648" y="4361688"/>
            <a:ext cx="310896" cy="310896"/>
          </a:xfrm>
          <a:prstGeom prst="ellipse">
            <a:avLst/>
          </a:prstGeom>
          <a:solidFill>
            <a:srgbClr val="2E7D8F"/>
          </a:solidFill>
          <a:ln w="12700">
            <a:solidFill>
              <a:srgbClr val="2E7D8F"/>
            </a:solidFill>
            <a:prstDash val="solid"/>
          </a:ln>
        </p:spPr>
      </p:sp>
      <p:sp>
        <p:nvSpPr>
          <p:cNvPr id="25" name="Text 23"/>
          <p:cNvSpPr/>
          <p:nvPr/>
        </p:nvSpPr>
        <p:spPr>
          <a:xfrm>
            <a:off x="612648" y="4361688"/>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Cambria" pitchFamily="34" charset="0"/>
                <a:ea typeface="Cambria" pitchFamily="34" charset="-122"/>
                <a:cs typeface="Cambria" pitchFamily="34" charset="-120"/>
              </a:rPr>
              <a:t>6</a:t>
            </a:r>
            <a:endParaRPr lang="en-US" sz="884" dirty="0"/>
          </a:p>
        </p:txBody>
      </p:sp>
      <p:sp>
        <p:nvSpPr>
          <p:cNvPr id="26" name="Text 24"/>
          <p:cNvSpPr/>
          <p:nvPr/>
        </p:nvSpPr>
        <p:spPr>
          <a:xfrm>
            <a:off x="1051560" y="4343400"/>
            <a:ext cx="1600200" cy="274320"/>
          </a:xfrm>
          <a:prstGeom prst="rect">
            <a:avLst/>
          </a:prstGeom>
          <a:noFill/>
          <a:ln/>
        </p:spPr>
        <p:txBody>
          <a:bodyPr wrap="square" lIns="0" tIns="0" rIns="0" bIns="0" rtlCol="0" anchor="t"/>
          <a:lstStyle/>
          <a:p>
            <a:pPr indent="0" marL="0">
              <a:buNone/>
            </a:pPr>
            <a:r>
              <a:rPr lang="en-US" sz="1250" b="1" dirty="0">
                <a:solidFill>
                  <a:srgbClr val="16233A"/>
                </a:solidFill>
                <a:latin typeface="Cambria" pitchFamily="34" charset="0"/>
                <a:ea typeface="Cambria" pitchFamily="34" charset="-122"/>
                <a:cs typeface="Cambria" pitchFamily="34" charset="-120"/>
              </a:rPr>
              <a:t>Ej 12, 13, 15, 16</a:t>
            </a:r>
            <a:endParaRPr lang="en-US" sz="1250" dirty="0"/>
          </a:p>
        </p:txBody>
      </p:sp>
      <p:sp>
        <p:nvSpPr>
          <p:cNvPr id="27" name="Text 25"/>
          <p:cNvSpPr/>
          <p:nvPr/>
        </p:nvSpPr>
        <p:spPr>
          <a:xfrm>
            <a:off x="2697480" y="4343400"/>
            <a:ext cx="4617720" cy="512064"/>
          </a:xfrm>
          <a:prstGeom prst="rect">
            <a:avLst/>
          </a:prstGeom>
          <a:noFill/>
          <a:ln/>
        </p:spPr>
        <p:txBody>
          <a:bodyPr wrap="square" lIns="0" tIns="0" rIns="0" bIns="0" rtlCol="0" anchor="t"/>
          <a:lstStyle/>
          <a:p>
            <a:pPr indent="0" marL="0">
              <a:lnSpc>
                <a:spcPct val="114000"/>
              </a:lnSpc>
              <a:buNone/>
            </a:pPr>
            <a:r>
              <a:rPr lang="en-US" sz="1150" dirty="0">
                <a:solidFill>
                  <a:srgbClr val="6B7A90"/>
                </a:solidFill>
                <a:latin typeface="Calibri" pitchFamily="34" charset="0"/>
                <a:ea typeface="Calibri" pitchFamily="34" charset="-122"/>
                <a:cs typeface="Calibri" pitchFamily="34" charset="-120"/>
              </a:rPr>
              <a:t>Las matrices generadas. Puro Patrón F, con cuidado en los índices.</a:t>
            </a:r>
            <a:endParaRPr lang="en-US" sz="1150" dirty="0"/>
          </a:p>
        </p:txBody>
      </p:sp>
      <p:sp>
        <p:nvSpPr>
          <p:cNvPr id="28" name="Shape 26"/>
          <p:cNvSpPr/>
          <p:nvPr/>
        </p:nvSpPr>
        <p:spPr>
          <a:xfrm>
            <a:off x="612648" y="4937760"/>
            <a:ext cx="310896" cy="310896"/>
          </a:xfrm>
          <a:prstGeom prst="ellipse">
            <a:avLst/>
          </a:prstGeom>
          <a:solidFill>
            <a:srgbClr val="2E7D8F"/>
          </a:solidFill>
          <a:ln w="12700">
            <a:solidFill>
              <a:srgbClr val="2E7D8F"/>
            </a:solidFill>
            <a:prstDash val="solid"/>
          </a:ln>
        </p:spPr>
      </p:sp>
      <p:sp>
        <p:nvSpPr>
          <p:cNvPr id="29" name="Text 27"/>
          <p:cNvSpPr/>
          <p:nvPr/>
        </p:nvSpPr>
        <p:spPr>
          <a:xfrm>
            <a:off x="612648" y="4937760"/>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Cambria" pitchFamily="34" charset="0"/>
                <a:ea typeface="Cambria" pitchFamily="34" charset="-122"/>
                <a:cs typeface="Cambria" pitchFamily="34" charset="-120"/>
              </a:rPr>
              <a:t>7</a:t>
            </a:r>
            <a:endParaRPr lang="en-US" sz="884" dirty="0"/>
          </a:p>
        </p:txBody>
      </p:sp>
      <p:sp>
        <p:nvSpPr>
          <p:cNvPr id="30" name="Text 28"/>
          <p:cNvSpPr/>
          <p:nvPr/>
        </p:nvSpPr>
        <p:spPr>
          <a:xfrm>
            <a:off x="1051560" y="4919472"/>
            <a:ext cx="1600200" cy="274320"/>
          </a:xfrm>
          <a:prstGeom prst="rect">
            <a:avLst/>
          </a:prstGeom>
          <a:noFill/>
          <a:ln/>
        </p:spPr>
        <p:txBody>
          <a:bodyPr wrap="square" lIns="0" tIns="0" rIns="0" bIns="0" rtlCol="0" anchor="t"/>
          <a:lstStyle/>
          <a:p>
            <a:pPr indent="0" marL="0">
              <a:buNone/>
            </a:pPr>
            <a:r>
              <a:rPr lang="en-US" sz="1250" b="1" dirty="0">
                <a:solidFill>
                  <a:srgbClr val="16233A"/>
                </a:solidFill>
                <a:latin typeface="Cambria" pitchFamily="34" charset="0"/>
                <a:ea typeface="Cambria" pitchFamily="34" charset="-122"/>
                <a:cs typeface="Cambria" pitchFamily="34" charset="-120"/>
              </a:rPr>
              <a:t>Ej 14, 17</a:t>
            </a:r>
            <a:endParaRPr lang="en-US" sz="1250" dirty="0"/>
          </a:p>
        </p:txBody>
      </p:sp>
      <p:sp>
        <p:nvSpPr>
          <p:cNvPr id="31" name="Text 29"/>
          <p:cNvSpPr/>
          <p:nvPr/>
        </p:nvSpPr>
        <p:spPr>
          <a:xfrm>
            <a:off x="2697480" y="4919472"/>
            <a:ext cx="4617720" cy="512064"/>
          </a:xfrm>
          <a:prstGeom prst="rect">
            <a:avLst/>
          </a:prstGeom>
          <a:noFill/>
          <a:ln/>
        </p:spPr>
        <p:txBody>
          <a:bodyPr wrap="square" lIns="0" tIns="0" rIns="0" bIns="0" rtlCol="0" anchor="t"/>
          <a:lstStyle/>
          <a:p>
            <a:pPr indent="0" marL="0">
              <a:lnSpc>
                <a:spcPct val="114000"/>
              </a:lnSpc>
              <a:buNone/>
            </a:pPr>
            <a:r>
              <a:rPr lang="en-US" sz="1150" dirty="0">
                <a:solidFill>
                  <a:srgbClr val="6B7A90"/>
                </a:solidFill>
                <a:latin typeface="Calibri" pitchFamily="34" charset="0"/>
                <a:ea typeface="Calibri" pitchFamily="34" charset="-122"/>
                <a:cs typeface="Calibri" pitchFamily="34" charset="-120"/>
              </a:rPr>
              <a:t>Los que combinan varias funciones anteriores y piden gráficos.</a:t>
            </a:r>
            <a:endParaRPr lang="en-US" sz="1150" dirty="0"/>
          </a:p>
        </p:txBody>
      </p:sp>
      <p:sp>
        <p:nvSpPr>
          <p:cNvPr id="32" name="Shape 30"/>
          <p:cNvSpPr/>
          <p:nvPr/>
        </p:nvSpPr>
        <p:spPr>
          <a:xfrm>
            <a:off x="612648" y="5513832"/>
            <a:ext cx="310896" cy="310896"/>
          </a:xfrm>
          <a:prstGeom prst="ellipse">
            <a:avLst/>
          </a:prstGeom>
          <a:solidFill>
            <a:srgbClr val="2E7D8F"/>
          </a:solidFill>
          <a:ln w="12700">
            <a:solidFill>
              <a:srgbClr val="2E7D8F"/>
            </a:solidFill>
            <a:prstDash val="solid"/>
          </a:ln>
        </p:spPr>
      </p:sp>
      <p:sp>
        <p:nvSpPr>
          <p:cNvPr id="33" name="Text 31"/>
          <p:cNvSpPr/>
          <p:nvPr/>
        </p:nvSpPr>
        <p:spPr>
          <a:xfrm>
            <a:off x="612648" y="5513832"/>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Cambria" pitchFamily="34" charset="0"/>
                <a:ea typeface="Cambria" pitchFamily="34" charset="-122"/>
                <a:cs typeface="Cambria" pitchFamily="34" charset="-120"/>
              </a:rPr>
              <a:t>8</a:t>
            </a:r>
            <a:endParaRPr lang="en-US" sz="884" dirty="0"/>
          </a:p>
        </p:txBody>
      </p:sp>
      <p:sp>
        <p:nvSpPr>
          <p:cNvPr id="34" name="Text 32"/>
          <p:cNvSpPr/>
          <p:nvPr/>
        </p:nvSpPr>
        <p:spPr>
          <a:xfrm>
            <a:off x="1051560" y="5495544"/>
            <a:ext cx="1600200" cy="274320"/>
          </a:xfrm>
          <a:prstGeom prst="rect">
            <a:avLst/>
          </a:prstGeom>
          <a:noFill/>
          <a:ln/>
        </p:spPr>
        <p:txBody>
          <a:bodyPr wrap="square" lIns="0" tIns="0" rIns="0" bIns="0" rtlCol="0" anchor="t"/>
          <a:lstStyle/>
          <a:p>
            <a:pPr indent="0" marL="0">
              <a:buNone/>
            </a:pPr>
            <a:r>
              <a:rPr lang="en-US" sz="1250" b="1" dirty="0">
                <a:solidFill>
                  <a:srgbClr val="16233A"/>
                </a:solidFill>
                <a:latin typeface="Cambria" pitchFamily="34" charset="0"/>
                <a:ea typeface="Cambria" pitchFamily="34" charset="-122"/>
                <a:cs typeface="Cambria" pitchFamily="34" charset="-120"/>
              </a:rPr>
              <a:t>Ej 18</a:t>
            </a:r>
            <a:endParaRPr lang="en-US" sz="1250" dirty="0"/>
          </a:p>
        </p:txBody>
      </p:sp>
      <p:sp>
        <p:nvSpPr>
          <p:cNvPr id="35" name="Text 33"/>
          <p:cNvSpPr/>
          <p:nvPr/>
        </p:nvSpPr>
        <p:spPr>
          <a:xfrm>
            <a:off x="2697480" y="5495544"/>
            <a:ext cx="4617720" cy="512064"/>
          </a:xfrm>
          <a:prstGeom prst="rect">
            <a:avLst/>
          </a:prstGeom>
          <a:noFill/>
          <a:ln/>
        </p:spPr>
        <p:txBody>
          <a:bodyPr wrap="square" lIns="0" tIns="0" rIns="0" bIns="0" rtlCol="0" anchor="t"/>
          <a:lstStyle/>
          <a:p>
            <a:pPr indent="0" marL="0">
              <a:lnSpc>
                <a:spcPct val="114000"/>
              </a:lnSpc>
              <a:buNone/>
            </a:pPr>
            <a:r>
              <a:rPr lang="en-US" sz="1150" dirty="0">
                <a:solidFill>
                  <a:srgbClr val="6B7A90"/>
                </a:solidFill>
                <a:latin typeface="Calibri" pitchFamily="34" charset="0"/>
                <a:ea typeface="Calibri" pitchFamily="34" charset="-122"/>
                <a:cs typeface="Calibri" pitchFamily="34" charset="-120"/>
              </a:rPr>
              <a:t>El más difícil. Necesita el 9 funcionando y entender bien row_echelon.</a:t>
            </a:r>
            <a:endParaRPr lang="en-US" sz="1150" dirty="0"/>
          </a:p>
        </p:txBody>
      </p:sp>
      <p:sp>
        <p:nvSpPr>
          <p:cNvPr id="36" name="Shape 34"/>
          <p:cNvSpPr/>
          <p:nvPr/>
        </p:nvSpPr>
        <p:spPr>
          <a:xfrm>
            <a:off x="7360920" y="1444752"/>
            <a:ext cx="4233672" cy="4590288"/>
          </a:xfrm>
          <a:prstGeom prst="roundRect">
            <a:avLst>
              <a:gd name="adj" fmla="val 1728"/>
            </a:avLst>
          </a:prstGeom>
          <a:solidFill>
            <a:srgbClr val="16233A"/>
          </a:solidFill>
          <a:ln w="12700">
            <a:solidFill>
              <a:srgbClr val="16233A"/>
            </a:solidFill>
            <a:prstDash val="solid"/>
          </a:ln>
        </p:spPr>
      </p:sp>
      <p:sp>
        <p:nvSpPr>
          <p:cNvPr id="37" name="Text 35"/>
          <p:cNvSpPr/>
          <p:nvPr/>
        </p:nvSpPr>
        <p:spPr>
          <a:xfrm>
            <a:off x="7635240" y="1682496"/>
            <a:ext cx="3685032" cy="292608"/>
          </a:xfrm>
          <a:prstGeom prst="rect">
            <a:avLst/>
          </a:prstGeom>
          <a:noFill/>
          <a:ln/>
        </p:spPr>
        <p:txBody>
          <a:bodyPr wrap="square" lIns="0" tIns="0" rIns="0" bIns="0" rtlCol="0" anchor="t"/>
          <a:lstStyle/>
          <a:p>
            <a:pPr indent="0" marL="0">
              <a:buNone/>
            </a:pPr>
            <a:r>
              <a:rPr lang="en-US" sz="1600" b="1" dirty="0">
                <a:solidFill>
                  <a:srgbClr val="E39A2B"/>
                </a:solidFill>
                <a:latin typeface="Cambria" pitchFamily="34" charset="0"/>
                <a:ea typeface="Cambria" pitchFamily="34" charset="-122"/>
                <a:cs typeface="Cambria" pitchFamily="34" charset="-120"/>
              </a:rPr>
              <a:t>Antes de darlo por cerrado</a:t>
            </a:r>
            <a:endParaRPr lang="en-US" sz="1600" dirty="0"/>
          </a:p>
        </p:txBody>
      </p:sp>
      <p:sp>
        <p:nvSpPr>
          <p:cNvPr id="38" name="Text 36"/>
          <p:cNvSpPr/>
          <p:nvPr/>
        </p:nvSpPr>
        <p:spPr>
          <a:xfrm>
            <a:off x="7635240" y="2103120"/>
            <a:ext cx="3685032" cy="374904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200" dirty="0">
                <a:solidFill>
                  <a:srgbClr val="C8D3E4"/>
                </a:solidFill>
                <a:latin typeface="Calibri" pitchFamily="34" charset="0"/>
                <a:ea typeface="Calibri" pitchFamily="34" charset="-122"/>
                <a:cs typeface="Calibri" pitchFamily="34" charset="-120"/>
              </a:rPr>
              <a:t>¿Anda con matrices no cuadradas?</a:t>
            </a:r>
            <a:endParaRPr lang="en-US" sz="1200" dirty="0"/>
          </a:p>
          <a:p>
            <a:pPr marL="342900" indent="-342900">
              <a:lnSpc>
                <a:spcPct val="105000"/>
              </a:lnSpc>
              <a:spcAft>
                <a:spcPts val="700"/>
              </a:spcAft>
              <a:buSzPct val="100000"/>
              <a:buChar char="•"/>
            </a:pPr>
            <a:r>
              <a:rPr lang="en-US" sz="1200" dirty="0">
                <a:solidFill>
                  <a:srgbClr val="C8D3E4"/>
                </a:solidFill>
                <a:latin typeface="Calibri" pitchFamily="34" charset="0"/>
                <a:ea typeface="Calibri" pitchFamily="34" charset="-122"/>
                <a:cs typeface="Calibri" pitchFamily="34" charset="-120"/>
              </a:rPr>
              <a:t>¿Anda con una matriz 1×1?</a:t>
            </a:r>
            <a:endParaRPr lang="en-US" sz="1200" dirty="0"/>
          </a:p>
          <a:p>
            <a:pPr marL="342900" indent="-342900">
              <a:lnSpc>
                <a:spcPct val="105000"/>
              </a:lnSpc>
              <a:spcAft>
                <a:spcPts val="700"/>
              </a:spcAft>
              <a:buSzPct val="100000"/>
              <a:buChar char="•"/>
            </a:pPr>
            <a:r>
              <a:rPr lang="en-US" sz="1200" dirty="0">
                <a:solidFill>
                  <a:srgbClr val="C8D3E4"/>
                </a:solidFill>
                <a:latin typeface="Calibri" pitchFamily="34" charset="0"/>
                <a:ea typeface="Calibri" pitchFamily="34" charset="-122"/>
                <a:cs typeface="Calibri" pitchFamily="34" charset="-120"/>
              </a:rPr>
              <a:t>¿Modificás A sin querer en las funciones que deberían devolver algo nuevo?</a:t>
            </a:r>
            <a:endParaRPr lang="en-US" sz="1200" dirty="0"/>
          </a:p>
          <a:p>
            <a:pPr marL="342900" indent="-342900">
              <a:lnSpc>
                <a:spcPct val="105000"/>
              </a:lnSpc>
              <a:spcAft>
                <a:spcPts val="700"/>
              </a:spcAft>
              <a:buSzPct val="100000"/>
              <a:buChar char="•"/>
            </a:pPr>
            <a:r>
              <a:rPr lang="en-US" sz="1200" dirty="0">
                <a:solidFill>
                  <a:srgbClr val="C8D3E4"/>
                </a:solidFill>
                <a:latin typeface="Calibri" pitchFamily="34" charset="0"/>
                <a:ea typeface="Calibri" pitchFamily="34" charset="-122"/>
                <a:cs typeface="Calibri" pitchFamily="34" charset="-120"/>
              </a:rPr>
              <a:t>¿Modificás A de verdad en las dos que sí son in-place?</a:t>
            </a:r>
            <a:endParaRPr lang="en-US" sz="1200" dirty="0"/>
          </a:p>
          <a:p>
            <a:pPr marL="342900" indent="-342900">
              <a:lnSpc>
                <a:spcPct val="105000"/>
              </a:lnSpc>
              <a:spcAft>
                <a:spcPts val="700"/>
              </a:spcAft>
              <a:buSzPct val="100000"/>
              <a:buChar char="•"/>
            </a:pPr>
            <a:r>
              <a:rPr lang="en-US" sz="1200" dirty="0">
                <a:solidFill>
                  <a:srgbClr val="C8D3E4"/>
                </a:solidFill>
                <a:latin typeface="Calibri" pitchFamily="34" charset="0"/>
                <a:ea typeface="Calibri" pitchFamily="34" charset="-122"/>
                <a:cs typeface="Calibri" pitchFamily="34" charset="-120"/>
              </a:rPr>
              <a:t>¿Usaste solo array, shape, max y min de numpy?</a:t>
            </a:r>
            <a:endParaRPr lang="en-US" sz="1200" dirty="0"/>
          </a:p>
          <a:p>
            <a:pPr marL="342900" indent="-342900">
              <a:lnSpc>
                <a:spcPct val="105000"/>
              </a:lnSpc>
              <a:spcAft>
                <a:spcPts val="700"/>
              </a:spcAft>
              <a:buSzPct val="100000"/>
              <a:buChar char="•"/>
            </a:pPr>
            <a:r>
              <a:rPr lang="en-US" sz="1200" dirty="0">
                <a:solidFill>
                  <a:srgbClr val="C8D3E4"/>
                </a:solidFill>
                <a:latin typeface="Calibri" pitchFamily="34" charset="0"/>
                <a:ea typeface="Calibri" pitchFamily="34" charset="-122"/>
                <a:cs typeface="Calibri" pitchFamily="34" charset="-120"/>
              </a:rPr>
              <a:t>¿Hay un test por cada uno de los 18?</a:t>
            </a:r>
            <a:endParaRPr lang="en-US" sz="1200" dirty="0"/>
          </a:p>
          <a:p>
            <a:pPr marL="342900" indent="-342900">
              <a:lnSpc>
                <a:spcPct val="105000"/>
              </a:lnSpc>
              <a:spcAft>
                <a:spcPts val="700"/>
              </a:spcAft>
              <a:buSzPct val="100000"/>
              <a:buChar char="•"/>
            </a:pPr>
            <a:r>
              <a:rPr lang="en-US" sz="1200" dirty="0">
                <a:solidFill>
                  <a:srgbClr val="C8D3E4"/>
                </a:solidFill>
                <a:latin typeface="Calibri" pitchFamily="34" charset="0"/>
                <a:ea typeface="Calibri" pitchFamily="34" charset="-122"/>
                <a:cs typeface="Calibri" pitchFamily="34" charset="-120"/>
              </a:rPr>
              <a:t>¿Podrías reescribir cada función mirando solo el enunciado?</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523"/>
        </a:solidFill>
      </p:bgPr>
    </p:bg>
    <p:spTree>
      <p:nvGrpSpPr>
        <p:cNvPr id="1" name=""/>
        <p:cNvGrpSpPr/>
        <p:nvPr/>
      </p:nvGrpSpPr>
      <p:grpSpPr>
        <a:xfrm>
          <a:off x="0" y="0"/>
          <a:ext cx="0" cy="0"/>
          <a:chOff x="0" y="0"/>
          <a:chExt cx="0" cy="0"/>
        </a:xfrm>
      </p:grpSpPr>
      <p:sp>
        <p:nvSpPr>
          <p:cNvPr id="2" name="Text 0"/>
          <p:cNvSpPr/>
          <p:nvPr/>
        </p:nvSpPr>
        <p:spPr>
          <a:xfrm>
            <a:off x="731520" y="1600200"/>
            <a:ext cx="7863840" cy="1371600"/>
          </a:xfrm>
          <a:prstGeom prst="rect">
            <a:avLst/>
          </a:prstGeom>
          <a:noFill/>
          <a:ln/>
        </p:spPr>
        <p:txBody>
          <a:bodyPr wrap="square" lIns="0" tIns="0" rIns="0" bIns="0" rtlCol="0" anchor="t"/>
          <a:lstStyle/>
          <a:p>
            <a:pPr indent="0" marL="0">
              <a:lnSpc>
                <a:spcPct val="106000"/>
              </a:lnSpc>
              <a:buNone/>
            </a:pPr>
            <a:r>
              <a:rPr lang="en-US" sz="3300" b="1" dirty="0">
                <a:solidFill>
                  <a:srgbClr val="FFFFFF"/>
                </a:solidFill>
                <a:latin typeface="Cambria" pitchFamily="34" charset="0"/>
                <a:ea typeface="Cambria" pitchFamily="34" charset="-122"/>
                <a:cs typeface="Cambria" pitchFamily="34" charset="-120"/>
              </a:rPr>
              <a:t>La última pregunta de la checklist es la única que importa</a:t>
            </a:r>
            <a:endParaRPr lang="en-US" sz="3300" dirty="0"/>
          </a:p>
        </p:txBody>
      </p:sp>
      <p:sp>
        <p:nvSpPr>
          <p:cNvPr id="3" name="Text 1"/>
          <p:cNvSpPr/>
          <p:nvPr/>
        </p:nvSpPr>
        <p:spPr>
          <a:xfrm>
            <a:off x="731520" y="3127248"/>
            <a:ext cx="7589520" cy="1143000"/>
          </a:xfrm>
          <a:prstGeom prst="rect">
            <a:avLst/>
          </a:prstGeom>
          <a:noFill/>
          <a:ln/>
        </p:spPr>
        <p:txBody>
          <a:bodyPr wrap="square" lIns="0" tIns="0" rIns="0" bIns="0" rtlCol="0" anchor="t"/>
          <a:lstStyle/>
          <a:p>
            <a:pPr indent="0" marL="0">
              <a:lnSpc>
                <a:spcPct val="120000"/>
              </a:lnSpc>
              <a:buNone/>
            </a:pPr>
            <a:r>
              <a:rPr lang="en-US" sz="1500" dirty="0">
                <a:solidFill>
                  <a:srgbClr val="C8D3E4"/>
                </a:solidFill>
                <a:latin typeface="Calibri" pitchFamily="34" charset="0"/>
                <a:ea typeface="Calibri" pitchFamily="34" charset="-122"/>
                <a:cs typeface="Calibri" pitchFamily="34" charset="-120"/>
              </a:rPr>
              <a:t>Generar estas 18 funciones con un modelo de lenguaje toma dos minutos. El final de la materia evalúa que las escribas vos, en papel, sin ayuda. Esa es toda la diferencia, y es la razón por la que este deck no trae ni una sola solución.</a:t>
            </a:r>
            <a:endParaRPr lang="en-US" sz="1500" dirty="0"/>
          </a:p>
        </p:txBody>
      </p:sp>
      <p:sp>
        <p:nvSpPr>
          <p:cNvPr id="4" name="Shape 2"/>
          <p:cNvSpPr/>
          <p:nvPr/>
        </p:nvSpPr>
        <p:spPr>
          <a:xfrm>
            <a:off x="731520" y="4526280"/>
            <a:ext cx="7589520" cy="1207008"/>
          </a:xfrm>
          <a:prstGeom prst="roundRect">
            <a:avLst>
              <a:gd name="adj" fmla="val 6061"/>
            </a:avLst>
          </a:prstGeom>
          <a:solidFill>
            <a:srgbClr val="17273F"/>
          </a:solidFill>
          <a:ln w="12700">
            <a:solidFill>
              <a:srgbClr val="24374F"/>
            </a:solidFill>
            <a:prstDash val="solid"/>
          </a:ln>
        </p:spPr>
      </p:sp>
      <p:sp>
        <p:nvSpPr>
          <p:cNvPr id="5" name="Text 3"/>
          <p:cNvSpPr/>
          <p:nvPr/>
        </p:nvSpPr>
        <p:spPr>
          <a:xfrm>
            <a:off x="1005840" y="4718304"/>
            <a:ext cx="7040880" cy="329184"/>
          </a:xfrm>
          <a:prstGeom prst="rect">
            <a:avLst/>
          </a:prstGeom>
          <a:noFill/>
          <a:ln/>
        </p:spPr>
        <p:txBody>
          <a:bodyPr wrap="square" lIns="0" tIns="0" rIns="0" bIns="0" rtlCol="0" anchor="ctr"/>
          <a:lstStyle/>
          <a:p>
            <a:pPr indent="0" marL="0">
              <a:buNone/>
            </a:pPr>
            <a:r>
              <a:rPr lang="en-US" sz="1500" b="1" i="1" dirty="0">
                <a:solidFill>
                  <a:srgbClr val="E39A2B"/>
                </a:solidFill>
                <a:latin typeface="Calibri" pitchFamily="34" charset="0"/>
                <a:ea typeface="Calibri" pitchFamily="34" charset="-122"/>
                <a:cs typeface="Calibri" pitchFamily="34" charset="-120"/>
              </a:rPr>
              <a:t>«No se conviertan en máquinas de copiar y pegar.»</a:t>
            </a:r>
            <a:endParaRPr lang="en-US" sz="1500" dirty="0"/>
          </a:p>
        </p:txBody>
      </p:sp>
      <p:sp>
        <p:nvSpPr>
          <p:cNvPr id="6" name="Text 4"/>
          <p:cNvSpPr/>
          <p:nvPr/>
        </p:nvSpPr>
        <p:spPr>
          <a:xfrm>
            <a:off x="1005840" y="5102352"/>
            <a:ext cx="7040880" cy="457200"/>
          </a:xfrm>
          <a:prstGeom prst="rect">
            <a:avLst/>
          </a:prstGeom>
          <a:noFill/>
          <a:ln/>
        </p:spPr>
        <p:txBody>
          <a:bodyPr wrap="square" lIns="0" tIns="0" rIns="0" bIns="0" rtlCol="0" anchor="t"/>
          <a:lstStyle/>
          <a:p>
            <a:pPr indent="0" marL="0">
              <a:buNone/>
            </a:pPr>
            <a:r>
              <a:rPr lang="en-US" sz="1150" dirty="0">
                <a:solidFill>
                  <a:srgbClr val="8FA0B8"/>
                </a:solidFill>
                <a:latin typeface="Calibri" pitchFamily="34" charset="0"/>
                <a:ea typeface="Calibri" pitchFamily="34" charset="-122"/>
                <a:cs typeface="Calibri" pitchFamily="34" charset="-120"/>
              </a:rPr>
              <a:t>Lineamientos y bienvenida — Álgebra Lineal Computacional, FCEyN-UBA, 2º cuatrimestre 2026</a:t>
            </a:r>
            <a:endParaRPr lang="en-US" sz="1150" dirty="0"/>
          </a:p>
        </p:txBody>
      </p:sp>
      <p:sp>
        <p:nvSpPr>
          <p:cNvPr id="7" name="Shape 5"/>
          <p:cNvSpPr/>
          <p:nvPr/>
        </p:nvSpPr>
        <p:spPr>
          <a:xfrm>
            <a:off x="8796528" y="2103120"/>
            <a:ext cx="548640" cy="548640"/>
          </a:xfrm>
          <a:prstGeom prst="rect">
            <a:avLst/>
          </a:prstGeom>
          <a:solidFill>
            <a:srgbClr val="E39A2B"/>
          </a:solidFill>
          <a:ln w="12700">
            <a:solidFill>
              <a:srgbClr val="E39A2B"/>
            </a:solidFill>
            <a:prstDash val="solid"/>
          </a:ln>
        </p:spPr>
      </p:sp>
      <p:sp>
        <p:nvSpPr>
          <p:cNvPr id="8" name="Shape 6"/>
          <p:cNvSpPr/>
          <p:nvPr/>
        </p:nvSpPr>
        <p:spPr>
          <a:xfrm>
            <a:off x="9473184" y="2103120"/>
            <a:ext cx="548640" cy="548640"/>
          </a:xfrm>
          <a:prstGeom prst="rect">
            <a:avLst/>
          </a:prstGeom>
          <a:solidFill>
            <a:srgbClr val="1B2A45"/>
          </a:solidFill>
          <a:ln w="12700">
            <a:solidFill>
              <a:srgbClr val="1B2A45"/>
            </a:solidFill>
            <a:prstDash val="solid"/>
          </a:ln>
        </p:spPr>
      </p:sp>
      <p:sp>
        <p:nvSpPr>
          <p:cNvPr id="9" name="Shape 7"/>
          <p:cNvSpPr/>
          <p:nvPr/>
        </p:nvSpPr>
        <p:spPr>
          <a:xfrm>
            <a:off x="10149840" y="2103120"/>
            <a:ext cx="548640" cy="548640"/>
          </a:xfrm>
          <a:prstGeom prst="rect">
            <a:avLst/>
          </a:prstGeom>
          <a:solidFill>
            <a:srgbClr val="1B2A45"/>
          </a:solidFill>
          <a:ln w="12700">
            <a:solidFill>
              <a:srgbClr val="1B2A45"/>
            </a:solidFill>
            <a:prstDash val="solid"/>
          </a:ln>
        </p:spPr>
      </p:sp>
      <p:sp>
        <p:nvSpPr>
          <p:cNvPr id="10" name="Shape 8"/>
          <p:cNvSpPr/>
          <p:nvPr/>
        </p:nvSpPr>
        <p:spPr>
          <a:xfrm>
            <a:off x="10826496" y="2103120"/>
            <a:ext cx="548640" cy="548640"/>
          </a:xfrm>
          <a:prstGeom prst="rect">
            <a:avLst/>
          </a:prstGeom>
          <a:solidFill>
            <a:srgbClr val="1B2A45"/>
          </a:solidFill>
          <a:ln w="12700">
            <a:solidFill>
              <a:srgbClr val="1B2A45"/>
            </a:solidFill>
            <a:prstDash val="solid"/>
          </a:ln>
        </p:spPr>
      </p:sp>
      <p:sp>
        <p:nvSpPr>
          <p:cNvPr id="11" name="Shape 9"/>
          <p:cNvSpPr/>
          <p:nvPr/>
        </p:nvSpPr>
        <p:spPr>
          <a:xfrm>
            <a:off x="8796528" y="2779776"/>
            <a:ext cx="548640" cy="548640"/>
          </a:xfrm>
          <a:prstGeom prst="rect">
            <a:avLst/>
          </a:prstGeom>
          <a:solidFill>
            <a:srgbClr val="1B2A45"/>
          </a:solidFill>
          <a:ln w="12700">
            <a:solidFill>
              <a:srgbClr val="1B2A45"/>
            </a:solidFill>
            <a:prstDash val="solid"/>
          </a:ln>
        </p:spPr>
      </p:sp>
      <p:sp>
        <p:nvSpPr>
          <p:cNvPr id="12" name="Shape 10"/>
          <p:cNvSpPr/>
          <p:nvPr/>
        </p:nvSpPr>
        <p:spPr>
          <a:xfrm>
            <a:off x="9473184" y="2779776"/>
            <a:ext cx="548640" cy="548640"/>
          </a:xfrm>
          <a:prstGeom prst="rect">
            <a:avLst/>
          </a:prstGeom>
          <a:solidFill>
            <a:srgbClr val="E39A2B"/>
          </a:solidFill>
          <a:ln w="12700">
            <a:solidFill>
              <a:srgbClr val="E39A2B"/>
            </a:solidFill>
            <a:prstDash val="solid"/>
          </a:ln>
        </p:spPr>
      </p:sp>
      <p:sp>
        <p:nvSpPr>
          <p:cNvPr id="13" name="Shape 11"/>
          <p:cNvSpPr/>
          <p:nvPr/>
        </p:nvSpPr>
        <p:spPr>
          <a:xfrm>
            <a:off x="10149840" y="2779776"/>
            <a:ext cx="548640" cy="548640"/>
          </a:xfrm>
          <a:prstGeom prst="rect">
            <a:avLst/>
          </a:prstGeom>
          <a:solidFill>
            <a:srgbClr val="1B2A45"/>
          </a:solidFill>
          <a:ln w="12700">
            <a:solidFill>
              <a:srgbClr val="1B2A45"/>
            </a:solidFill>
            <a:prstDash val="solid"/>
          </a:ln>
        </p:spPr>
      </p:sp>
      <p:sp>
        <p:nvSpPr>
          <p:cNvPr id="14" name="Shape 12"/>
          <p:cNvSpPr/>
          <p:nvPr/>
        </p:nvSpPr>
        <p:spPr>
          <a:xfrm>
            <a:off x="10826496" y="2779776"/>
            <a:ext cx="548640" cy="548640"/>
          </a:xfrm>
          <a:prstGeom prst="rect">
            <a:avLst/>
          </a:prstGeom>
          <a:solidFill>
            <a:srgbClr val="1B2A45"/>
          </a:solidFill>
          <a:ln w="12700">
            <a:solidFill>
              <a:srgbClr val="1B2A45"/>
            </a:solidFill>
            <a:prstDash val="solid"/>
          </a:ln>
        </p:spPr>
      </p:sp>
      <p:sp>
        <p:nvSpPr>
          <p:cNvPr id="15" name="Shape 13"/>
          <p:cNvSpPr/>
          <p:nvPr/>
        </p:nvSpPr>
        <p:spPr>
          <a:xfrm>
            <a:off x="8796528" y="3456432"/>
            <a:ext cx="548640" cy="548640"/>
          </a:xfrm>
          <a:prstGeom prst="rect">
            <a:avLst/>
          </a:prstGeom>
          <a:solidFill>
            <a:srgbClr val="1B2A45"/>
          </a:solidFill>
          <a:ln w="12700">
            <a:solidFill>
              <a:srgbClr val="1B2A45"/>
            </a:solidFill>
            <a:prstDash val="solid"/>
          </a:ln>
        </p:spPr>
      </p:sp>
      <p:sp>
        <p:nvSpPr>
          <p:cNvPr id="16" name="Shape 14"/>
          <p:cNvSpPr/>
          <p:nvPr/>
        </p:nvSpPr>
        <p:spPr>
          <a:xfrm>
            <a:off x="9473184" y="3456432"/>
            <a:ext cx="548640" cy="548640"/>
          </a:xfrm>
          <a:prstGeom prst="rect">
            <a:avLst/>
          </a:prstGeom>
          <a:solidFill>
            <a:srgbClr val="1B2A45"/>
          </a:solidFill>
          <a:ln w="12700">
            <a:solidFill>
              <a:srgbClr val="1B2A45"/>
            </a:solidFill>
            <a:prstDash val="solid"/>
          </a:ln>
        </p:spPr>
      </p:sp>
      <p:sp>
        <p:nvSpPr>
          <p:cNvPr id="17" name="Shape 15"/>
          <p:cNvSpPr/>
          <p:nvPr/>
        </p:nvSpPr>
        <p:spPr>
          <a:xfrm>
            <a:off x="10149840" y="3456432"/>
            <a:ext cx="548640" cy="548640"/>
          </a:xfrm>
          <a:prstGeom prst="rect">
            <a:avLst/>
          </a:prstGeom>
          <a:solidFill>
            <a:srgbClr val="E39A2B"/>
          </a:solidFill>
          <a:ln w="12700">
            <a:solidFill>
              <a:srgbClr val="E39A2B"/>
            </a:solidFill>
            <a:prstDash val="solid"/>
          </a:ln>
        </p:spPr>
      </p:sp>
      <p:sp>
        <p:nvSpPr>
          <p:cNvPr id="18" name="Shape 16"/>
          <p:cNvSpPr/>
          <p:nvPr/>
        </p:nvSpPr>
        <p:spPr>
          <a:xfrm>
            <a:off x="10826496" y="3456432"/>
            <a:ext cx="548640" cy="548640"/>
          </a:xfrm>
          <a:prstGeom prst="rect">
            <a:avLst/>
          </a:prstGeom>
          <a:solidFill>
            <a:srgbClr val="1B2A45"/>
          </a:solidFill>
          <a:ln w="12700">
            <a:solidFill>
              <a:srgbClr val="1B2A45"/>
            </a:solidFill>
            <a:prstDash val="solid"/>
          </a:ln>
        </p:spPr>
      </p:sp>
      <p:sp>
        <p:nvSpPr>
          <p:cNvPr id="19" name="Shape 17"/>
          <p:cNvSpPr/>
          <p:nvPr/>
        </p:nvSpPr>
        <p:spPr>
          <a:xfrm>
            <a:off x="8796528" y="4133088"/>
            <a:ext cx="548640" cy="548640"/>
          </a:xfrm>
          <a:prstGeom prst="rect">
            <a:avLst/>
          </a:prstGeom>
          <a:solidFill>
            <a:srgbClr val="E39A2B"/>
          </a:solidFill>
          <a:ln w="12700">
            <a:solidFill>
              <a:srgbClr val="E39A2B"/>
            </a:solidFill>
            <a:prstDash val="solid"/>
          </a:ln>
        </p:spPr>
      </p:sp>
      <p:sp>
        <p:nvSpPr>
          <p:cNvPr id="20" name="Shape 18"/>
          <p:cNvSpPr/>
          <p:nvPr/>
        </p:nvSpPr>
        <p:spPr>
          <a:xfrm>
            <a:off x="9473184" y="4133088"/>
            <a:ext cx="548640" cy="548640"/>
          </a:xfrm>
          <a:prstGeom prst="rect">
            <a:avLst/>
          </a:prstGeom>
          <a:solidFill>
            <a:srgbClr val="1B2A45"/>
          </a:solidFill>
          <a:ln w="12700">
            <a:solidFill>
              <a:srgbClr val="1B2A45"/>
            </a:solidFill>
            <a:prstDash val="solid"/>
          </a:ln>
        </p:spPr>
      </p:sp>
      <p:sp>
        <p:nvSpPr>
          <p:cNvPr id="21" name="Shape 19"/>
          <p:cNvSpPr/>
          <p:nvPr/>
        </p:nvSpPr>
        <p:spPr>
          <a:xfrm>
            <a:off x="10149840" y="4133088"/>
            <a:ext cx="548640" cy="548640"/>
          </a:xfrm>
          <a:prstGeom prst="rect">
            <a:avLst/>
          </a:prstGeom>
          <a:solidFill>
            <a:srgbClr val="1B2A45"/>
          </a:solidFill>
          <a:ln w="12700">
            <a:solidFill>
              <a:srgbClr val="1B2A45"/>
            </a:solidFill>
            <a:prstDash val="solid"/>
          </a:ln>
        </p:spPr>
      </p:sp>
      <p:sp>
        <p:nvSpPr>
          <p:cNvPr id="22" name="Shape 20"/>
          <p:cNvSpPr/>
          <p:nvPr/>
        </p:nvSpPr>
        <p:spPr>
          <a:xfrm>
            <a:off x="10826496" y="4133088"/>
            <a:ext cx="548640" cy="548640"/>
          </a:xfrm>
          <a:prstGeom prst="rect">
            <a:avLst/>
          </a:prstGeom>
          <a:solidFill>
            <a:srgbClr val="E39A2B"/>
          </a:solidFill>
          <a:ln w="12700">
            <a:solidFill>
              <a:srgbClr val="E39A2B"/>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 1 - Manipulacion de matrices y Numpy</dc:title>
  <dc:subject>PptxGenJS Presentation</dc:subject>
  <dc:creator>Guia de estudio</dc:creator>
  <cp:lastModifiedBy>Guia de estudio</cp:lastModifiedBy>
  <cp:revision>1</cp:revision>
  <dcterms:created xsi:type="dcterms:W3CDTF">2026-08-12T23:39:01Z</dcterms:created>
  <dcterms:modified xsi:type="dcterms:W3CDTF">2026-08-12T23:39:01Z</dcterms:modified>
</cp:coreProperties>
</file>